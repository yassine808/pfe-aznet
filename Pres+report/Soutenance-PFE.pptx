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83" d="100"/>
          <a:sy n="83" d="100"/>
        </p:scale>
        <p:origin x="658" y="-1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9011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0:30 · Se présenter. Sujet en une phrase.</a:t>
            </a:r>
          </a:p>
          <a:p>
            <a:r>
              <a:t>→ notes vocales darija → journal de chantier, chez AZNET Rabat.</a:t>
            </a:r>
          </a:p>
          <a:p>
            <a:endParaRPr/>
          </a:p>
          <a:p>
            <a:r>
              <a:t>— Design : Khatam (étoile à 8 branches, zellige) en trait, hors-cadre. Il se déplace de diapo en diapo — morph, pas une coupure.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0:30 · Annoncer le parcours, ne pas lire les six points.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0:20 · Laisser lire deux secondes avant de parler.</a:t>
            </a:r>
          </a:p>
          <a:p>
            <a:r>
              <a:t>→ C'est la phrase du directeur, pas la mienne.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Le suivi se fait le soir, de mémoire, à la main.</a:t>
            </a:r>
          </a:p>
          <a:p>
            <a:r>
              <a:t>→ Si on demande : le directeur re-saisit lui-même.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LE point : écart entre ce qui est DIT et ce qui est COMPTÉ.</a:t>
            </a:r>
          </a:p>
          <a:p>
            <a:r>
              <a:t>→ Darija + emprunts français vs colonnes chiffrées.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Besoins fonctionnels puis non fonctionnels.</a:t>
            </a:r>
          </a:p>
          <a:p>
            <a:r>
              <a:t>→ Budget zéro explique presque toutes les décisions qui suivent.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Sept phases, six mois.</a:t>
            </a:r>
          </a:p>
          <a:p>
            <a:r>
              <a:t>→ Bout-en-bout atteint en phase 3, une phase EN AVANCE.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La littérature ne tranchait pas pour le darija.</a:t>
            </a:r>
          </a:p>
          <a:p>
            <a:r>
              <a:t>→ D'où un banc d'essai, pas un choix de confort.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Sortie contrainte par schéma.</a:t>
            </a:r>
          </a:p>
          <a:p>
            <a:r>
              <a:t>→ Le risque central : un modèle qui invente une valeur plausible.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n8n orchestre, Python fait l'IA. Cinq services, une seule origine.</a:t>
            </a:r>
          </a:p>
          <a:p>
            <a:r>
              <a:t>→ Ne pas anticiper la frontière, c'est la diapo suivante.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Testable → code. Câblage → n8n.</a:t>
            </a:r>
          </a:p>
          <a:p>
            <a:r>
              <a:t>→ Exemple : la tenue du journal a quitté n8n, un IF ne relit pas un onglet.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Dérouler une fois, lentement.</a:t>
            </a:r>
          </a:p>
          <a:p>
            <a:r>
              <a:t>→ La réponse part AVANT le Sheet : une panne Google ne coûte pas son résumé.</a:t>
            </a:r>
          </a:p>
          <a:p>
            <a:r>
              <a:t>→ Deux files, pas une : l'écriture refusée d'un côté, le message intraitable de</a:t>
            </a:r>
          </a:p>
          <a:p>
            <a:r>
              <a:t>  l'autre. Ce dernier répond 202 — un 502 ferait envoyer ❌ à un technicien dont</a:t>
            </a:r>
          </a:p>
          <a:p>
            <a:r>
              <a:t>  le rapport est en sécurité.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Une ligne par message, JAMAIS de réécriture.</a:t>
            </a:r>
          </a:p>
          <a:p>
            <a:r>
              <a:t>→ Un chiffre faux ne peut plus écraser un chiffre juste : 50 puis +80.</a:t>
            </a:r>
          </a:p>
          <a:p>
            <a:r>
              <a:t>→ Stock réconcilié, jamais supposé. Heures et JH viennent de la voix.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La perte silencieuse est l'histoire à raconter, pas le mécanisme.</a:t>
            </a:r>
          </a:p>
          <a:p>
            <a:r>
              <a:t>→ Quarante pièces extraites correctement, puis jetées. Zéro erreur levée.</a:t>
            </a:r>
          </a:p>
          <a:p>
            <a:r>
              <a:t>→ Le champ est en texte libre EXPRÈS : son sujet est l'article pas encore</a:t>
            </a:r>
          </a:p>
          <a:p>
            <a:r>
              <a:t>  connu, le valider contre la liste jetterait ce qu'il existe pour porter.</a:t>
            </a:r>
          </a:p>
          <a:p>
            <a:r>
              <a:t>→ Insister sur « la validation vient après » : faire attendre une approbation</a:t>
            </a:r>
          </a:p>
          <a:p>
            <a:r>
              <a:t>  humaine remettrait au centre le délai que tout le projet supprime.</a:t>
            </a:r>
          </a:p>
          <a:p>
            <a:r>
              <a:t>→ Si on demande le risque : le slug. Sans lui, un pluriel = une colonne de plus.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Ni WER ni CER — assumé.</a:t>
            </a:r>
          </a:p>
          <a:p>
            <a:r>
              <a:t>→ On mesure ce que le journal consomme : chiffres et emprunts techniques.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Groq est rapide, c'est le plancher toujours disponible.</a:t>
            </a:r>
          </a:p>
          <a:p>
            <a:r>
              <a:t>→ Pas le meilleur.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Hypothèse renversée puis rétablie.</a:t>
            </a:r>
          </a:p>
          <a:p>
            <a:r>
              <a:t>→ Les petits affinages perdent, les grands gagnent. Rien n'était acquis.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Le modèle darija est la RÉFÉRENCE d'exactitude.</a:t>
            </a:r>
          </a:p>
          <a:p>
            <a:r>
              <a:t>→ Dire tout de suite qu'il est en REPLI en production (7,7 s, 4 Go).</a:t>
            </a:r>
          </a:p>
          <a:p>
            <a:r>
              <a:t>→ Le banc désigne une référence ; l'ordre d'appel est une décision d'exploitation.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llama-3.1-8b : le plus rapide ET cinq valeurs inventées.</a:t>
            </a:r>
          </a:p>
          <a:p>
            <a:r>
              <a:t>→ La vitesse ne rachète rien.</a:t>
            </a:r>
          </a:p>
          <a:p>
            <a:r>
              <a:t>→ Si on soulève la limite : oui, les dix cas sont de ma main (§4.3.9).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min 10. Trois des quatre choses que lit le modèle ne viennent pas du message.</a:t>
            </a:r>
          </a:p>
          <a:p>
            <a:r>
              <a:t>→ Le profil est du contexte, jamais une source de valeurs : sinon on remplit un</a:t>
            </a:r>
          </a:p>
          <a:p>
            <a:r>
              <a:t>  chantier que personne n'a nommé, et la donnée est plausible et fausse.</a:t>
            </a:r>
          </a:p>
          <a:p>
            <a:r>
              <a:t>→ Le vocabulaire de transcription est le seul sans âme : Whisper le lirait</a:t>
            </a:r>
          </a:p>
          <a:p>
            <a:r>
              <a:t>  comme un début de transcript.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Ce qui tourne, ce qui reste. Rester factuel.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Trilingue, arabe RTL, graphiques écrits à la main. Douze écrans.</a:t>
            </a:r>
          </a:p>
          <a:p>
            <a:r>
              <a:t>→ Vingt-neuf captures en annexe H.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Deux écrans ajoutés en dernier, pour deux angles morts.</a:t>
            </a:r>
          </a:p>
          <a:p>
            <a:r>
              <a:t>→ Consommation : tout le projet tient sur des offres gratuites, et un quota</a:t>
            </a:r>
          </a:p>
          <a:p>
            <a:r>
              <a:t>  épuisé ne fait aucun bruit — la chaîne bascule, la journée paraît normale.</a:t>
            </a:r>
          </a:p>
          <a:p>
            <a:r>
              <a:t>→ Insister sur « mesuré » vs « documenté » : les trois fournisseurs ne sont</a:t>
            </a:r>
          </a:p>
          <a:p>
            <a:r>
              <a:t>  pas également bavards, et l'écran le dit au lieu de faire semblant.</a:t>
            </a:r>
          </a:p>
          <a:p>
            <a:r>
              <a:t>→ Chantiers : l'avancement est recalculé à chaque appel, jamais stocké.</a:t>
            </a:r>
          </a:p>
          <a:p>
            <a:r>
              <a:t>→ Si on demande pourquoi la colonne installée est vide : le bordereau existe,</a:t>
            </a:r>
          </a:p>
          <a:p>
            <a:r>
              <a:t>  le pilote n'a pas encore produit de quantités sur ces lignes contractuelles.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min 20. Deux familles, et c'est le contraste qui compte.</a:t>
            </a:r>
          </a:p>
          <a:p>
            <a:r>
              <a:t>→ A : recalculée, stockée nulle part — un chiffre dérivé de trois sources</a:t>
            </a:r>
          </a:p>
          <a:p>
            <a:r>
              <a:t>  périmerait dans une cellule.</a:t>
            </a:r>
          </a:p>
          <a:p>
            <a:r>
              <a:t>→ B : une colonne, dix clés, cinq drapeaux. « Écart de stock » ne lève pas le</a:t>
            </a:r>
          </a:p>
          <a:p>
            <a:r>
              <a:t>  drapeau, et c'est un choix : seul le technicien peut trancher.</a:t>
            </a:r>
          </a:p>
          <a:p>
            <a:r>
              <a:t>→ « Ignorer » photographie le niveau et le reste ; la sourdine expire dès que</a:t>
            </a:r>
          </a:p>
          <a:p>
            <a:r>
              <a:t>  ça empire.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Dix-huit contrôles à chaque push.</a:t>
            </a:r>
          </a:p>
          <a:p>
            <a:r>
              <a:t>→ Honnêteté : Dependabot ouvre, rien n'est encore fusionné.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0 bogue, 0 vulnérabilité, 0 code smell, 0 minute de dette, A/A/A.</a:t>
            </a:r>
          </a:p>
          <a:p>
            <a:r>
              <a:t>→ Le portail passe ses SIX conditions. Dire qu'il ne les passait pas au départ.</a:t>
            </a:r>
          </a:p>
          <a:p>
            <a:r>
              <a:t>→ Raconter le vrai bogue : un test qui dépendait du .env local.</a:t>
            </a:r>
          </a:p>
          <a:p>
            <a:r>
              <a:t>→ Sur la 6e condition : j'ai d'abord soutenu que 80 % de couverture n'avait pas</a:t>
            </a:r>
          </a:p>
          <a:p>
            <a:r>
              <a:t>  de sens pour une suite hors ligne. Puis j'ai écrit les tests. C'est plus court</a:t>
            </a:r>
          </a:p>
          <a:p>
            <a:r>
              <a:t>  à défendre qu'un argument.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Le rythme, pas le total. Montrer les quatre jours à zéro et la dernière</a:t>
            </a:r>
          </a:p>
          <a:p>
            <a:r>
              <a:t>  quinzaine, la plus dense du dépôt.</a:t>
            </a:r>
          </a:p>
          <a:p>
            <a:r>
              <a:t>→ Honnêteté : le dépôt commence le 15 juillet. Les phases 0 à 2 sont antérieures</a:t>
            </a:r>
          </a:p>
          <a:p>
            <a:r>
              <a:t>  — le graphique mesure la réalisation, pas les six mois.</a:t>
            </a:r>
          </a:p>
          <a:p>
            <a:r>
              <a:t>→ Enchaîner : un nombre de commits mesure de la frappe. Les deux verdicts</a:t>
            </a:r>
          </a:p>
          <a:p>
            <a:r>
              <a:t>  au-dessus — le portail et la suite de tests — mesurent autre chose.</a:t>
            </a:r>
          </a:p>
          <a:p>
            <a:endParaRPr/>
          </a:p>
          <a:p>
            <a:r>
              <a:t>— Design : Le graphique est dessiné en rectangles, pas inséré : un graphique natif impose sa palette et supprime les jours à zéro. L'opacité porte l'intensité — un seul bleu, comme partout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3:00 · DÉMO. Note vocale → ⏳ → ✅ → Sheet → boîte de réception.</a:t>
            </a:r>
          </a:p>
          <a:p>
            <a:r>
              <a:t>→ SI ÇA TOMBE : passer aux captures d'annexe. Ne pas déboguer devant le jury.</a:t>
            </a:r>
          </a:p>
          <a:p>
            <a:endParaRPr/>
          </a:p>
          <a:p>
            <a:r>
              <a:t>— Design : Fond sombre : le trait passe au bleu clair pour rester lisible.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Technique puis méthodologique.</a:t>
            </a:r>
          </a:p>
          <a:p>
            <a:r>
              <a:t>→ La leçon : un résultat flatteur mérite plus de vérification qu'un décevant.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Nommer les limites avant le jury.</a:t>
            </a:r>
          </a:p>
          <a:p>
            <a:r>
              <a:t>→ Jeu de test de ma main, pilote court, couverture = service Python seul.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Remercier, puis se taire.</a:t>
            </a:r>
          </a:p>
          <a:p>
            <a:r>
              <a:t>→ Attendues : pourquoi pas Whisper seul / pourquoi n8n / quotas épuisés /</a:t>
            </a:r>
          </a:p>
          <a:p>
            <a:r>
              <a:t>  comment on empêche l'invention d'une valeur.</a:t>
            </a:r>
          </a:p>
          <a:p>
            <a:endParaRPr/>
          </a:p>
          <a:p>
            <a:r>
              <a:t>— Design : Le khatam au centre, plein format. Dernière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6918716" y="731520"/>
            <a:ext cx="5669280" cy="566928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 descr="logo-em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3" name="Picture 2" descr="logo-azn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627632"/>
            <a:ext cx="10637215" cy="4070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</a:t>
            </a:r>
            <a:r>
              <a:rPr sz="1150" b="0" i="0" err="1">
                <a:solidFill>
                  <a:srgbClr val="8A8A8A"/>
                </a:solidFill>
                <a:latin typeface="Arial"/>
              </a:rPr>
              <a:t>Projet</a:t>
            </a:r>
            <a:r>
              <a:rPr sz="1150" b="0" i="0">
                <a:solidFill>
                  <a:srgbClr val="8A8A8A"/>
                </a:solidFill>
                <a:latin typeface="Arial"/>
              </a:rPr>
              <a:t> de Fin </a:t>
            </a:r>
            <a:r>
              <a:rPr sz="1150" b="0" i="0" err="1">
                <a:solidFill>
                  <a:srgbClr val="8A8A8A"/>
                </a:solidFill>
                <a:latin typeface="Arial"/>
              </a:rPr>
              <a:t>d'Études</a:t>
            </a:r>
            <a:endParaRPr sz="1150" b="0" i="0">
              <a:solidFill>
                <a:srgbClr val="8A8A8A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46320"/>
            <a:ext cx="5852160" cy="6412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Réalisé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Mohammed Yassine MAGRI</a:t>
            </a:r>
          </a:p>
          <a:p>
            <a:r>
              <a:rPr sz="1250" b="1" i="0" err="1">
                <a:solidFill>
                  <a:srgbClr val="1C1F23"/>
                </a:solidFill>
                <a:latin typeface="Arial"/>
              </a:rPr>
              <a:t>Encadrant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académique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Mme Kawtar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Imgharene</a:t>
            </a:r>
            <a:endParaRPr lang="en-US" sz="1250">
              <a:solidFill>
                <a:srgbClr val="575656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Encadrant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industriel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Mr Adil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chaachoui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 et Mr Adil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Zellou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 </a:t>
            </a:r>
            <a:endParaRPr sz="1250">
              <a:solidFill>
                <a:srgbClr val="575656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73975" y="4846320"/>
            <a:ext cx="3840480" cy="7053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Entreprise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d'accueil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Rabat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lang="en-US" sz="1250" b="0" i="0">
                <a:solidFill>
                  <a:srgbClr val="575656"/>
                </a:solidFill>
                <a:latin typeface="Arial"/>
              </a:rPr>
              <a:t>21/09/2026</a:t>
            </a:r>
            <a:endParaRPr sz="1250" b="0" i="0">
              <a:solidFill>
                <a:srgbClr val="575656"/>
              </a:solidFill>
              <a:latin typeface="Arial"/>
            </a:endParaRP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universitaire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8-Point Star 2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Hero"/>
          <p:cNvSpPr/>
          <p:nvPr/>
        </p:nvSpPr>
        <p:spPr>
          <a:xfrm rot="1350000">
            <a:off x="-61008" y="3063239"/>
            <a:ext cx="4023360" cy="40233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 descr="quote-wittgenste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8-Point Star 2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CONDUITE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Six mois, sept phases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4" cy="31821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25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2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2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Période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Objectif principal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 — Cadrage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 – 27 mars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Immersion métier, cahier des charges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 — État de l'art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30 mars – 30 avril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Transcription du dialectal, extraction par LLM, jeu de test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 — Conception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mai – 5 juin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Architecture hybride, contrat de données, frontière n8n / code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— Cœur IA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8 juin – 17 juillet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Service FastAPI, adaptateurs STT, chaînes de repli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— Chaîne complète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20 juillet – 1er août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Workflow n8n, réception bicanale, tableau de bord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 — Bancs d'essai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– 14 août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Comparatifs STT et extraction, sécurité, intégration continue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 — Pilote et rapport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17 – 28 août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Déploiement pilote, livrables, soutenance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Le bout-en-bout réel a été atteint en phase 3, une phase avant le planning : le risque d'intégration a été neutralisé avant d'engager le reste.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22781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8-Point Star 4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64 nœuds
réception, déduplication,
autorisation, réponses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85 routes
STT, extraction, journal,
ordonnanceur, comptes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26 tables
Google Sheets
un onglet par chantier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préchargé au démarrage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96695" y="5394960"/>
            <a:ext cx="10417759" cy="2150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</a:t>
            </a:r>
            <a:r>
              <a:rPr lang="en-US" sz="1300">
                <a:solidFill>
                  <a:srgbClr val="1C1F23"/>
                </a:solidFill>
                <a:latin typeface="Arial"/>
              </a:rPr>
              <a:t>.</a:t>
            </a:r>
            <a:endParaRPr sz="1300" b="0" i="0">
              <a:solidFill>
                <a:srgbClr val="1C1F23"/>
              </a:solidFill>
              <a:latin typeface="Arial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8-Point Star 5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 et son autorisation vérifiée ; le chantier, lui, vient du message.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ajoute la ligne dans l'onglet du chantier.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047488"/>
            <a:ext cx="32004" cy="76809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96695" y="5074920"/>
            <a:ext cx="10417759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L'ordre de 5 et 6 est un invariant, pas une préférence. Deux files de reprise le rendent tenable : une écriture Google Sheets refusée est garée et rejouée toutes les cinq minutes ; un message qu'aucun moteur n'a pu traiter est garé lui aussi, le service répond 202 et non 502, et le technicien reçoit « rapport reçu, il sera enregistré » plutôt qu'un échec. Rien n'est perdu, et l'ordre des messages d'un même technicien est préservé.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8-Point Star 2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une ligne par message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8" name="Rectangle 7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Deux lignes  —  12/08, technicien 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120 m</a:t>
            </a:r>
            <a:r>
              <a:rPr sz="1250" b="0" i="0">
                <a:solidFill>
                  <a:srgbClr val="575656"/>
                </a:solidFill>
                <a:latin typeface="Arial"/>
              </a:rPr>
              <a:t>   puis   </a:t>
            </a:r>
            <a:r>
              <a:rPr sz="1250" b="1" i="0">
                <a:solidFill>
                  <a:srgbClr val="0278E4"/>
                </a:solidFill>
                <a:latin typeface="Arial"/>
              </a:rPr>
              <a:t>+80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totaux de l'onglet : 200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Fusionner les deux messages détruirait de l'information :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 chiffre faux dicté l'après-midi écraserait sur place un chiffre juste du matin. Rien ne lit une ligne isolée — les totaux somment l'onglet — et les JH se lisent au maximum, jamais en somme.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champ qui n'existe pas encore : une colonne créée à la volée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37943"/>
            <a:ext cx="32004" cy="7863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96695" y="1865375"/>
            <a:ext cx="10417759" cy="768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Un rapport nommant quarante pièces sur huit types d'article déposait une ligne vide des huit : la quantité était extraite correctement, puis abandonnée faute d'un champ où la ranger. Aucune erreur n'était levée — une perte parfaitement silencieuse.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40"/>
            <a:ext cx="489311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8A8A8A"/>
                </a:solidFill>
                <a:latin typeface="Arial"/>
              </a:rPr>
              <a:t>Ce que dit le technicien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163824"/>
            <a:ext cx="4893118" cy="786384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3310128"/>
            <a:ext cx="456393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200" b="0" i="1">
                <a:solidFill>
                  <a:srgbClr val="1C1F23"/>
                </a:solidFill>
                <a:latin typeface="Arial"/>
              </a:rPr>
              <a:t>« … w rakkabt rbaa prises doubles étanches »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04927" y="4059936"/>
            <a:ext cx="237744" cy="274320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4443984"/>
            <a:ext cx="4893118" cy="1225296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4443984"/>
            <a:ext cx="4893118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4590288"/>
            <a:ext cx="456393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150" b="1" i="0">
                <a:solidFill>
                  <a:srgbClr val="0278E4"/>
                </a:solidFill>
                <a:latin typeface="Arial"/>
              </a:rPr>
              <a:t>articles_libres</a:t>
            </a:r>
            <a:r>
              <a:rPr sz="1150" b="0" i="0">
                <a:solidFill>
                  <a:srgbClr val="1C1F23"/>
                </a:solidFill>
                <a:latin typeface="Arial"/>
              </a:rPr>
              <a:t>  {« prise double étanche encastrée »: 4}</a:t>
            </a:r>
          </a:p>
          <a:p>
            <a:pPr>
              <a:lnSpc>
                <a:spcPct val="116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→ colonne créée dans l'onglet du chantier, valeur écrite, article inscrit au registre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3278" y="2834640"/>
            <a:ext cx="5241176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Une identité normalisée, pas le libellé dicté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prises doubles étanches » et « prise double étanche encastrée » se réduisent au même slug. L'onglet ne gagne pas une seconde colonne parce qu'un technicien a mis un pluriel.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Registre global, colonne locale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colonne appartient à l'onglet qui l'a déclarée ; le nom est partagé, donc un second site réutilise l'orthographe au lieu d'en inventer une parallèle.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La validation vient après, jamais avant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quantité est comptée immédiatement ; la page Chantiers confirme, corrige — un libellé corrigé vers un libellé existant fusionne les deux colonnes — ou supprime.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zHero"/>
          <p:cNvSpPr/>
          <p:nvPr/>
        </p:nvSpPr>
        <p:spPr>
          <a:xfrm rot="2700000">
            <a:off x="10088593" y="4114800"/>
            <a:ext cx="2743200" cy="274320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512260"/>
              </p:ext>
            </p:extLst>
          </p:nvPr>
        </p:nvGraphicFramePr>
        <p:xfrm>
          <a:off x="777240" y="1874519"/>
          <a:ext cx="10637213" cy="117043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4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4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116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42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42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1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96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25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référence d'exactitude, et sa place dans la chaîne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1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016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Groq, et 4 Go de mémoire graphique immobilisés. C'est ce coût qui lui vaut, en production, la position de repli : la chaîne livrée est gemini, local, groq. Le banc d'essai désigne la référence d'exactitude ; l'ordre d'appel est une décision d'exploitation.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Du texte au tableau : huit modèles, dix cas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2" cy="26700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8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55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72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5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21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répondus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Exactitude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parfaits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Valeurs inventées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openai/gpt-oss-120b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1,72 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gemini-flash-lite-latest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0,980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9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1,04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gemini-3.6-flash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4,98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llama-3.3-70b-versatile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0,922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0,69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llama-3.1-8b-instant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 / 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0,50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qwen/qwen3.6-27b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459028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4983" y="4773168"/>
            <a:ext cx="4660239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rapidité ne rachète rien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llama-3.1-8b-instant : le plus rapide du tableau, et cinq valeurs inventées — dont un client qu'aucun cas ne mentionne.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78727" y="4590288"/>
            <a:ext cx="513572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6471" y="4773168"/>
            <a:ext cx="4660239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disponibilité prime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gemini-3.6-flash obtient 1,000 — sur les quatre cas traités avant l'épuisement du quota gratuit. Parfait puis muet : c'est un repli, pas un primaire.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La chaîne déployée est gpt-oss-120b → 3.5-flash-lite → flash-lite-latest : elle alterne les fournisseurs, Groq et Google comptant leurs quotas séparément. Le jeu de cas en compte vingt-cinq aujourd'hui, et une seconde campagne a montré ce qu'un repli ne rattrape pas : un modèle qui répond 200 avec un objet vide.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lit le modèle, et ce qu'il ne peut pas en faire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5977" y="1723644"/>
            <a:ext cx="3780248" cy="4014216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15-ai-inpu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6269" y="1773936"/>
            <a:ext cx="3679664" cy="3913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34080" y="1847088"/>
            <a:ext cx="4680374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Quatre entrées, une seule est le message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L'âme (identité, ne jamais inventer), l'instruction d'extraction et le profil du technicien accompagnent chaque appel.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vocabulaire n'a pas d'âme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Whisper lit son champ comme le texte qui précède le clip : l'âme y serait recopiée dans la transcription.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profil est un contexte, jamais une source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Intervient surtout sur Sidi Maarouf » est à un pas de remplir le chantier d'un message qui n'a nommé aucun site. L'instruction l'interdit, et interdit les nombres.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La réponse part avant l'écriture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Le résumé revient au technicien d'abord ; un échec Google lui coûte son accusé de réception, jamais son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60720"/>
            <a:ext cx="563772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3.14 — Les quatre sources d'une extraction et les trois issues.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8-Point Star 11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WhatsApp Cloud API — webhook signé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Extraction structurée — 3 chaînes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Journal de chantier par site — ajout, stock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Miroir plat et table d'agrégation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Boîte de réception — réponse et transcription corrigeable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Observabilité PostgreSQL — 26 tables, deux files de reprise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Ordonnanceur — 9 tâches, page Automatisation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Rapports quotidien et hebdomadaire — e-mail et document .docx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Colonnes d'article créées à la volée, puis confirmées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Réceptions de matériel et alertes de stock en jours de couverture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Consommation des offres gratuites, mesurée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phase 3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en phase 4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Douze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réception, rapports, quotidien, hebdomadaire, automatisation, tâches, journaux, file de reprise, consommation, équipe, chantiers.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Une personne, plusieurs canaux : le rattachement d'un technicien à un chef porte la hiérarchie, jamais le chantier de ses rapports.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écrans récents : ce qu'il reste, et où en est le chantier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454428" y="1760220"/>
            <a:ext cx="3808783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720" y="1810512"/>
            <a:ext cx="3708199" cy="20848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1245" y="1760220"/>
            <a:ext cx="1803259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7" name="Picture 6" descr="en-chantiers-borderea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537" y="1810512"/>
            <a:ext cx="1702675" cy="20848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968496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Consommation — les trois offres gratuites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968496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Chantiers — le bordereau d'un 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34256"/>
            <a:ext cx="10637215" cy="1700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quota épuisé ne lève aucune erreur.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chaîne bascule sur le fournisseur suivant, ou WhatsApp se tait : vu de l'extérieur, une journée normale. C'est la raison d'être de l'écran.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Chaque chiffre dit d'où il vient.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Groq publie son quota dans ses en-têtes — « mesuré » ; Gemini n'en publie aucun, son plafond est une constante — « documenté ». Un en-tête absent est enregistré NULL, jamais 0.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L'avancement n'est stocké nulle part.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quantité installée est recalculée depuis le journal à chaque appel : le journal étant le seul endroit où une quantité est saisie, un total conservé ne pourrait que dériver.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familles d'avertissements, deux destins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486956" y="1723644"/>
            <a:ext cx="3743727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chanti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248" y="1773936"/>
            <a:ext cx="3643143" cy="20482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03353" y="1723644"/>
            <a:ext cx="1459044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7" name="Picture 6" descr="en-chantiers-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645" y="1773936"/>
            <a:ext cx="1358460" cy="20482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895344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Alertes matière : permanentes, bornées à trois lignes, « Ignorer » à droite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895344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Le matériel déclaré hors bordereau, sur le site qui l'a déclaré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61104"/>
            <a:ext cx="10637215" cy="1773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A — alertes matière : aucune colonne.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Recalculées à la demande depuis le journal, les réceptions et le bordereau. Un chiffre dérivé de trois sources serait périmé avant d'être lu. Quatre niveaux, dont « excédent », testé avant les pénuries : en fin de chantier « commandez-en » serait la phrase inverse.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B — avertissements de ligne : une colonne, dix clés, cinq drapeaux.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« Écart de stock » est le seul qui porte sur une contradiction numérique et il ne lève pas le drapeau : l'écart est chiffré, une livraison et une perte sont arithmétiquement identiques, et seul le technicien peut trancher.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« Ignorer » enregistre la décision, pas l'effacement.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niveau et le reste sont pris en photo au moment du clic ; la mise en sourdine expire d'elle-même dès que la situation empire. Un clic ne peut pas faire taire une pénurie pour toujours.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8-Point Star 37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développement
(2 mars – 31 août 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 automatisés
810 sans clé d'API ni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18 contrôles, par famille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860 tests  ·  Dashboard — tsc, oxlint, build  ·  workflow n8n  ·  Docker compose  ·  parité des locales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doit franchir les 18 contrôles avant de pouvoir être fusionnée.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8-Point Star 2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L'analyse statique externe : SonarCloud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bogue · vulnérabilité
point sensible · code smell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A / A /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fiabilité · sécurité
maintenabilité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dette technique
0,0 % de duplication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80,7 %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couverture mesurée
(service Python)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01568"/>
            <a:ext cx="1063721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Le portail était rouge ; il passe aujourd'hui ses six conditions.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La première analyse rendait fiabilité E et sécurité C : une image de conteneur qui s'exécutait en root et installait depuis des sources non épinglées. Trois défauts réels corrigés, un faux positif réfuté, un refus motivé et consigné.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La sixième condition a été satisfaite, pas contournée.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Elle exige 80 % de couverture sur le code nouveau. J'ai d'abord soutenu que le seuil n'était pas pertinent pour une suite hors ligne — puis j'ai écrit les tests manquants : 80,2 %. Écrire les tests est plus court à défendre que l'argument.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vrai bogue de test a été débusqué au passage.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Un test dépendait du fichier .env local : il passait sur ma machine et échouait en intégration continue. À lui seul, il maintenait la chaîne au rouge à chaque exécution.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Une note A obtenue en désactivant les règles gênantes ne mesurerait plus rien : les trois seules issues honnêtes devant un analyseur externe sont corriger, réfuter avec la preuve, ou refuser en écrivant le motif dans l'outil. Les trois ont servi ici.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8-Point Star 7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rythme réel du développement, et ce qui le contrôle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commits
sur 38 jours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+117 339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lignes ajoutées
45 454 retirées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 automatisés
810 sans base, 50 d'intégration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/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conditions du portail
SonarCloud satisfaites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291840"/>
            <a:ext cx="65950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0278E4"/>
                </a:solidFill>
                <a:latin typeface="Arial"/>
              </a:rPr>
              <a:t>Commits par jour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2313" y="3314700"/>
            <a:ext cx="4042141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8A8A8A"/>
                </a:solidFill>
                <a:latin typeface="Arial"/>
              </a:rPr>
              <a:t>15 juillet – 21 août 2026  ·  l'opacité suit l'intensité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772719"/>
            <a:ext cx="10637215" cy="7315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3816" y="4580695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8A8A8A"/>
                </a:solidFill>
                <a:latin typeface="Arial"/>
              </a:rPr>
              <a:t>moyenne 9,9 / jour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630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093557" y="5053383"/>
            <a:ext cx="207145" cy="122120"/>
          </a:xfrm>
          <a:prstGeom prst="rect">
            <a:avLst/>
          </a:prstGeom>
          <a:solidFill>
            <a:srgbClr val="0278E4">
              <a:alpha val="3982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373483" y="4931262"/>
            <a:ext cx="207145" cy="244241"/>
          </a:xfrm>
          <a:prstGeom prst="rect">
            <a:avLst/>
          </a:prstGeom>
          <a:solidFill>
            <a:srgbClr val="0278E4">
              <a:alpha val="45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653410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933337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213264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493190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773117" y="5012676"/>
            <a:ext cx="207145" cy="162827"/>
          </a:xfrm>
          <a:prstGeom prst="rect">
            <a:avLst/>
          </a:prstGeom>
          <a:solidFill>
            <a:srgbClr val="0278E4">
              <a:alpha val="4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053044" y="4239244"/>
            <a:ext cx="207145" cy="936259"/>
          </a:xfrm>
          <a:prstGeom prst="rect">
            <a:avLst/>
          </a:prstGeom>
          <a:solidFill>
            <a:srgbClr val="0278E4">
              <a:alpha val="78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332970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612897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892824" y="4931262"/>
            <a:ext cx="207145" cy="244241"/>
          </a:xfrm>
          <a:prstGeom prst="rect">
            <a:avLst/>
          </a:prstGeom>
          <a:solidFill>
            <a:srgbClr val="0278E4">
              <a:alpha val="45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172751" y="4809141"/>
            <a:ext cx="207145" cy="366362"/>
          </a:xfrm>
          <a:prstGeom prst="rect">
            <a:avLst/>
          </a:prstGeom>
          <a:solidFill>
            <a:srgbClr val="0278E4">
              <a:alpha val="51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452677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32604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12531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292457" y="4035709"/>
            <a:ext cx="207145" cy="1139794"/>
          </a:xfrm>
          <a:prstGeom prst="rect">
            <a:avLst/>
          </a:prstGeom>
          <a:solidFill>
            <a:srgbClr val="0278E4">
              <a:alpha val="883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572384" y="4524193"/>
            <a:ext cx="207145" cy="651310"/>
          </a:xfrm>
          <a:prstGeom prst="rect">
            <a:avLst/>
          </a:prstGeom>
          <a:solidFill>
            <a:srgbClr val="0278E4">
              <a:alpha val="6505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852311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132238" y="4809141"/>
            <a:ext cx="207145" cy="366362"/>
          </a:xfrm>
          <a:prstGeom prst="rect">
            <a:avLst/>
          </a:prstGeom>
          <a:solidFill>
            <a:srgbClr val="0278E4">
              <a:alpha val="51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412164" y="4605606"/>
            <a:ext cx="207145" cy="569897"/>
          </a:xfrm>
          <a:prstGeom prst="rect">
            <a:avLst/>
          </a:prstGeom>
          <a:solidFill>
            <a:srgbClr val="0278E4">
              <a:alpha val="6117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692091" y="4890555"/>
            <a:ext cx="207145" cy="284948"/>
          </a:xfrm>
          <a:prstGeom prst="rect">
            <a:avLst/>
          </a:prstGeom>
          <a:solidFill>
            <a:srgbClr val="0278E4">
              <a:alpha val="4758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972018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251944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531871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811798" y="4768434"/>
            <a:ext cx="207145" cy="407069"/>
          </a:xfrm>
          <a:prstGeom prst="rect">
            <a:avLst/>
          </a:prstGeom>
          <a:solidFill>
            <a:srgbClr val="0278E4">
              <a:alpha val="5341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8091725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371651" y="4442779"/>
            <a:ext cx="207145" cy="732724"/>
          </a:xfrm>
          <a:prstGeom prst="rect">
            <a:avLst/>
          </a:prstGeom>
          <a:solidFill>
            <a:srgbClr val="0278E4">
              <a:alpha val="68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8651578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931505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211431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491358" y="3791468"/>
            <a:ext cx="207145" cy="1384035"/>
          </a:xfrm>
          <a:prstGeom prst="rect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217038" y="3576584"/>
            <a:ext cx="75578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278E4"/>
                </a:solidFill>
                <a:latin typeface="Arial"/>
              </a:rPr>
              <a:t>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71285" y="4239244"/>
            <a:ext cx="207145" cy="936259"/>
          </a:xfrm>
          <a:prstGeom prst="rect">
            <a:avLst/>
          </a:prstGeom>
          <a:solidFill>
            <a:srgbClr val="0278E4">
              <a:alpha val="78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10051212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10331138" y="4402072"/>
            <a:ext cx="207145" cy="773431"/>
          </a:xfrm>
          <a:prstGeom prst="rect">
            <a:avLst/>
          </a:prstGeom>
          <a:solidFill>
            <a:srgbClr val="0278E4">
              <a:alpha val="70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10611065" y="4768434"/>
            <a:ext cx="207145" cy="407069"/>
          </a:xfrm>
          <a:prstGeom prst="rect">
            <a:avLst/>
          </a:prstGeom>
          <a:solidFill>
            <a:srgbClr val="0278E4">
              <a:alpha val="5341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10890992" y="3995002"/>
            <a:ext cx="207145" cy="1180501"/>
          </a:xfrm>
          <a:prstGeom prst="rect">
            <a:avLst/>
          </a:prstGeom>
          <a:solidFill>
            <a:srgbClr val="0278E4">
              <a:alpha val="9029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11170918" y="4035709"/>
            <a:ext cx="207145" cy="1139794"/>
          </a:xfrm>
          <a:prstGeom prst="rect">
            <a:avLst/>
          </a:prstGeom>
          <a:solidFill>
            <a:srgbClr val="0278E4">
              <a:alpha val="883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77240" y="5175504"/>
            <a:ext cx="10637215" cy="10972"/>
          </a:xfrm>
          <a:prstGeom prst="rect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02734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15/07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2221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22/07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21708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29/07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81195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05/08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40682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12/08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00169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19/08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77240" y="5632704"/>
            <a:ext cx="32004" cy="5486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996695" y="5660136"/>
            <a:ext cx="10417759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1C1F23"/>
                </a:solidFill>
                <a:latin typeface="Arial"/>
              </a:rPr>
              <a:t>Le dépôt ne couvre que les phases de réalisation : les phases 0 à 2 — cadrage, état de l'art, conception — sont antérieures à son initialisation. Les quatre jours à zéro sont laissés visibles, et la moyenne est tirée vers le haut par la dernière quinzaine, la plus dense du projet.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 rot="1350000">
            <a:off x="7924537" y="-502919"/>
            <a:ext cx="5120640" cy="5120640"/>
          </a:xfrm>
          <a:prstGeom prst="star8">
            <a:avLst/>
          </a:prstGeom>
          <a:noFill/>
          <a:ln w="31750">
            <a:solidFill>
              <a:srgbClr val="4FA9F5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 ; si la journée est déjà ouverte, les quantités s'affichent +80.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des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 : une ligne par message, jamais réécrite,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Prolonger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l'avancement par site, le registre des réceptions et les alertes de stock existent ; la prévision de commande, elle, reste à construire.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Hero"/>
          <p:cNvSpPr/>
          <p:nvPr/>
        </p:nvSpPr>
        <p:spPr>
          <a:xfrm rot="2700000">
            <a:off x="2712567" y="-228600"/>
            <a:ext cx="6766560" cy="67665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22452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575656"/>
                </a:solidFill>
                <a:latin typeface="Arial"/>
              </a:rPr>
              <a:t>Mohammed Yassine MAGRI</a:t>
            </a:r>
          </a:p>
          <a:p>
            <a:pPr algn="ctr"/>
            <a:r>
              <a:rPr sz="1100" b="0" i="0">
                <a:solidFill>
                  <a:srgbClr val="8A8A8A"/>
                </a:solidFill>
                <a:latin typeface="Arial"/>
              </a:rPr>
              <a:t>Ingénierie Informatique et Réseaux  ·  EMSI Rabat  ·  AZNET</a:t>
            </a:r>
          </a:p>
        </p:txBody>
      </p:sp>
      <p:pic>
        <p:nvPicPr>
          <p:cNvPr id="5" name="Picture 4" descr="logo-em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6" name="Picture 5" descr="logo-azn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Automatisation — les neuf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Consommation — ce qu'il reste de chaque offre gratuite, et d'où vient le chiffre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Thème clair — le thème est un choix persistant de l'utilisateur, pas une préférence système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overview-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7529</Words>
  <Application>Microsoft Office PowerPoint</Application>
  <PresentationFormat>Widescreen</PresentationFormat>
  <Paragraphs>742</Paragraphs>
  <Slides>39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Yassine hh</cp:lastModifiedBy>
  <cp:revision>6</cp:revision>
  <dcterms:created xsi:type="dcterms:W3CDTF">2013-01-27T09:14:16Z</dcterms:created>
  <dcterms:modified xsi:type="dcterms:W3CDTF">2026-09-20T22:44:19Z</dcterms:modified>
  <cp:category/>
</cp:coreProperties>
</file>
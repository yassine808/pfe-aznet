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7" d="100"/>
          <a:sy n="77" d="100"/>
        </p:scale>
        <p:origin x="883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901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>
            <a:endParaRPr/>
          </a:p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>
            <a:r>
              <a:t>→ Deux files, pas une : l'écriture refusée d'un côté, le message intraitable de</a:t>
            </a:r>
          </a:p>
          <a:p>
            <a:r>
              <a:t>  l'autre. Ce dernier répond 202 — un 502 ferait envoyer ❌ à un technicien dont</a:t>
            </a:r>
          </a:p>
          <a:p>
            <a:r>
              <a:t>  le rapport est en sécurité.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Trilingue, arabe RTL, graphiques écrits à la main. Douze écrans.</a:t>
            </a:r>
          </a:p>
          <a:p>
            <a:r>
              <a:t>→ Vingt-neuf captures en annexe H.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 · 0 bogue, 0 vulnérabilité, 0 code smell, 0 minute de dette, A/A/A.</a:t>
            </a:r>
          </a:p>
          <a:p>
            <a:r>
              <a:t>→ Le portail passe ses SIX conditions. Dire qu'il ne les passait pas au départ.</a:t>
            </a:r>
          </a:p>
          <a:p>
            <a:r>
              <a:t>→ Raconter le vrai bogue : un test qui dépendait du .env local.</a:t>
            </a:r>
          </a:p>
          <a:p>
            <a:r>
              <a:t>→ Sur la 6e condition : j'ai d'abord soutenu que 80 % de couverture n'avait pas</a:t>
            </a:r>
          </a:p>
          <a:p>
            <a:r>
              <a:t>  de sens pour une suite hors ligne. Puis j'ai écrit les tests. C'est plus court</a:t>
            </a:r>
          </a:p>
          <a:p>
            <a:r>
              <a:t>  à défendre qu'un argument.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Le rythme, pas le total. Montrer les quatre jours à zéro et la dernière</a:t>
            </a:r>
          </a:p>
          <a:p>
            <a:r>
              <a:t>  quinzaine, la plus dense du dépôt.</a:t>
            </a:r>
          </a:p>
          <a:p>
            <a:r>
              <a:t>→ Honnêteté : le dépôt commence le 15 juillet. Les phases 0 à 2 sont antérieures</a:t>
            </a:r>
          </a:p>
          <a:p>
            <a:r>
              <a:t>  — le graphique mesure la réalisation, pas les six mois.</a:t>
            </a:r>
          </a:p>
          <a:p>
            <a:r>
              <a:t>→ Enchaîner : un nombre de commits mesure de la frappe. Les deux verdicts</a:t>
            </a:r>
          </a:p>
          <a:p>
            <a:r>
              <a:t>  au-dessus — le portail et la suite de tests — mesurent autre chose.</a:t>
            </a:r>
          </a:p>
          <a:p>
            <a:endParaRPr/>
          </a:p>
          <a:p>
            <a:r>
              <a:t>— Design : Le graphique est dessiné en rectangles, pas inséré : un graphique natif impose sa palette et supprime les jours à zéro. L'opacité porte l'intensité — un seul bleu, comme partout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>
            <a:endParaRPr/>
          </a:p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>
            <a:endParaRPr/>
          </a:p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>
            <a:endParaRPr/>
          </a:p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4070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Projet</a:t>
            </a:r>
            <a:r>
              <a:rPr sz="1150" b="0" i="0">
                <a:solidFill>
                  <a:srgbClr val="8A8A8A"/>
                </a:solidFill>
                <a:latin typeface="Arial"/>
              </a:rPr>
              <a:t> de Fin </a:t>
            </a:r>
            <a:r>
              <a:rPr sz="1150" b="0" i="0" err="1">
                <a:solidFill>
                  <a:srgbClr val="8A8A8A"/>
                </a:solidFill>
                <a:latin typeface="Arial"/>
              </a:rPr>
              <a:t>d'Études</a:t>
            </a:r>
            <a:endParaRPr sz="1150" b="0" i="0">
              <a:solidFill>
                <a:srgbClr val="8A8A8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6412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Réalisé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académique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Mme Kawtar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Imgharene</a:t>
            </a:r>
            <a:endParaRPr lang="en-US" sz="1250">
              <a:solidFill>
                <a:srgbClr val="575656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Encadrant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industriel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chaachoui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et Mr Adil </a:t>
            </a:r>
            <a:r>
              <a:rPr lang="fr-FR" sz="1250" err="1">
                <a:solidFill>
                  <a:srgbClr val="575656"/>
                </a:solidFill>
                <a:latin typeface="Arial"/>
              </a:rPr>
              <a:t>Zellou</a:t>
            </a:r>
            <a:r>
              <a:rPr lang="fr-FR" sz="1250">
                <a:solidFill>
                  <a:srgbClr val="575656"/>
                </a:solidFill>
                <a:latin typeface="Arial"/>
              </a:rPr>
              <a:t> </a:t>
            </a:r>
            <a:endParaRPr sz="1250">
              <a:solidFill>
                <a:srgbClr val="575656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7053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 err="1">
                <a:solidFill>
                  <a:srgbClr val="1C1F23"/>
                </a:solidFill>
                <a:latin typeface="Arial"/>
              </a:rPr>
              <a:t>Entreprise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d'accueil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lang="en-US" sz="1250" b="0" i="0">
                <a:solidFill>
                  <a:srgbClr val="575656"/>
                </a:solidFill>
                <a:latin typeface="Arial"/>
              </a:rPr>
              <a:t>21/09/2026</a:t>
            </a:r>
            <a:endParaRPr sz="1250" b="0" i="0">
              <a:solidFill>
                <a:srgbClr val="575656"/>
              </a:solidFill>
              <a:latin typeface="Arial"/>
            </a:endParaRP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</a:t>
            </a:r>
            <a:r>
              <a:rPr sz="1250" b="1" i="0" err="1">
                <a:solidFill>
                  <a:srgbClr val="1C1F23"/>
                </a:solidFill>
                <a:latin typeface="Arial"/>
              </a:rPr>
              <a:t>universitaire</a:t>
            </a:r>
            <a:r>
              <a:rPr sz="1250" b="1" i="0">
                <a:solidFill>
                  <a:srgbClr val="1C1F23"/>
                </a:solidFill>
                <a:latin typeface="Arial"/>
              </a:rPr>
              <a:t>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22781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7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85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26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préchargé au démarrage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 et son autorisation vérifiée ; le chantier, lui, vient du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76809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L'ordre de 5 et 6 est un invariant, pas une préférence. Deux files de reprise le rendent tenable : une écriture Google Sheets refusée est garée et rejouée toutes les cinq minutes ; un message qu'aucun moteur n'a pu traiter est garé lui aussi, le service répond 202 et non 502, et le technicien reçoit « rapport reçu, il sera enregistré » plutôt qu'un échec. Rien n'est perdu, et l'ordre des messages d'un même technicien est préservé.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Fusionner les deux messages détruirait de l'information :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écraserait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116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42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96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25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1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1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55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2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5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21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T="27432" marB="27432" anchor="ctr">
                    <a:solidFill>
                      <a:srgbClr val="1C1F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T="27432" marB="27432" anchor="ctr">
                    <a:solidFill>
                      <a:srgbClr val="E8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4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La chaîne déployée est gpt-oss-120b → 3.5-flash-lite → flash-lite-latest : elle alterne les fournisseurs, Groq et Google comptant leurs quotas séparément. Le jeu de cas en compte vingt-cinq aujourd'hui, et une seconde campagne a montré ce qu'un repli ne rattrape pas : un modèle qui répond 200 avec un objet vide.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3.14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WhatsApp Cloud API — webhook signé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Extraction structurée — 3 chaînes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Miroir plat et table d'agrégation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Boîte de réception — réponse et transcription corrigeable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Observabilité PostgreSQL — 26 tables, deux files de reprise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Ordonnanceur — 9 tâches, page Automatisation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Rapports quotidien et hebdomadaire — e-mail et document .docx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Une personne, plusieurs canaux : le rattachement d'un technicien à un chef porte la hiérarchie, jamais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860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 · vulnérabilité
point sensible · code smell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dette technique
0,0 % de duplication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80,7 %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 mesurée
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était rouge ; il passe aujourd'hui ses six conditions.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La première analyse rendait fiabilité E et sécurité C : une image de conteneur qui s'exécutait en root et installait depuis des sources non épinglées. Trois défauts réels corrigés, un faux positif réfuté, un refus motivé et consigné.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La sixième condition a été satisfaite, pas contournée.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Elle exige 80 % de couverture sur le code nouveau. J'ai d'abord soutenu que le seuil n'était pas pertinent pour une suite hors ligne — puis j'ai écrit les tests manquants : 80,2 %. Écrire les tests est plus court à défendre que l'argument.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 au passage. 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ma machine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note A obtenue en désactivant les règles gênantes ne mesurerait plus rien : les trois seules issues honnêtes devant un analyseur externe sont corriger, réfuter avec la preuve, ou refuser en écrivant le motif dans l'outil. Les trois ont servi ici.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8-Point Star 7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rythme réel du développement, et ce qui le contrôle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
sur 38 jours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86835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9715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+117 339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lignes ajoutées
45 454 retirées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96431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9311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 automatisés
810 sans base, 50 d'intégration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10511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06027" y="181051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8907" y="2084831"/>
            <a:ext cx="2142667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06624"/>
            <a:ext cx="2142667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conditions du portail
SonarCloud satisfaites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291840"/>
            <a:ext cx="65950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0278E4"/>
                </a:solidFill>
                <a:latin typeface="Arial"/>
              </a:rPr>
              <a:t>Commits par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2313" y="3314700"/>
            <a:ext cx="404214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8A8A8A"/>
                </a:solidFill>
                <a:latin typeface="Arial"/>
              </a:rPr>
              <a:t>15 juillet – 21 août 2026  ·  l'opacité suit l'intensité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72719"/>
            <a:ext cx="10637215" cy="731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" y="4580695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8A8A8A"/>
                </a:solidFill>
                <a:latin typeface="Arial"/>
              </a:rPr>
              <a:t>moyenne 9,9 / jour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63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93557" y="5053383"/>
            <a:ext cx="207145" cy="122120"/>
          </a:xfrm>
          <a:prstGeom prst="rect">
            <a:avLst/>
          </a:prstGeom>
          <a:solidFill>
            <a:srgbClr val="0278E4">
              <a:alpha val="39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73483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653410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93333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13264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93190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73117" y="5012676"/>
            <a:ext cx="207145" cy="162827"/>
          </a:xfrm>
          <a:prstGeom prst="rect">
            <a:avLst/>
          </a:prstGeom>
          <a:solidFill>
            <a:srgbClr val="0278E4">
              <a:alpha val="4176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053044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32970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12897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892824" y="4931262"/>
            <a:ext cx="207145" cy="244241"/>
          </a:xfrm>
          <a:prstGeom prst="rect">
            <a:avLst/>
          </a:prstGeom>
          <a:solidFill>
            <a:srgbClr val="0278E4">
              <a:alpha val="45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72751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452677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32604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1253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92457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572384" y="4524193"/>
            <a:ext cx="207145" cy="651310"/>
          </a:xfrm>
          <a:prstGeom prst="rect">
            <a:avLst/>
          </a:prstGeom>
          <a:solidFill>
            <a:srgbClr val="0278E4">
              <a:alpha val="6505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852311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32238" y="4809141"/>
            <a:ext cx="207145" cy="366362"/>
          </a:xfrm>
          <a:prstGeom prst="rect">
            <a:avLst/>
          </a:prstGeom>
          <a:solidFill>
            <a:srgbClr val="0278E4">
              <a:alpha val="51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12164" y="4605606"/>
            <a:ext cx="207145" cy="569897"/>
          </a:xfrm>
          <a:prstGeom prst="rect">
            <a:avLst/>
          </a:prstGeom>
          <a:solidFill>
            <a:srgbClr val="0278E4">
              <a:alpha val="6117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692091" y="4890555"/>
            <a:ext cx="207145" cy="284948"/>
          </a:xfrm>
          <a:prstGeom prst="rect">
            <a:avLst/>
          </a:prstGeom>
          <a:solidFill>
            <a:srgbClr val="0278E4">
              <a:alpha val="47588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972018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251944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531871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811798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091725" y="4971969"/>
            <a:ext cx="207145" cy="203534"/>
          </a:xfrm>
          <a:prstGeom prst="rect">
            <a:avLst/>
          </a:prstGeom>
          <a:solidFill>
            <a:srgbClr val="0278E4">
              <a:alpha val="43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371651" y="4442779"/>
            <a:ext cx="207145" cy="732724"/>
          </a:xfrm>
          <a:prstGeom prst="rect">
            <a:avLst/>
          </a:prstGeom>
          <a:solidFill>
            <a:srgbClr val="0278E4">
              <a:alpha val="68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651578" y="4646313"/>
            <a:ext cx="207145" cy="529190"/>
          </a:xfrm>
          <a:prstGeom prst="rect">
            <a:avLst/>
          </a:prstGeom>
          <a:solidFill>
            <a:srgbClr val="0278E4">
              <a:alpha val="5923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931505" y="5094090"/>
            <a:ext cx="207145" cy="81413"/>
          </a:xfrm>
          <a:prstGeom prst="rect">
            <a:avLst/>
          </a:prstGeom>
          <a:solidFill>
            <a:srgbClr val="0278E4">
              <a:alpha val="37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211431" y="5151729"/>
            <a:ext cx="207145" cy="23774"/>
          </a:xfrm>
          <a:prstGeom prst="rect">
            <a:avLst/>
          </a:prstGeom>
          <a:solidFill>
            <a:srgbClr val="DF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491358" y="3791468"/>
            <a:ext cx="207145" cy="1384035"/>
          </a:xfrm>
          <a:prstGeom prst="rect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217038" y="3576584"/>
            <a:ext cx="75578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278E4"/>
                </a:solidFill>
                <a:latin typeface="Arial"/>
              </a:rPr>
              <a:t>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71285" y="4239244"/>
            <a:ext cx="207145" cy="936259"/>
          </a:xfrm>
          <a:prstGeom prst="rect">
            <a:avLst/>
          </a:prstGeom>
          <a:solidFill>
            <a:srgbClr val="0278E4">
              <a:alpha val="7864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051212" y="5134797"/>
            <a:ext cx="207145" cy="40706"/>
          </a:xfrm>
          <a:prstGeom prst="rect">
            <a:avLst/>
          </a:prstGeom>
          <a:solidFill>
            <a:srgbClr val="0278E4">
              <a:alpha val="35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331138" y="4402072"/>
            <a:ext cx="207145" cy="773431"/>
          </a:xfrm>
          <a:prstGeom prst="rect">
            <a:avLst/>
          </a:prstGeom>
          <a:solidFill>
            <a:srgbClr val="0278E4">
              <a:alpha val="70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611065" y="4768434"/>
            <a:ext cx="207145" cy="407069"/>
          </a:xfrm>
          <a:prstGeom prst="rect">
            <a:avLst/>
          </a:prstGeom>
          <a:solidFill>
            <a:srgbClr val="0278E4">
              <a:alpha val="5341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0890992" y="3995002"/>
            <a:ext cx="207145" cy="1180501"/>
          </a:xfrm>
          <a:prstGeom prst="rect">
            <a:avLst/>
          </a:prstGeom>
          <a:solidFill>
            <a:srgbClr val="0278E4">
              <a:alpha val="9029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11170918" y="4035709"/>
            <a:ext cx="207145" cy="1139794"/>
          </a:xfrm>
          <a:prstGeom prst="rect">
            <a:avLst/>
          </a:prstGeom>
          <a:solidFill>
            <a:srgbClr val="0278E4">
              <a:alpha val="8835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77240" y="5175504"/>
            <a:ext cx="10637215" cy="10972"/>
          </a:xfrm>
          <a:prstGeom prst="rect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734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15/07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2221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22/07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21708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29/07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1195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05/08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40682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12/08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0169" y="5239512"/>
            <a:ext cx="82893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8A8A8A"/>
                </a:solidFill>
                <a:latin typeface="Arial"/>
              </a:rPr>
              <a:t>19/08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77240" y="5632704"/>
            <a:ext cx="32004" cy="5486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96695" y="5660136"/>
            <a:ext cx="10417759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1C1F23"/>
                </a:solidFill>
                <a:latin typeface="Arial"/>
              </a:rPr>
              <a:t>Le dépôt ne couvre que les phases de réalisation : les phases 0 à 2 — cadrage, état de l'art, conception — sont antérieures à son initialisation. Les quatre jours à zéro sont laissés visibles, et la moyenne est tirée vers le haut par la dernière quinzaine, la plus dense du projet.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des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22452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575656"/>
                </a:solidFill>
                <a:latin typeface="Arial"/>
              </a:rPr>
              <a:t>Mohammed Yassine MAGRI</a:t>
            </a:r>
          </a:p>
          <a:p>
            <a:pPr algn="ctr"/>
            <a:r>
              <a:rPr sz="1100" b="0" i="0">
                <a:solidFill>
                  <a:srgbClr val="8A8A8A"/>
                </a:solidFill>
                <a:latin typeface="Arial"/>
              </a:rPr>
              <a:t>Ingénierie Informatique et Réseaux  ·  EMSI Rabat  ·  AZNET</a:t>
            </a:r>
          </a:p>
        </p:txBody>
      </p:sp>
      <p:pic>
        <p:nvPicPr>
          <p:cNvPr id="5" name="Picture 4" descr="logo-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6" name="Picture 5" descr="logo-azn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39 / 30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7557</Words>
  <Application>Microsoft Office PowerPoint</Application>
  <PresentationFormat>Widescreen</PresentationFormat>
  <Paragraphs>748</Paragraphs>
  <Slides>39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Yassine hh</cp:lastModifiedBy>
  <cp:revision>4</cp:revision>
  <dcterms:created xsi:type="dcterms:W3CDTF">2013-01-27T09:14:16Z</dcterms:created>
  <dcterms:modified xsi:type="dcterms:W3CDTF">2026-09-20T22:10:19Z</dcterms:modified>
  <cp:category/>
</cp:coreProperties>
</file>
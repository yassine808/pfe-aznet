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ogo-em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3014882" cy="658368"/>
          </a:xfrm>
          <a:prstGeom prst="rect">
            <a:avLst/>
          </a:prstGeom>
        </p:spPr>
      </p:pic>
      <p:pic>
        <p:nvPicPr>
          <p:cNvPr id="5" name="Picture 4" descr="logo-az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23" y="539496"/>
            <a:ext cx="713232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2763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1" i="0">
                <a:solidFill>
                  <a:srgbClr val="575656"/>
                </a:solidFill>
                <a:latin typeface="Arial"/>
              </a:rPr>
              <a:t>ÉCOLE MAROCAINE DES SCIENCES DE L'INGÉNIEUR — RABAT</a:t>
            </a:r>
          </a:p>
          <a:p>
            <a:r>
              <a:rPr sz="1150" b="0" i="0">
                <a:solidFill>
                  <a:srgbClr val="8A8A8A"/>
                </a:solidFill>
                <a:latin typeface="Arial"/>
              </a:rPr>
              <a:t>Rapport de Projet de Fin d'Études — diplôme d'Ingénieur d'État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1463040" cy="45720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0048"/>
            <a:ext cx="101800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3300" b="1" i="0">
                <a:solidFill>
                  <a:srgbClr val="1C1F23"/>
                </a:solidFill>
                <a:latin typeface="Arial"/>
              </a:rPr>
              <a:t>Automatisation des rapports journaliers
de chantier par intelligence artificielle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59936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0278E4"/>
                </a:solidFill>
                <a:latin typeface="Arial"/>
              </a:rPr>
              <a:t>Transcription de notes vocales en darija et extraction structurée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1C1F23"/>
                </a:solidFill>
                <a:latin typeface="Arial"/>
              </a:rPr>
              <a:t>Réalisé par :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Yassine [À COMPLÉTER — NOM]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1C1F23"/>
                </a:solidFill>
                <a:latin typeface="Arial"/>
              </a:rPr>
              <a:t>Encadrant académique :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[À COMPLÉTER]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1C1F23"/>
                </a:solidFill>
                <a:latin typeface="Arial"/>
              </a:rPr>
              <a:t>Encadrant industriel :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[À COMPLÉTER]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3975" y="484632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250" b="1" i="0">
                <a:solidFill>
                  <a:srgbClr val="1C1F23"/>
                </a:solidFill>
                <a:latin typeface="Arial"/>
              </a:rPr>
              <a:t>Entreprise d'accueil :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AZNET — Casablanca</a:t>
            </a:r>
          </a:p>
          <a:p>
            <a:pPr algn="r">
              <a:spcAft>
                <a:spcPts val="500"/>
              </a:spcAft>
            </a:pPr>
            <a:r>
              <a:rPr sz="1250" b="1" i="0">
                <a:solidFill>
                  <a:srgbClr val="1C1F23"/>
                </a:solidFill>
                <a:latin typeface="Arial"/>
              </a:rPr>
              <a:t>Soutenu le :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[À COMPLÉTER]</a:t>
            </a:r>
          </a:p>
          <a:p>
            <a:pPr algn="r">
              <a:spcAft>
                <a:spcPts val="500"/>
              </a:spcAft>
            </a:pPr>
            <a:r>
              <a:rPr sz="1250" b="1" i="0">
                <a:solidFill>
                  <a:srgbClr val="1C1F23"/>
                </a:solidFill>
                <a:latin typeface="Arial"/>
              </a:rPr>
              <a:t>Année universitaire :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28799"/>
            <a:ext cx="384048" cy="3840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652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837943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Contexte et problématique</a:t>
            </a:r>
          </a:p>
          <a:p>
            <a:r>
              <a:rPr sz="1250" b="0" i="0">
                <a:solidFill>
                  <a:srgbClr val="8A8A8A"/>
                </a:solidFill>
                <a:latin typeface="Arial"/>
              </a:rPr>
              <a:t>Le terrain, les trois verrous techniques, les besoins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42032"/>
            <a:ext cx="384048" cy="3840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1975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551175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État de l'art</a:t>
            </a:r>
          </a:p>
          <a:p>
            <a:r>
              <a:rPr sz="1250" b="0" i="0">
                <a:solidFill>
                  <a:srgbClr val="8A8A8A"/>
                </a:solidFill>
                <a:latin typeface="Arial"/>
              </a:rPr>
              <a:t>Le darija comme langue peu dotée, extraction par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55263"/>
            <a:ext cx="384048" cy="3840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32987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3264407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Conception</a:t>
            </a:r>
          </a:p>
          <a:p>
            <a:r>
              <a:rPr sz="1250" b="0" i="0">
                <a:solidFill>
                  <a:srgbClr val="8A8A8A"/>
                </a:solidFill>
                <a:latin typeface="Arial"/>
              </a:rPr>
              <a:t>Architecture hybride, flux nominal, journal de chantier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68496"/>
            <a:ext cx="384048" cy="3840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4622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3977639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Banc d'essai des moteurs de transcription</a:t>
            </a:r>
          </a:p>
          <a:p>
            <a:r>
              <a:rPr sz="1250" b="0" i="0">
                <a:solidFill>
                  <a:srgbClr val="8A8A8A"/>
                </a:solidFill>
                <a:latin typeface="Arial"/>
              </a:rPr>
              <a:t>Treize moteurs, une hypothèse renversée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681728"/>
            <a:ext cx="384048" cy="3840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5945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4690872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Réalisation et qualité</a:t>
            </a:r>
          </a:p>
          <a:p>
            <a:r>
              <a:rPr sz="1250" b="0" i="0">
                <a:solidFill>
                  <a:srgbClr val="8A8A8A"/>
                </a:solidFill>
                <a:latin typeface="Arial"/>
              </a:rPr>
              <a:t>Périmètre livré, tableau de bord, chaîne DevOps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94960"/>
            <a:ext cx="384048" cy="3840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726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0744" y="5404104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Démonstration, bilan et perspectives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uote-wittgenste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1 — 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AZNET et la remontée d'information du terrain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6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600" b="1" i="0">
                <a:solidFill>
                  <a:srgbClr val="1C1F23"/>
                </a:solidFill>
                <a:latin typeface="Arial"/>
              </a:rPr>
              <a:t>Le métier. </a:t>
            </a:r>
            <a:r>
              <a:rPr sz="1600" b="0" i="0">
                <a:solidFill>
                  <a:srgbClr val="575656"/>
                </a:solidFill>
                <a:latin typeface="Arial"/>
              </a:rPr>
              <a:t>Infrastructures réseau et câblage informatique : goulottes, tirage et raccordement cuivre et fibre, équipement de bureaux, de panneaux de brassage et de locaux techniques.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6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600" b="1" i="0">
                <a:solidFill>
                  <a:srgbClr val="1C1F23"/>
                </a:solidFill>
                <a:latin typeface="Arial"/>
              </a:rPr>
              <a:t>Le terrain. </a:t>
            </a:r>
            <a:r>
              <a:rPr sz="1600" b="0" i="0">
                <a:solidFill>
                  <a:srgbClr val="575656"/>
                </a:solidFill>
                <a:latin typeface="Arial"/>
              </a:rPr>
              <a:t>Les équipes passent la journée sur les chantiers, loin de tout outil bureautique.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6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600" b="1" i="0">
                <a:solidFill>
                  <a:srgbClr val="1C1F23"/>
                </a:solidFill>
                <a:latin typeface="Arial"/>
              </a:rPr>
              <a:t>Le maillon faible. </a:t>
            </a:r>
            <a:r>
              <a:rPr sz="1600" b="0" i="0">
                <a:solidFill>
                  <a:srgbClr val="575656"/>
                </a:solidFill>
                <a:latin typeface="Arial"/>
              </a:rPr>
              <a:t>Les comptes rendus remontent oralement, par messages dispersés ou sur papier — quand ils ne sont pas omis.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6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600" b="1" i="0">
                <a:solidFill>
                  <a:srgbClr val="1C1F23"/>
                </a:solidFill>
                <a:latin typeface="Arial"/>
              </a:rPr>
              <a:t>La langue de travail. </a:t>
            </a:r>
            <a:r>
              <a:rPr sz="1600" b="0" i="0">
                <a:solidFill>
                  <a:srgbClr val="575656"/>
                </a:solidFill>
                <a:latin typeface="Arial"/>
              </a:rPr>
              <a:t>L'arabe marocain (darija), mêlé de vocabulaire technique français.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074920"/>
            <a:ext cx="32004" cy="475488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5102352"/>
            <a:ext cx="104177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0" i="0">
                <a:solidFill>
                  <a:srgbClr val="1C1F23"/>
                </a:solidFill>
                <a:latin typeface="Arial"/>
              </a:rPr>
              <a:t>Le directeur tient déjà un fichier de suivi. Le problème n'est pas l'absence d'outil, c'est le coût de la saisie pour celui qui détient l'information.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1 — 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Trois verrous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56231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700" b="0" i="0">
                <a:solidFill>
                  <a:srgbClr val="1C1F23"/>
                </a:solidFill>
                <a:latin typeface="Arial"/>
              </a:rPr>
              <a:t>Comment transformer automatiquement une note vocale spontanée en darija en un rapport journalier structuré, fiable et exploitable, </a:t>
            </a:r>
            <a:r>
              <a:rPr sz="1700" b="1" i="0">
                <a:solidFill>
                  <a:srgbClr val="0278E4"/>
                </a:solidFill>
                <a:latin typeface="Arial"/>
              </a:rPr>
              <a:t>en moins de deux minutes d'effort pour le technicien et sans budget logiciel</a:t>
            </a:r>
            <a:r>
              <a:rPr sz="1700" b="0" i="0">
                <a:solidFill>
                  <a:srgbClr val="1C1F23"/>
                </a:solidFill>
                <a:latin typeface="Arial"/>
              </a:rPr>
              <a:t> 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7520"/>
            <a:ext cx="3375050" cy="22402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017520"/>
            <a:ext cx="3375050" cy="45720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3291839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278E4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3584448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Transcription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977639"/>
            <a:ext cx="293613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575656"/>
                </a:solidFill>
                <a:latin typeface="Arial"/>
              </a:rPr>
              <a:t>Les moteurs de reconnaissance vocale sont entraînés sur l'arabe standard moderne. Le darija est une langue peu dotée, au code-switching arabe / français fréquent.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8322" y="3017520"/>
            <a:ext cx="3375050" cy="22402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8322" y="3017520"/>
            <a:ext cx="3375050" cy="45720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3291839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278E4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3584448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Structuration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977639"/>
            <a:ext cx="293613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575656"/>
                </a:solidFill>
                <a:latin typeface="Arial"/>
              </a:rPr>
              <a:t>Le texte transcrit est du langage libre. Il faut en extraire des champs normalisés — quantités, localisations, observations — sans jamais inventer une donnée absente.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9404" y="3017520"/>
            <a:ext cx="3375050" cy="22402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9404" y="3017520"/>
            <a:ext cx="3375050" cy="45720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8860" y="3291839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278E4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8860" y="3584448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Intégration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8860" y="3977639"/>
            <a:ext cx="293613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575656"/>
                </a:solidFill>
                <a:latin typeface="Arial"/>
              </a:rPr>
              <a:t>La chaîne complète — messagerie, téléchargement, traitement IA, journal, notifications — doit fonctionner de bout en bout, de manière fiable et gratuite.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1 —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Ce que le cahier des charges exige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044287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00" b="1" i="0">
                <a:solidFill>
                  <a:srgbClr val="1C1F23"/>
                </a:solidFill>
                <a:latin typeface="Arial"/>
              </a:rPr>
              <a:t>BF1 </a:t>
            </a:r>
            <a:r>
              <a:rPr sz="1400" b="0" i="0">
                <a:solidFill>
                  <a:srgbClr val="575656"/>
                </a:solidFill>
                <a:latin typeface="Arial"/>
              </a:rPr>
              <a:t>Saisie vocale en darija via une messagerie — aucune autre action demandée au technicien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00" b="1" i="0">
                <a:solidFill>
                  <a:srgbClr val="1C1F23"/>
                </a:solidFill>
                <a:latin typeface="Arial"/>
              </a:rPr>
              <a:t>BF2 </a:t>
            </a:r>
            <a:r>
              <a:rPr sz="1400" b="0" i="0">
                <a:solidFill>
                  <a:srgbClr val="575656"/>
                </a:solidFill>
                <a:latin typeface="Arial"/>
              </a:rPr>
              <a:t>Un second canal alimente le même traitement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00" b="1" i="0">
                <a:solidFill>
                  <a:srgbClr val="1C1F23"/>
                </a:solidFill>
                <a:latin typeface="Arial"/>
              </a:rPr>
              <a:t>BF3 </a:t>
            </a:r>
            <a:r>
              <a:rPr sz="1400" b="0" i="0">
                <a:solidFill>
                  <a:srgbClr val="575656"/>
                </a:solidFill>
                <a:latin typeface="Arial"/>
              </a:rPr>
              <a:t>Transcription automatique, darija et mélange arabe / français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00" b="1" i="0">
                <a:solidFill>
                  <a:srgbClr val="1C1F23"/>
                </a:solidFill>
                <a:latin typeface="Arial"/>
              </a:rPr>
              <a:t>BF4 </a:t>
            </a:r>
            <a:r>
              <a:rPr sz="1400" b="0" i="0">
                <a:solidFill>
                  <a:srgbClr val="575656"/>
                </a:solidFill>
                <a:latin typeface="Arial"/>
              </a:rPr>
              <a:t>Extraction des travaux réalisés et des quantités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874519"/>
            <a:ext cx="5044287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00" b="1" i="0">
                <a:solidFill>
                  <a:srgbClr val="1C1F23"/>
                </a:solidFill>
                <a:latin typeface="Arial"/>
              </a:rPr>
              <a:t>BF5 </a:t>
            </a:r>
            <a:r>
              <a:rPr sz="1400" b="0" i="0">
                <a:solidFill>
                  <a:srgbClr val="575656"/>
                </a:solidFill>
                <a:latin typeface="Arial"/>
              </a:rPr>
              <a:t>Reformulation en français professionnel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00" b="1" i="0">
                <a:solidFill>
                  <a:srgbClr val="1C1F23"/>
                </a:solidFill>
                <a:latin typeface="Arial"/>
              </a:rPr>
              <a:t>BF6 </a:t>
            </a:r>
            <a:r>
              <a:rPr sz="1400" b="0" i="0">
                <a:solidFill>
                  <a:srgbClr val="575656"/>
                </a:solidFill>
                <a:latin typeface="Arial"/>
              </a:rPr>
              <a:t>Enregistrement dans le tableau de suivi Google Sheets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00" b="1" i="0">
                <a:solidFill>
                  <a:srgbClr val="1C1F23"/>
                </a:solidFill>
                <a:latin typeface="Arial"/>
              </a:rPr>
              <a:t>BF7 </a:t>
            </a:r>
            <a:r>
              <a:rPr sz="1400" b="0" i="0">
                <a:solidFill>
                  <a:srgbClr val="575656"/>
                </a:solidFill>
                <a:latin typeface="Arial"/>
              </a:rPr>
              <a:t>Notification du chef de chantier et du responsable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00" b="1" i="0">
                <a:solidFill>
                  <a:srgbClr val="1C1F23"/>
                </a:solidFill>
                <a:latin typeface="Arial"/>
              </a:rPr>
              <a:t>BF8 </a:t>
            </a:r>
            <a:r>
              <a:rPr sz="1400" b="0" i="0">
                <a:solidFill>
                  <a:srgbClr val="575656"/>
                </a:solidFill>
                <a:latin typeface="Arial"/>
              </a:rPr>
              <a:t>Confirmation au technicien que son rapport est traité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10637215" cy="13258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160520"/>
            <a:ext cx="45720" cy="1325880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379976"/>
            <a:ext cx="100519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La contrainte structurante : budget zéro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764024"/>
            <a:ext cx="1005199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575656"/>
                </a:solidFill>
                <a:latin typeface="Arial"/>
              </a:rPr>
              <a:t>Aucune dépense logicielle autorisée. Toute la solution repose sur des paliers gratuits — Groq, Gemini AI Studio, Telegram Bot API, WhatsApp Cloud API, Google Sheets, Gmail SMTP — et sur du matériel déjà disponible. Cette contrainte n'est pas un détail d'intendance : elle dicte l'architecture, impose des chaînes de repli entre fournisseurs, et interdit la solution évidente à chaque étape.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2 — ÉTAT DE L'ART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Reconnaissance vocale de l'arabe dialectal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5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500" b="1" i="0">
                <a:solidFill>
                  <a:srgbClr val="1C1F23"/>
                </a:solidFill>
                <a:latin typeface="Arial"/>
              </a:rPr>
              <a:t>Une langue peu dotée. </a:t>
            </a:r>
            <a:r>
              <a:rPr sz="1500" b="0" i="0">
                <a:solidFill>
                  <a:srgbClr val="575656"/>
                </a:solidFill>
                <a:latin typeface="Arial"/>
              </a:rPr>
              <a:t>Le darija n'a ni orthographe normalisée, ni corpus annoté de grande taille. Il emprunte massivement au français pour le vocabulaire technique — précisément celui que le rapport doit conserver.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5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500" b="1" i="0">
                <a:solidFill>
                  <a:srgbClr val="1C1F23"/>
                </a:solidFill>
                <a:latin typeface="Arial"/>
              </a:rPr>
              <a:t>Deux architectures concurrentes. </a:t>
            </a:r>
            <a:r>
              <a:rPr sz="1500" b="0" i="0">
                <a:solidFill>
                  <a:srgbClr val="575656"/>
                </a:solidFill>
                <a:latin typeface="Arial"/>
              </a:rPr>
              <a:t>Whisper, transformeur encodeur-décodeur de bout en bout, entraîné en multitâche sur 680 000 h ; wav2vec2 pré-entraîné de manière auto-supervisée puis affiné par classification temporelle connexionniste (CTC).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50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500" b="1" i="0">
                <a:solidFill>
                  <a:srgbClr val="1C1F23"/>
                </a:solidFill>
                <a:latin typeface="Arial"/>
              </a:rPr>
              <a:t>Les affinages darija. </a:t>
            </a:r>
            <a:r>
              <a:rPr sz="1500" b="0" i="0">
                <a:solidFill>
                  <a:srgbClr val="575656"/>
                </a:solidFill>
                <a:latin typeface="Arial"/>
              </a:rPr>
              <a:t>Plusieurs modèles publics existent sur Hugging Face, de quelques dizaines de millions à deux milliards de paramètres. Leur qualité réelle sur un usage métier n'est documentée nulle part.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28032"/>
            <a:ext cx="10637215" cy="1170432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828032"/>
            <a:ext cx="45720" cy="1170432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029200"/>
            <a:ext cx="100519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50" b="1" i="0">
                <a:solidFill>
                  <a:srgbClr val="1C1F23"/>
                </a:solidFill>
                <a:latin typeface="Arial"/>
              </a:rPr>
              <a:t>Les métriques standard. </a:t>
            </a:r>
            <a:r>
              <a:rPr sz="1350" b="0" i="0">
                <a:solidFill>
                  <a:srgbClr val="575656"/>
                </a:solidFill>
                <a:latin typeface="Arial"/>
              </a:rPr>
              <a:t>WER et CER comparent la transcription à une vérité terrain, mot à mot ou caractère à caractère. Pour une langue sans orthographe normalisée, deux transcriptions également correctes divergent sur l'écriture — et le WER punit cette divergence exactement comme une erreur de sens. Ce constat commande la méthode du banc d'essai (section 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2 — ÉTAT DE L'ART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Extraction par LLM et plateformes d'orchestration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799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278E4"/>
                </a:solidFill>
                <a:latin typeface="Arial"/>
              </a:rPr>
              <a:t>Extraction d'information structurée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10637215" cy="3822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5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350" b="0" i="0">
                <a:solidFill>
                  <a:srgbClr val="575656"/>
                </a:solidFill>
                <a:latin typeface="Arial"/>
              </a:rPr>
              <a:t>Les approches classiques — règles, expressions régulières, modèles de reconnaissance d'entités — supposent une langue régulière et un vocabulaire fermé : ni l'un ni l'autre ici.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5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350" b="0" i="0">
                <a:solidFill>
                  <a:srgbClr val="575656"/>
                </a:solidFill>
                <a:latin typeface="Arial"/>
              </a:rPr>
              <a:t>Les LLM à sortie contrainte produisent directement un objet conforme à un schéma. Le risque se déplace : ce n'est plus l'échec de l'extraction, c'est l'invention plausible d'une valeur absente.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278E4"/>
                </a:solidFill>
                <a:latin typeface="Arial"/>
              </a:rPr>
              <a:t>Plateformes d'orchestration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639312"/>
          <a:ext cx="10637213" cy="1554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8041"/>
                <a:gridCol w="2019724"/>
                <a:gridCol w="2019724"/>
                <a:gridCol w="2019724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Critère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n8n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Make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Zapier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Auto-hébergement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Non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Coût à ce volume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Gratuit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Palier limité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Palier limité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Appels HTTP libres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Oui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Restreint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Contrôle des données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Hébergé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Hébergé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468112"/>
            <a:ext cx="32004" cy="475488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5495544"/>
            <a:ext cx="104177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 b="0" i="0">
                <a:solidFill>
                  <a:srgbClr val="1C1F23"/>
                </a:solidFill>
                <a:latin typeface="Arial"/>
              </a:rPr>
              <a:t>n8n est retenu pour une raison unique et vérifiable : c'est le seul auto-hébergeable, donc le seul compatible avec la contrainte de budget zéro à volume non plafonné.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3 —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Architecture générale : une répartition par valeur ajoutée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1732422" cy="148132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29968"/>
            <a:ext cx="1732422" cy="3657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212848"/>
            <a:ext cx="14763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 i="0">
                <a:solidFill>
                  <a:srgbClr val="1C1F23"/>
                </a:solidFill>
                <a:latin typeface="Arial"/>
              </a:rPr>
              <a:t>Terrain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87168"/>
            <a:ext cx="1512966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75656"/>
                </a:solidFill>
                <a:latin typeface="Arial"/>
              </a:rPr>
              <a:t>Technicien
note vocale en darija,
photo ou texte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1102" y="2670048"/>
            <a:ext cx="310896" cy="201168"/>
          </a:xfrm>
          <a:prstGeom prst="rightArrow">
            <a:avLst/>
          </a:prstGeom>
          <a:solidFill>
            <a:srgbClr val="C3C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3438" y="2029968"/>
            <a:ext cx="1732422" cy="148132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3438" y="2029968"/>
            <a:ext cx="1732422" cy="36576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1454" y="2212848"/>
            <a:ext cx="14763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 i="0">
                <a:solidFill>
                  <a:srgbClr val="1C1F23"/>
                </a:solidFill>
                <a:latin typeface="Arial"/>
              </a:rPr>
              <a:t>Réception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3166" y="2487168"/>
            <a:ext cx="1512966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75656"/>
                </a:solidFill>
                <a:latin typeface="Arial"/>
              </a:rPr>
              <a:t>Telegram Bot API
WhatsApp Cloud API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27300" y="2670048"/>
            <a:ext cx="310896" cy="201168"/>
          </a:xfrm>
          <a:prstGeom prst="rightArrow">
            <a:avLst/>
          </a:prstGeom>
          <a:solidFill>
            <a:srgbClr val="C3C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29636" y="2029968"/>
            <a:ext cx="1732422" cy="148132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29636" y="2029968"/>
            <a:ext cx="1732422" cy="36576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7652" y="2212848"/>
            <a:ext cx="14763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 i="0">
                <a:solidFill>
                  <a:srgbClr val="1C1F23"/>
                </a:solidFill>
                <a:latin typeface="Arial"/>
              </a:rPr>
              <a:t>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9364" y="2487168"/>
            <a:ext cx="1512966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75656"/>
                </a:solidFill>
                <a:latin typeface="Arial"/>
              </a:rPr>
              <a:t>n8n — 65 nœuds
réception, déduplication,
autorisation, réponses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53498" y="2670048"/>
            <a:ext cx="310896" cy="201168"/>
          </a:xfrm>
          <a:prstGeom prst="rightArrow">
            <a:avLst/>
          </a:prstGeom>
          <a:solidFill>
            <a:srgbClr val="C3C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5834" y="2029968"/>
            <a:ext cx="1732422" cy="148132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5834" y="2029968"/>
            <a:ext cx="1732422" cy="36576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3850" y="2212848"/>
            <a:ext cx="14763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 i="0">
                <a:solidFill>
                  <a:srgbClr val="1C1F23"/>
                </a:solidFill>
                <a:latin typeface="Arial"/>
              </a:rPr>
              <a:t>Service applicatif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5562" y="2487168"/>
            <a:ext cx="1512966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75656"/>
                </a:solidFill>
                <a:latin typeface="Arial"/>
              </a:rPr>
              <a:t>FastAPI — 66 routes
STT, extraction, journal,
ordonnanceur, comptes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79696" y="2670048"/>
            <a:ext cx="310896" cy="201168"/>
          </a:xfrm>
          <a:prstGeom prst="rightArrow">
            <a:avLst/>
          </a:prstGeom>
          <a:solidFill>
            <a:srgbClr val="C3C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82032" y="2029968"/>
            <a:ext cx="1732422" cy="148132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82032" y="2029968"/>
            <a:ext cx="1732422" cy="36576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0048" y="2212848"/>
            <a:ext cx="147639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 i="0">
                <a:solidFill>
                  <a:srgbClr val="1C1F23"/>
                </a:solidFill>
                <a:latin typeface="Arial"/>
              </a:rPr>
              <a:t>Persistance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1760" y="2487168"/>
            <a:ext cx="1512966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75656"/>
                </a:solidFill>
                <a:latin typeface="Arial"/>
              </a:rPr>
              <a:t>PostgreSQL — 11 tables
Google Sheets
un onglet par chantier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041648"/>
            <a:ext cx="5090007" cy="96012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041648"/>
            <a:ext cx="5090007" cy="3657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224528"/>
            <a:ext cx="483397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 i="0">
                <a:solidFill>
                  <a:srgbClr val="1C1F23"/>
                </a:solidFill>
                <a:latin typeface="Arial"/>
              </a:rPr>
              <a:t>Moteur local — sidecar 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498848"/>
            <a:ext cx="4870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75656"/>
                </a:solidFill>
                <a:latin typeface="Arial"/>
              </a:rPr>
              <a:t>Morocco-Darija-STT-large sur RTX 3070, chargé à la première demande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4447" y="4041648"/>
            <a:ext cx="5090007" cy="96012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24447" y="4041648"/>
            <a:ext cx="5090007" cy="3657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2463" y="4224528"/>
            <a:ext cx="483397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 i="0">
                <a:solidFill>
                  <a:srgbClr val="1C1F23"/>
                </a:solidFill>
                <a:latin typeface="Arial"/>
              </a:rPr>
              <a:t>Consultation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4175" y="4498848"/>
            <a:ext cx="4870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75656"/>
                </a:solidFill>
                <a:latin typeface="Arial"/>
              </a:rPr>
              <a:t>Tableau de bord React FR / EN / AR  ·  rapports quotidien et hebdomadaire par e-mail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85232"/>
            <a:ext cx="32004" cy="47548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5" y="5312664"/>
            <a:ext cx="104177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0" i="0">
                <a:solidFill>
                  <a:srgbClr val="1C1F23"/>
                </a:solidFill>
                <a:latin typeface="Arial"/>
              </a:rPr>
              <a:t>Ce qui est intégration reste dans n8n ; ce qui est décision passe dans le service. La frontière est fonctionnelle, et elle a bougé une fois en cours de projet.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3 —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La frontière entre orchestration et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5067147" cy="26974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067147" cy="45720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112263"/>
            <a:ext cx="46099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 i="0">
                <a:solidFill>
                  <a:srgbClr val="1C1F23"/>
                </a:solidFill>
                <a:latin typeface="Arial"/>
              </a:rPr>
              <a:t>n8n —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514600"/>
            <a:ext cx="4609947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0B8E36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Réception Telegram et WhatsApp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B8E36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Vérification du webhook Meta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B8E36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Déduplication des messages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B8E36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Téléchargement des médias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B8E36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Réponses au technicien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B8E36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Journalisation d'étape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7307" y="1874519"/>
            <a:ext cx="5067147" cy="26974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47307" y="1874519"/>
            <a:ext cx="5067147" cy="45720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5051" y="2112263"/>
            <a:ext cx="46099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 i="0">
                <a:solidFill>
                  <a:srgbClr val="1C1F23"/>
                </a:solidFill>
                <a:latin typeface="Arial"/>
              </a:rPr>
              <a:t>FastAPI — service métier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5051" y="2514600"/>
            <a:ext cx="4609947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0278E4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Transcription et extraction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278E4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Reformulation en français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278E4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Tenue du journal de chantier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278E4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Ordonnancement des tâches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278E4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Authentification et comptes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278E4"/>
                </a:solidFill>
                <a:latin typeface="Arial"/>
              </a:rPr>
              <a:t>–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Service du tableau de bord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828032"/>
            <a:ext cx="10637215" cy="1152144"/>
          </a:xfrm>
          <a:prstGeom prst="rect">
            <a:avLst/>
          </a:prstGeom>
          <a:solidFill>
            <a:srgbClr val="1C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5029200"/>
            <a:ext cx="1001542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La règle retenue : </a:t>
            </a:r>
            <a:r>
              <a:rPr sz="1450" b="0" i="0">
                <a:solidFill>
                  <a:srgbClr val="DDDDDD"/>
                </a:solidFill>
                <a:latin typeface="Arial"/>
              </a:rPr>
              <a:t>ce qui est </a:t>
            </a:r>
            <a:r>
              <a:rPr sz="1450" b="1" i="0">
                <a:solidFill>
                  <a:srgbClr val="FFFFFF"/>
                </a:solidFill>
                <a:latin typeface="Arial"/>
              </a:rPr>
              <a:t>intégration</a:t>
            </a:r>
            <a:r>
              <a:rPr sz="1450" b="0" i="0">
                <a:solidFill>
                  <a:srgbClr val="DDDDDD"/>
                </a:solidFill>
                <a:latin typeface="Arial"/>
              </a:rPr>
              <a:t> reste dans n8n ; ce qui est </a:t>
            </a:r>
            <a:r>
              <a:rPr sz="1450" b="1" i="0">
                <a:solidFill>
                  <a:srgbClr val="FFFFFF"/>
                </a:solidFill>
                <a:latin typeface="Arial"/>
              </a:rPr>
              <a:t>décision</a:t>
            </a:r>
            <a:r>
              <a:rPr sz="1450" b="0" i="0">
                <a:solidFill>
                  <a:srgbClr val="DDDDDD"/>
                </a:solidFill>
                <a:latin typeface="Arial"/>
              </a:rPr>
              <a:t> passe dans le service.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BBBBBB"/>
                </a:solidFill>
                <a:latin typeface="Arial"/>
              </a:rPr>
              <a:t>La frontière a bougé une fois, le 5 août : l'écriture Google Sheets a migré de n8n vers Python, car tenir le journal exige un lire-modifier-écrire qu'un nœud conditionnel ne sait pas exprimer.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3 —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Flux nominal : sept étapes, et un ordre qui n'est pas négociable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2508427" cy="120700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2508427" cy="3657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" y="2194560"/>
            <a:ext cx="310896" cy="31089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24485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40280"/>
            <a:ext cx="182262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C1F23"/>
                </a:solidFill>
                <a:latin typeface="Arial"/>
              </a:rPr>
              <a:t>Envoi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615184"/>
            <a:ext cx="221581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050" b="0" i="0">
                <a:solidFill>
                  <a:srgbClr val="575656"/>
                </a:solidFill>
                <a:latin typeface="Arial"/>
              </a:rPr>
              <a:t>Le technicien envoie une note vocale, une photo ou un texte sur Telegram ou WhatsApp.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6835" y="2011680"/>
            <a:ext cx="2508427" cy="120700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6835" y="2011680"/>
            <a:ext cx="2508427" cy="3657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3139" y="2194560"/>
            <a:ext cx="310896" cy="31089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3139" y="224485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5475" y="2240280"/>
            <a:ext cx="182262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C1F23"/>
                </a:solidFill>
                <a:latin typeface="Arial"/>
              </a:rPr>
              <a:t>Réclamation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3139" y="2615184"/>
            <a:ext cx="221581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050" b="0" i="0">
                <a:solidFill>
                  <a:srgbClr val="575656"/>
                </a:solidFill>
                <a:latin typeface="Arial"/>
              </a:rPr>
              <a:t>n8n réclame l'identifiant du message au service — WhatsApp re-livre un webhook non acquitté.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2011680"/>
            <a:ext cx="2508427" cy="120700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2011680"/>
            <a:ext cx="2508427" cy="3657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2735" y="2194560"/>
            <a:ext cx="310896" cy="31089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224485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5071" y="2240280"/>
            <a:ext cx="182262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C1F23"/>
                </a:solidFill>
                <a:latin typeface="Arial"/>
              </a:rPr>
              <a:t>Identification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2615184"/>
            <a:ext cx="221581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050" b="0" i="0">
                <a:solidFill>
                  <a:srgbClr val="575656"/>
                </a:solidFill>
                <a:latin typeface="Arial"/>
              </a:rPr>
              <a:t>L'expéditeur est retrouvé dans l'organigramme, son autorisation et son chantier vérifiés.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027" y="2011680"/>
            <a:ext cx="2508427" cy="120700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6027" y="2011680"/>
            <a:ext cx="2508427" cy="3657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331" y="2194560"/>
            <a:ext cx="310896" cy="31089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331" y="224485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667" y="2240280"/>
            <a:ext cx="182262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C1F23"/>
                </a:solidFill>
                <a:latin typeface="Arial"/>
              </a:rPr>
              <a:t>Traitement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331" y="2615184"/>
            <a:ext cx="221581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050" b="0" i="0">
                <a:solidFill>
                  <a:srgbClr val="575656"/>
                </a:solidFill>
                <a:latin typeface="Arial"/>
              </a:rPr>
              <a:t>POST /process : transcription, extraction contrainte, résumé français, avertissements.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493008"/>
            <a:ext cx="3411626" cy="1207008"/>
          </a:xfrm>
          <a:prstGeom prst="rect">
            <a:avLst/>
          </a:prstGeom>
          <a:solidFill>
            <a:srgbClr val="E9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493008"/>
            <a:ext cx="3411626" cy="36576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" y="3675888"/>
            <a:ext cx="310896" cy="310896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" y="37261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721608"/>
            <a:ext cx="272582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C1F23"/>
                </a:solidFill>
                <a:latin typeface="Arial"/>
              </a:rPr>
              <a:t>Réponse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" y="4096512"/>
            <a:ext cx="311901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050" b="0" i="0">
                <a:solidFill>
                  <a:srgbClr val="575656"/>
                </a:solidFill>
                <a:latin typeface="Arial"/>
              </a:rPr>
              <a:t>n8n répond au technicien avec son résumé.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90034" y="3493008"/>
            <a:ext cx="3411626" cy="1207008"/>
          </a:xfrm>
          <a:prstGeom prst="rect">
            <a:avLst/>
          </a:prstGeom>
          <a:solidFill>
            <a:srgbClr val="E9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90034" y="3493008"/>
            <a:ext cx="3411626" cy="36576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36338" y="3675888"/>
            <a:ext cx="310896" cy="310896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6338" y="37261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8674" y="3721608"/>
            <a:ext cx="272582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C1F23"/>
                </a:solidFill>
                <a:latin typeface="Arial"/>
              </a:rPr>
              <a:t>Journal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6338" y="4096512"/>
            <a:ext cx="311901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050" b="0" i="0">
                <a:solidFill>
                  <a:srgbClr val="575656"/>
                </a:solidFill>
                <a:latin typeface="Arial"/>
              </a:rPr>
              <a:t>Ensuite seulement : POST /journal fusionne la ligne dans l'onglet du chantier.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2828" y="3493008"/>
            <a:ext cx="3411626" cy="120700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2828" y="3493008"/>
            <a:ext cx="3411626" cy="3657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49132" y="3675888"/>
            <a:ext cx="310896" cy="31089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49132" y="372618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51468" y="3721608"/>
            <a:ext cx="272582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C1F23"/>
                </a:solidFill>
                <a:latin typeface="Arial"/>
              </a:rPr>
              <a:t>Notification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49132" y="4096512"/>
            <a:ext cx="311901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050" b="0" i="0">
                <a:solidFill>
                  <a:srgbClr val="575656"/>
                </a:solidFill>
                <a:latin typeface="Arial"/>
              </a:rPr>
              <a:t>Les responsables sont notifiés.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047488"/>
            <a:ext cx="32004" cy="65836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695" y="5074920"/>
            <a:ext cx="104177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0" i="0">
                <a:solidFill>
                  <a:srgbClr val="1C1F23"/>
                </a:solidFill>
                <a:latin typeface="Arial"/>
              </a:rPr>
              <a:t>L'ordre de 5 et 6 est un invariant, pas une préférence : une écriture Google Sheets qui échoue est garée dans une file de reprise et rejouée toutes les cinq minutes — elle ne coûte jamais au technicien son accusé de réception.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3 —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Le journal de chantier : deux règles qui le rendent juste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56377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278E4"/>
                </a:solidFill>
                <a:latin typeface="Arial"/>
              </a:rPr>
              <a:t>Règle 1 — accumulation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76272"/>
            <a:ext cx="2690846" cy="896112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286000"/>
            <a:ext cx="239823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8A8A8A"/>
                </a:solidFill>
                <a:latin typeface="Arial"/>
              </a:rPr>
              <a:t>Message  08h12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542032"/>
            <a:ext cx="23982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200" b="0" i="0">
                <a:solidFill>
                  <a:srgbClr val="1C1F23"/>
                </a:solidFill>
                <a:latin typeface="Arial"/>
              </a:rPr>
              <a:t>goulotte 120 m
étage RDC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4118" y="2176272"/>
            <a:ext cx="2690846" cy="896112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0422" y="2286000"/>
            <a:ext cx="239823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8A8A8A"/>
                </a:solidFill>
                <a:latin typeface="Arial"/>
              </a:rPr>
              <a:t>Message  17h40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0422" y="2542032"/>
            <a:ext cx="23982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200" b="0" i="0">
                <a:solidFill>
                  <a:srgbClr val="1C1F23"/>
                </a:solidFill>
                <a:latin typeface="Arial"/>
              </a:rPr>
              <a:t>goulotte 80 m
étage E1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477230" y="3182112"/>
            <a:ext cx="237744" cy="310896"/>
          </a:xfrm>
          <a:prstGeom prst="downArrow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602736"/>
            <a:ext cx="5637724" cy="932688"/>
          </a:xfrm>
          <a:prstGeom prst="rect">
            <a:avLst/>
          </a:prstGeom>
          <a:solidFill>
            <a:srgbClr val="E8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602736"/>
            <a:ext cx="5637724" cy="36576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749039"/>
            <a:ext cx="53451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0278E4"/>
                </a:solidFill>
                <a:latin typeface="Arial"/>
              </a:rPr>
              <a:t>Une seule ligne  —  12/08, technicien 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4005072"/>
            <a:ext cx="53451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250" b="1" i="0">
                <a:solidFill>
                  <a:srgbClr val="1C1F23"/>
                </a:solidFill>
                <a:latin typeface="Arial"/>
              </a:rPr>
              <a:t>goulotte 200 m</a:t>
            </a:r>
            <a:r>
              <a:rPr sz="1250" b="0" i="0">
                <a:solidFill>
                  <a:srgbClr val="1C1F23"/>
                </a:solidFill>
                <a:latin typeface="Arial"/>
              </a:rPr>
              <a:t>   ·   étages RDC + E1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563772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0" i="0">
                <a:solidFill>
                  <a:srgbClr val="575656"/>
                </a:solidFill>
                <a:latin typeface="Arial"/>
              </a:rPr>
              <a:t>Les nombres s'ajoutent, les localisations s'unissent, la prose s'ajoute. </a:t>
            </a:r>
            <a:r>
              <a:rPr sz="1150" b="1" i="0">
                <a:solidFill>
                  <a:srgbClr val="1C1F23"/>
                </a:solidFill>
                <a:latin typeface="Arial"/>
              </a:rPr>
              <a:t>Une seconde ligne doublerait les jours-hommes et fausserait la ligne de totaux — le seul chiffre que le directeur lit.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7884" y="1847088"/>
            <a:ext cx="449657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B8E36"/>
                </a:solidFill>
                <a:latin typeface="Arial"/>
              </a:rPr>
              <a:t>Règle 2 — réconciliation de 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7884" y="2212848"/>
            <a:ext cx="4496571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0B8E36"/>
                </a:solidFill>
                <a:latin typeface="Arial"/>
              </a:rPr>
              <a:t>▪  </a:t>
            </a:r>
            <a:r>
              <a:rPr sz="1250" b="1" i="0">
                <a:solidFill>
                  <a:srgbClr val="1C1F23"/>
                </a:solidFill>
                <a:latin typeface="Arial"/>
              </a:rPr>
              <a:t>La référence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dernier stock connu moins l'installé.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0B8E36"/>
                </a:solidFill>
                <a:latin typeface="Arial"/>
              </a:rPr>
              <a:t>▪  </a:t>
            </a:r>
            <a:r>
              <a:rPr sz="1250" b="1" i="0">
                <a:solidFill>
                  <a:srgbClr val="1C1F23"/>
                </a:solidFill>
                <a:latin typeface="Arial"/>
              </a:rPr>
              <a:t>Un chiffre rapporté l'emporte toujours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et devient la nouvelle référence.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0B8E36"/>
                </a:solidFill>
                <a:latin typeface="Arial"/>
              </a:rPr>
              <a:t>▪  </a:t>
            </a:r>
            <a:r>
              <a:rPr sz="1250" b="1" i="0">
                <a:solidFill>
                  <a:srgbClr val="1C1F23"/>
                </a:solidFill>
                <a:latin typeface="Arial"/>
              </a:rPr>
              <a:t>Un écart émet un avertissement chiffré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au lieu de choisir silencieusement.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17884" y="4041648"/>
            <a:ext cx="4496571" cy="1627632"/>
          </a:xfrm>
          <a:prstGeom prst="rect">
            <a:avLst/>
          </a:prstGeom>
          <a:solidFill>
            <a:srgbClr val="1C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3916" y="4224528"/>
            <a:ext cx="398450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Une livraison et une perte sont identiques pour l'arithmétique. </a:t>
            </a:r>
            <a:r>
              <a:rPr sz="1250" b="0" i="0">
                <a:solidFill>
                  <a:srgbClr val="C0C0C0"/>
                </a:solidFill>
                <a:latin typeface="Arial"/>
              </a:rPr>
              <a:t>Le système ne peut pas trancher, donc il ne tranche pas : il écrit l'écart et son montant, et laisse un humain décider. C'est la même règle que partout ailleurs dans la chaîne — jamais d'échec silencieux, jamais de valeur devinée.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4 — BANC D'ESSAI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Protocole, et une décision de méthode assumée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56231"/>
            <a:ext cx="2508427" cy="13258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56231"/>
            <a:ext cx="2508427" cy="411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0551"/>
            <a:ext cx="21426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C1F23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52344"/>
            <a:ext cx="214266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75656"/>
                </a:solidFill>
                <a:latin typeface="Arial"/>
              </a:rPr>
              <a:t>moteurs de transcription
évalués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6835" y="1856231"/>
            <a:ext cx="2508427" cy="13258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6835" y="1856231"/>
            <a:ext cx="2508427" cy="411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9715" y="2130551"/>
            <a:ext cx="21426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C1F23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9715" y="2752344"/>
            <a:ext cx="214266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75656"/>
                </a:solidFill>
                <a:latin typeface="Arial"/>
              </a:rPr>
              <a:t>clips réels de
techniciens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856231"/>
            <a:ext cx="2508427" cy="13258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1856231"/>
            <a:ext cx="2508427" cy="411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9311" y="2130551"/>
            <a:ext cx="21426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C1F23"/>
                </a:solidFill>
                <a:latin typeface="Arial"/>
              </a:rPr>
              <a:t>3 + 12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2752344"/>
            <a:ext cx="214266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75656"/>
                </a:solidFill>
                <a:latin typeface="Arial"/>
              </a:rPr>
              <a:t>par API
et en local sur GPU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027" y="1856231"/>
            <a:ext cx="2508427" cy="13258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027" y="1856231"/>
            <a:ext cx="2508427" cy="411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8907" y="2130551"/>
            <a:ext cx="21426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C1F23"/>
                </a:solidFill>
                <a:latin typeface="Arial"/>
              </a:rPr>
              <a:t>RTX 3070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8907" y="2752344"/>
            <a:ext cx="214266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75656"/>
                </a:solidFill>
                <a:latin typeface="Arial"/>
              </a:rPr>
              <a:t>8 Go, demi-précision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401568"/>
            <a:ext cx="10637215" cy="192024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401568"/>
            <a:ext cx="45720" cy="1920240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3621024"/>
            <a:ext cx="1001542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C1F23"/>
                </a:solidFill>
                <a:latin typeface="Arial"/>
              </a:rPr>
              <a:t>Ni WER, ni CER — et pourquoi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023360"/>
            <a:ext cx="1001542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350" b="0" i="0">
                <a:solidFill>
                  <a:srgbClr val="575656"/>
                </a:solidFill>
                <a:latin typeface="Arial"/>
              </a:rPr>
              <a:t>Établir une vérité terrain en darija suppose une orthographe de référence qui n'existe pas : deux transcriptions également justes divergent sur l'écriture, et le WER punit cette divergence comme une erreur de sens. Le critère retenu est donc </a:t>
            </a:r>
            <a:r>
              <a:rPr sz="1350" b="1" i="0">
                <a:solidFill>
                  <a:srgbClr val="1C1F23"/>
                </a:solidFill>
                <a:latin typeface="Arial"/>
              </a:rPr>
              <a:t>applicatif</a:t>
            </a:r>
            <a:r>
              <a:rPr sz="1350" b="0" i="0">
                <a:solidFill>
                  <a:srgbClr val="575656"/>
                </a:solidFill>
                <a:latin typeface="Arial"/>
              </a:rPr>
              <a:t> — la préservation des quantités numériques et des emprunts techniques français — jugé par un locuteur natif contre l'audio, parce que c'est exactement ce que le journal consomme. La limite est assumée : le classement est rigoureux mais non reproductible par un tiers sans le même locuteur.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4 — BANC D'ESSAI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Résultats — moteurs accessibles par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74519"/>
          <a:ext cx="10637213" cy="1554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68078"/>
                <a:gridCol w="1074466"/>
                <a:gridCol w="1074466"/>
                <a:gridCol w="1611699"/>
                <a:gridCol w="1504252"/>
                <a:gridCol w="15042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Moteur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Clips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Erreurs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Latence moy.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Confiance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Caractères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Groq (Whisper large-v3)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1,53 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0,483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Gemini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16,94 s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non exposée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20 651 *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Hugging Face (affinage darija)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75656"/>
                          </a:solidFill>
                          <a:latin typeface="Arial"/>
                        </a:rPr>
                        <a:t>jeton absent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547872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Tableau 4.2 — Comparaison des moteurs par API (7 août 2026). * chiffre faussé par une boucle de répétition du modèle.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913632"/>
            <a:ext cx="10637215" cy="1783080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913632"/>
            <a:ext cx="45720" cy="1783080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096512"/>
            <a:ext cx="1001542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 i="0">
                <a:solidFill>
                  <a:srgbClr val="1C1F23"/>
                </a:solidFill>
                <a:latin typeface="Arial"/>
              </a:rPr>
              <a:t>Le constat majeur : le moteur le plus rapide déforme les quantités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4480560"/>
            <a:ext cx="1001542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 i="0">
                <a:solidFill>
                  <a:srgbClr val="575656"/>
                </a:solidFill>
                <a:latin typeface="Arial"/>
              </a:rPr>
              <a:t>Sur un même clip — Gemini : </a:t>
            </a:r>
            <a:r>
              <a:rPr sz="1300" b="1" i="0">
                <a:solidFill>
                  <a:srgbClr val="1C1F23"/>
                </a:solidFill>
                <a:latin typeface="Arial"/>
              </a:rPr>
              <a:t>‎40 كابل‎ · ‎12 پانُو‎ · 3ème étage</a:t>
            </a:r>
            <a:r>
              <a:rPr sz="1300" b="0" i="0">
                <a:solidFill>
                  <a:srgbClr val="575656"/>
                </a:solidFill>
                <a:latin typeface="Arial"/>
              </a:rPr>
              <a:t>   contre Groq : </a:t>
            </a:r>
            <a:r>
              <a:rPr sz="1300" b="1" i="0">
                <a:solidFill>
                  <a:srgbClr val="C0392B"/>
                </a:solidFill>
                <a:latin typeface="Arial"/>
              </a:rPr>
              <a:t>mniya dyal panno, Pouzina ssimetro, 3O mietage</a:t>
            </a:r>
          </a:p>
          <a:p>
            <a:pPr>
              <a:lnSpc>
                <a:spcPct val="125000"/>
              </a:lnSpc>
            </a:pPr>
            <a:r>
              <a:rPr sz="1300" b="0" i="0">
                <a:solidFill>
                  <a:srgbClr val="575656"/>
                </a:solidFill>
                <a:latin typeface="Arial"/>
              </a:rPr>
              <a:t>Le schéma métier est intégralement composé de quantités et de localisations. Un moteur qui fusionne un chiffre dans le mot suivant ne donne rien à extraire — et le système conclut alors « aucune donnée » sur un rapport qui en contenait.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4 — BANC D'ESSAI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Résultats locaux : la confiance du modèle est un leurre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799"/>
          <a:ext cx="10637214" cy="24917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92978"/>
                <a:gridCol w="1411059"/>
                <a:gridCol w="1411059"/>
                <a:gridCol w="1519602"/>
                <a:gridCol w="1302516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Modèle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Latence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Confiance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Caractères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Chiffres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boumehdi/wav2vec2-moroccan-darija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0,7 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0,916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amineouaki/xlsr-53-darija-combined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6,3 s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0,884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amineouaki/wav2vec2-darija-combined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4,0 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0,853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ychafiqui/whisper-medium-darija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3,7 s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0,843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1F23"/>
                          </a:solidFill>
                          <a:latin typeface="Arial"/>
                        </a:rPr>
                        <a:t>BounharAbdelaziz/Morocco-Darija-STT-large</a:t>
                      </a:r>
                    </a:p>
                  </a:txBody>
                  <a:tcPr marL="91440" marR="91440" marT="27432" marB="27432" anchor="ctr">
                    <a:solidFill>
                      <a:srgbClr val="E8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C1F23"/>
                          </a:solidFill>
                          <a:latin typeface="Arial"/>
                        </a:rPr>
                        <a:t>7,7 s</a:t>
                      </a:r>
                    </a:p>
                  </a:txBody>
                  <a:tcPr marL="91440" marR="91440" marT="27432" marB="27432" anchor="ctr">
                    <a:solidFill>
                      <a:srgbClr val="E8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C1F23"/>
                          </a:solidFill>
                          <a:latin typeface="Arial"/>
                        </a:rPr>
                        <a:t>0,791</a:t>
                      </a:r>
                    </a:p>
                  </a:txBody>
                  <a:tcPr marL="91440" marR="91440" marT="27432" marB="27432" anchor="ctr">
                    <a:solidFill>
                      <a:srgbClr val="E8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C1F23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91440" marR="91440" marT="27432" marB="27432" anchor="ctr">
                    <a:solidFill>
                      <a:srgbClr val="E8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C1F23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91440" marR="91440" marT="27432" marB="27432" anchor="ctr">
                    <a:solidFill>
                      <a:srgbClr val="E8F3FD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openai/whisper-large-v3  (contrôle)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5,7 s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0,582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C-Ilyas/whisper-base-darija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5,0 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0,548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31596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Tableau 4.3 — Extrait de la campagne locale (12 moteurs, 11 clips, RTX 3070). Tri par confiance décroissante.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700016"/>
            <a:ext cx="10637215" cy="1298448"/>
          </a:xfrm>
          <a:prstGeom prst="rect">
            <a:avLst/>
          </a:prstGeom>
          <a:solidFill>
            <a:srgbClr val="1C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4919472"/>
            <a:ext cx="1001542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Le tableau est trié par confiance précisément pour montrer qu'il ne faut pas s'y fier. </a:t>
            </a:r>
            <a:r>
              <a:rPr sz="1350" b="0" i="0">
                <a:solidFill>
                  <a:srgbClr val="C9C9C9"/>
                </a:solidFill>
                <a:latin typeface="Arial"/>
              </a:rPr>
              <a:t>boumehdi domine la colonne à 0,916 et perd purement et simplement le « 40 » ; le meilleur moteur n'arrive qu'en cinquième position. exp(mean logprob) mesure la certitude du décodeur, jamais son exactitude — et la colonne « chiffres » est elle-même un leurre, les affinages écrivant les nombres en toutes lettres arabes (‎ربعين‎ pour 40), forme que la chaîne d'extraction lit sans difficulté.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4 — BANC D'ESSAI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Le moteur retenu, et le coût assumé de ce choix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9655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C1F23"/>
                </a:solidFill>
                <a:latin typeface="Arial"/>
              </a:rPr>
              <a:t>Clip de référence : </a:t>
            </a:r>
            <a:r>
              <a:rPr sz="1300" b="0" i="1">
                <a:solidFill>
                  <a:srgbClr val="575656"/>
                </a:solidFill>
                <a:latin typeface="Arial"/>
              </a:rPr>
              <a:t>« hier 20/07/2026, arrivés à Essaouira à 1 h, vérifié le chemin de 27 câbles, pris le métrage, coupés, vérifié le chemin de la fibre, sortis à 7 h 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04288"/>
          <a:ext cx="10637214" cy="16824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34404"/>
                <a:gridCol w="3301204"/>
                <a:gridCol w="440160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Modèle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Transcription obtenue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Conséquence sur les champs métier</a:t>
                      </a:r>
                    </a:p>
                  </a:txBody>
                  <a:tcPr marL="91440" marR="91440" marT="27432" marB="27432" anchor="ctr">
                    <a:solidFill>
                      <a:srgbClr val="1C1F2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C1F23"/>
                          </a:solidFill>
                          <a:latin typeface="Arial"/>
                        </a:rPr>
                        <a:t>Morocco-Darija-STT-large</a:t>
                      </a:r>
                    </a:p>
                  </a:txBody>
                  <a:tcPr marL="91440" marR="91440" marT="27432" marB="27432" anchor="ctr">
                    <a:solidFill>
                      <a:srgbClr val="E8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C1F23"/>
                          </a:solidFill>
                          <a:latin typeface="Arial"/>
                        </a:rPr>
                        <a:t>‎27‎ كابل    فيريفينا    لافيبر</a:t>
                      </a:r>
                    </a:p>
                  </a:txBody>
                  <a:tcPr marL="91440" marR="91440" marT="27432" marB="27432" anchor="ctr">
                    <a:solidFill>
                      <a:srgbClr val="E8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C1F23"/>
                          </a:solidFill>
                          <a:latin typeface="Arial"/>
                        </a:rPr>
                        <a:t>Tous les champs survivent : quantité, verbe technique, matériel</a:t>
                      </a:r>
                    </a:p>
                  </a:txBody>
                  <a:tcPr marL="91440" marR="91440" marT="27432" marB="27432" anchor="ctr">
                    <a:solidFill>
                      <a:srgbClr val="E8F3F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whisper-large-v3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فرحنا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« vérifier » devient « nous nous sommes réjouis »</a:t>
                      </a:r>
                    </a:p>
                  </a:txBody>
                  <a:tcPr marL="91440" marR="91440" marT="27432" marB="27432" anchor="ctr">
                    <a:solidFill>
                      <a:srgbClr val="F4F5F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ychafiqui/medium-darija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السبعة وعشر وعشر الين كابل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75656"/>
                          </a:solidFill>
                          <a:latin typeface="Arial"/>
                        </a:rPr>
                        <a:t>« 27 câbles » : la quantité est détruite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04164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Tableau 4.4 — Comportement comparé sur les champs métier.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07408"/>
            <a:ext cx="5135727" cy="157276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407408"/>
            <a:ext cx="5135727" cy="45720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4645152"/>
            <a:ext cx="46602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C1F23"/>
                </a:solidFill>
                <a:latin typeface="Arial"/>
              </a:rPr>
              <a:t>Ce qui est gagné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575656"/>
                </a:solidFill>
                <a:latin typeface="Arial"/>
              </a:rPr>
              <a:t>Seul moteur à préserver simultanément les quantités numériques et les emprunts techniques français. Conserve aussi les noms propres du domaine — Novec, Essaouira, Kenitra — sur l'ensemble des clips. Licence Apache 2.0.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4407408"/>
            <a:ext cx="5135727" cy="157276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4407408"/>
            <a:ext cx="5135727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6471" y="4645152"/>
            <a:ext cx="46602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1C1F23"/>
                </a:solidFill>
                <a:latin typeface="Arial"/>
              </a:rPr>
              <a:t>Ce qui est payé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575656"/>
                </a:solidFill>
                <a:latin typeface="Arial"/>
              </a:rPr>
              <a:t>7,7 s de latence moyenne, le plus lent des douze, contre 1,53 s pour l'API de Groq. Environ 4 Go de mémoire graphique. Cinq fois l'attente contre la meilleure exactitude : c'est la décision centrale du banc d'essai.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5 — RÉALISATION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Périmètre livré et en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56231"/>
            <a:ext cx="5090007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Réception Telegram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Réception WhatsApp Cloud API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Transcription — 3 moteurs, chaîne de repli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Extraction structurée — 4 chaînes de repli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Entrée par photo — modèle de vision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Journal de chantier par site — fusion, stock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Miroir plat pour le tableau de 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856231"/>
            <a:ext cx="5090007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Observabilité PostgreSQL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Tableau de bord trilingue FR / EN / AR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Organigramme, comptes, chantiers, bordereau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Ordonnanceur — 6 tâches, page Automatisation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Rapports quotidien et hebdomadaire par e-mail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Commandes /rapport, /modifier, /supprimer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B8E36"/>
                </a:solidFill>
                <a:latin typeface="Arial"/>
              </a:rPr>
              <a:t>✓  </a:t>
            </a:r>
            <a:r>
              <a:rPr sz="1350" b="0" i="0">
                <a:solidFill>
                  <a:srgbClr val="1C1F23"/>
                </a:solidFill>
                <a:latin typeface="Arial"/>
              </a:rPr>
              <a:t>Moteur local sur GPU, conteneurisé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626864"/>
            <a:ext cx="10637215" cy="1298448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626864"/>
            <a:ext cx="45720" cy="12984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828031"/>
            <a:ext cx="1001542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350" b="1" i="0">
                <a:solidFill>
                  <a:srgbClr val="1C1F23"/>
                </a:solidFill>
                <a:latin typeface="Arial"/>
              </a:rPr>
              <a:t>Dès la semaine 0</a:t>
            </a:r>
            <a:r>
              <a:rPr sz="1350" b="0" i="0">
                <a:solidFill>
                  <a:srgbClr val="575656"/>
                </a:solidFill>
                <a:latin typeface="Arial"/>
              </a:rPr>
              <a:t> — le planning la prévoyait au sprint 2 — la chaîne complète a été validée en conditions réelles : note vocale, détection, téléchargement, transcription, extraction, résumé français, réponse de confirmation. Le risque d'intégration majeur du projet a été neutralisé immédiatement. Lors de ces essais, </a:t>
            </a:r>
            <a:r>
              <a:rPr sz="1350" b="1" i="0">
                <a:solidFill>
                  <a:srgbClr val="1C1F23"/>
                </a:solidFill>
                <a:latin typeface="Arial"/>
              </a:rPr>
              <a:t>le repli d'extraction s'est déclenché seul</a:t>
            </a:r>
            <a:r>
              <a:rPr sz="1350" b="0" i="0">
                <a:solidFill>
                  <a:srgbClr val="575656"/>
                </a:solidFill>
                <a:latin typeface="Arial"/>
              </a:rPr>
              <a:t> sur indisponibilité du fournisseur principal, validant la conception sans intervention.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5 — RÉALISATION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Le tableau de bord : consulter, corriger, administrer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018" y="1760220"/>
            <a:ext cx="6687516" cy="3803904"/>
          </a:xfrm>
          <a:prstGeom prst="rect">
            <a:avLst/>
          </a:prstGeom>
          <a:solidFill>
            <a:srgbClr val="FFFFFF"/>
          </a:solidFill>
          <a:ln w="11430">
            <a:solidFill>
              <a:srgbClr val="DF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en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10" y="1810512"/>
            <a:ext cx="6586932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91429" y="1883664"/>
            <a:ext cx="372302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Trilingue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00" b="0" i="0">
                <a:solidFill>
                  <a:srgbClr val="575656"/>
                </a:solidFill>
                <a:latin typeface="Arial"/>
              </a:rPr>
              <a:t>Français, anglais, arabe. L'arabe impose le sens droite-à-gauche sur toute l'interface.</a:t>
            </a: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Sans dépendance d'UI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00" b="0" i="0">
                <a:solidFill>
                  <a:srgbClr val="575656"/>
                </a:solidFill>
                <a:latin typeface="Arial"/>
              </a:rPr>
              <a:t>React 19 et Tailwind v4, graphiques en SVG écrits à la main, aucune bibliothèque de composants.</a:t>
            </a: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Huit écrans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00" b="0" i="0">
                <a:solidFill>
                  <a:srgbClr val="575656"/>
                </a:solidFill>
                <a:latin typeface="Arial"/>
              </a:rPr>
              <a:t>Vue d'ensemble, boîte de réception, rapports, quotidien, hebdomadaire, automatisation, journaux, équipe.</a:t>
            </a: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0278E4"/>
                </a:solidFill>
                <a:latin typeface="Arial"/>
              </a:rPr>
              <a:t>Organigramme éditable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00" b="0" i="0">
                <a:solidFill>
                  <a:srgbClr val="575656"/>
                </a:solidFill>
                <a:latin typeface="Arial"/>
              </a:rPr>
              <a:t>Le rattachement d'un technicien à un chef détermine le chantier de ses rapports.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32704"/>
            <a:ext cx="659507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Arial"/>
              </a:rPr>
              <a:t>Figure 5.1 — Vue d'ensemble, thème sombre, connectée à la pile complète.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5 —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La chaîne d'intégration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28799"/>
            <a:ext cx="2508427" cy="1353312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799"/>
            <a:ext cx="2508427" cy="411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1426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C1F23"/>
                </a:solidFill>
                <a:latin typeface="Arial"/>
              </a:rP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24911"/>
            <a:ext cx="214266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75656"/>
                </a:solidFill>
                <a:latin typeface="Arial"/>
              </a:rPr>
              <a:t>commits en 29 jours
(15 juil. – 12 août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6835" y="1828799"/>
            <a:ext cx="2508427" cy="1353312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6835" y="1828799"/>
            <a:ext cx="2508427" cy="411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9715" y="2103120"/>
            <a:ext cx="21426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C1F23"/>
                </a:solidFill>
                <a:latin typeface="Arial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9715" y="2724911"/>
            <a:ext cx="214266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75656"/>
                </a:solidFill>
                <a:latin typeface="Arial"/>
              </a:rPr>
              <a:t>contrôles automatiques
à chaque push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828799"/>
            <a:ext cx="2508427" cy="1353312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1828799"/>
            <a:ext cx="2508427" cy="411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9311" y="2103120"/>
            <a:ext cx="21426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C1F23"/>
                </a:solidFill>
                <a:latin typeface="Arial"/>
              </a:rPr>
              <a:t>272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1" y="2724911"/>
            <a:ext cx="214266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75656"/>
                </a:solidFill>
                <a:latin typeface="Arial"/>
              </a:rPr>
              <a:t>tests, sans aucune
clé d'API ni 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027" y="1828799"/>
            <a:ext cx="2508427" cy="1353312"/>
          </a:xfrm>
          <a:prstGeom prst="rect">
            <a:avLst/>
          </a:prstGeom>
          <a:solidFill>
            <a:srgbClr val="F4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027" y="1828799"/>
            <a:ext cx="2508427" cy="41148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8907" y="2103120"/>
            <a:ext cx="21426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C1F23"/>
                </a:solidFill>
                <a:latin typeface="Arial"/>
              </a:rP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8907" y="2724911"/>
            <a:ext cx="2142667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75656"/>
                </a:solidFill>
                <a:latin typeface="Arial"/>
              </a:rPr>
              <a:t>demandes Dependabot
sur 5 écosystèmes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 i="0">
                <a:solidFill>
                  <a:srgbClr val="0278E4"/>
                </a:solidFill>
                <a:latin typeface="Arial"/>
              </a:rPr>
              <a:t>Les 17 contrôles, par famille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730752"/>
            <a:ext cx="32004" cy="402336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7353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C1F23"/>
                </a:solidFill>
                <a:latin typeface="Arial"/>
              </a:rPr>
              <a:t>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49039"/>
            <a:ext cx="80311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575656"/>
                </a:solidFill>
                <a:latin typeface="Arial"/>
              </a:rPr>
              <a:t>API — ruff, types, 272 tests  ·  Dashboard — tsc, oxlint, build  ·  workflow n8n  ·  Docker compose  ·  parité des locales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187952"/>
            <a:ext cx="32004" cy="402336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1925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C1F23"/>
                </a:solidFill>
                <a:latin typeface="Arial"/>
              </a:rPr>
              <a:t>Sécurité du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206240"/>
            <a:ext cx="80311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575656"/>
                </a:solidFill>
                <a:latin typeface="Arial"/>
              </a:rPr>
              <a:t>CodeQL (python)  ·  CodeQL (javascript-typescript)  ·  Semgrep OWASP Top 10  ·  Bandit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45152"/>
            <a:ext cx="32004" cy="40233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497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C1F23"/>
                </a:solidFill>
                <a:latin typeface="Arial"/>
              </a:rPr>
              <a:t>Dépendances et secrets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663440"/>
            <a:ext cx="80311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575656"/>
                </a:solidFill>
                <a:latin typeface="Arial"/>
              </a:rPr>
              <a:t>Trivy filesystem  ·  Trivy config  ·  pip-audit  ·  npm audit  ·  gitleaks + check_secrets.py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102352"/>
            <a:ext cx="32004" cy="402336"/>
          </a:xfrm>
          <a:prstGeom prst="rect">
            <a:avLst/>
          </a:prstGeom>
          <a:solidFill>
            <a:srgbClr val="57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1069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C1F23"/>
                </a:solidFill>
                <a:latin typeface="Arial"/>
              </a:rPr>
              <a:t>Conformité des fichiers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120640"/>
            <a:ext cx="80311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575656"/>
                </a:solidFill>
                <a:latin typeface="Arial"/>
              </a:rPr>
              <a:t>Hadolint (api)  ·  Hadolint (Dashboard)  ·  actionlint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632704"/>
            <a:ext cx="32004" cy="530352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5" y="5660136"/>
            <a:ext cx="10417759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0" i="0">
                <a:solidFill>
                  <a:srgbClr val="1C1F23"/>
                </a:solidFill>
                <a:latin typeface="Arial"/>
              </a:rPr>
              <a:t>Dependabot ouvre ses demandes quotidiennement sur npm, pip, les deux images Docker et les actions GitHub — chacune franchit les 17 contrôles avant d'être fusionnée.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4FA9F5"/>
                </a:solidFill>
                <a:latin typeface="Arial"/>
              </a:rPr>
              <a:t>6 —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Arial"/>
              </a:rPr>
              <a:t>La chaîne complète, en 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4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79"/>
            <a:ext cx="106372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700"/>
              </a:spcAft>
            </a:pPr>
            <a:r>
              <a:rPr sz="1650" b="1" i="0">
                <a:solidFill>
                  <a:srgbClr val="4FA9F5"/>
                </a:solidFill>
                <a:latin typeface="Arial"/>
              </a:rPr>
              <a:t>▪  </a:t>
            </a:r>
            <a:r>
              <a:rPr sz="1650" b="1" i="0">
                <a:solidFill>
                  <a:srgbClr val="FFFFFF"/>
                </a:solidFill>
                <a:latin typeface="Arial"/>
              </a:rPr>
              <a:t>Une note vocale en darija </a:t>
            </a:r>
            <a:r>
              <a:rPr sz="1650" b="0" i="0">
                <a:solidFill>
                  <a:srgbClr val="D8D8D8"/>
                </a:solidFill>
                <a:latin typeface="Arial"/>
              </a:rPr>
              <a:t>est envoyée depuis Telegram.</a:t>
            </a:r>
          </a:p>
          <a:p>
            <a:pPr>
              <a:lnSpc>
                <a:spcPct val="122000"/>
              </a:lnSpc>
              <a:spcAft>
                <a:spcPts val="1700"/>
              </a:spcAft>
            </a:pPr>
            <a:r>
              <a:rPr sz="1650" b="1" i="0">
                <a:solidFill>
                  <a:srgbClr val="4FA9F5"/>
                </a:solidFill>
                <a:latin typeface="Arial"/>
              </a:rPr>
              <a:t>▪  </a:t>
            </a:r>
            <a:r>
              <a:rPr sz="1650" b="1" i="0">
                <a:solidFill>
                  <a:srgbClr val="FFFFFF"/>
                </a:solidFill>
                <a:latin typeface="Arial"/>
              </a:rPr>
              <a:t>Le bot répond </a:t>
            </a:r>
            <a:r>
              <a:rPr sz="1650" b="0" i="0">
                <a:solidFill>
                  <a:srgbClr val="D8D8D8"/>
                </a:solidFill>
                <a:latin typeface="Arial"/>
              </a:rPr>
              <a:t>avec le résumé en français professionnel et les quantités extraites.</a:t>
            </a:r>
          </a:p>
          <a:p>
            <a:pPr>
              <a:lnSpc>
                <a:spcPct val="122000"/>
              </a:lnSpc>
              <a:spcAft>
                <a:spcPts val="1700"/>
              </a:spcAft>
            </a:pPr>
            <a:r>
              <a:rPr sz="1650" b="1" i="0">
                <a:solidFill>
                  <a:srgbClr val="4FA9F5"/>
                </a:solidFill>
                <a:latin typeface="Arial"/>
              </a:rPr>
              <a:t>▪  </a:t>
            </a:r>
            <a:r>
              <a:rPr sz="1650" b="1" i="0">
                <a:solidFill>
                  <a:srgbClr val="FFFFFF"/>
                </a:solidFill>
                <a:latin typeface="Arial"/>
              </a:rPr>
              <a:t>La ligne apparaît </a:t>
            </a:r>
            <a:r>
              <a:rPr sz="1650" b="0" i="0">
                <a:solidFill>
                  <a:srgbClr val="D8D8D8"/>
                </a:solidFill>
                <a:latin typeface="Arial"/>
              </a:rPr>
              <a:t>dans l'onglet du chantier, fusionnée s'il en existe déjà une pour la journée.</a:t>
            </a:r>
          </a:p>
          <a:p>
            <a:pPr>
              <a:lnSpc>
                <a:spcPct val="122000"/>
              </a:lnSpc>
              <a:spcAft>
                <a:spcPts val="1700"/>
              </a:spcAft>
            </a:pPr>
            <a:r>
              <a:rPr sz="1650" b="1" i="0">
                <a:solidFill>
                  <a:srgbClr val="4FA9F5"/>
                </a:solidFill>
                <a:latin typeface="Arial"/>
              </a:rPr>
              <a:t>▪  </a:t>
            </a:r>
            <a:r>
              <a:rPr sz="1650" b="1" i="0">
                <a:solidFill>
                  <a:srgbClr val="FFFFFF"/>
                </a:solidFill>
                <a:latin typeface="Arial"/>
              </a:rPr>
              <a:t>Le tableau de bord </a:t>
            </a:r>
            <a:r>
              <a:rPr sz="1650" b="0" i="0">
                <a:solidFill>
                  <a:srgbClr val="D8D8D8"/>
                </a:solidFill>
                <a:latin typeface="Arial"/>
              </a:rPr>
              <a:t>affiche le rapport, ses avertissements de qualité et la trace de traitement.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193792"/>
            <a:ext cx="10637215" cy="786384"/>
          </a:xfrm>
          <a:prstGeom prst="rect">
            <a:avLst/>
          </a:prstGeom>
          <a:solidFill>
            <a:srgbClr val="2A2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5358384"/>
            <a:ext cx="10015423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Si le réseau ou un palier gratuit fait défaut : </a:t>
            </a:r>
            <a:r>
              <a:rPr sz="1250" b="0" i="0">
                <a:solidFill>
                  <a:srgbClr val="B4B4B4"/>
                </a:solidFill>
                <a:latin typeface="Arial"/>
              </a:rPr>
              <a:t>les captures de secours suivent la dernière diapositive et couvrent le même parcours, écran par écran.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9A9A9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9A9A9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6 — 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Contributions et limites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799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B8E36"/>
                </a:solidFill>
                <a:latin typeface="Arial"/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67127"/>
            <a:ext cx="5090007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50" b="1" i="0">
                <a:solidFill>
                  <a:srgbClr val="0B8E36"/>
                </a:solidFill>
                <a:latin typeface="Arial"/>
              </a:rPr>
              <a:t>▪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Une architecture hybride dont la frontière a été fixée par une contrainte fonctionnelle identifiée en cours de projet, non par préférence.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50" b="1" i="0">
                <a:solidFill>
                  <a:srgbClr val="0B8E36"/>
                </a:solidFill>
                <a:latin typeface="Arial"/>
              </a:rPr>
              <a:t>▪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Un banc d'essai de treize moteurs de transcription du darija, avec une critique argumentée du WER et une métrique applicative de substitution.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50" b="1" i="0">
                <a:solidFill>
                  <a:srgbClr val="0B8E36"/>
                </a:solidFill>
                <a:latin typeface="Arial"/>
              </a:rPr>
              <a:t>▪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Un service d'extraction à sortie contrainte, quatre chaînes de repli alternant les fournisseurs, et une politique stricte d'absence de données inventées.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50" b="1" i="0">
                <a:solidFill>
                  <a:srgbClr val="0B8E36"/>
                </a:solidFill>
                <a:latin typeface="Arial"/>
              </a:rPr>
              <a:t>▪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Un modèle métier reconstruit sur le fichier réel du client, avec accumulation intra-journalière et réconciliation de stock.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50" b="1" i="0">
                <a:solidFill>
                  <a:srgbClr val="0B8E36"/>
                </a:solidFill>
                <a:latin typeface="Arial"/>
              </a:rPr>
              <a:t>▪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Une conception indépendante du canal, démontrée par la mise en service de deux messageries aux contraintes opposées.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1828799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Arial"/>
              </a:rPr>
              <a:t>Limites énoncées sans détour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2167127"/>
            <a:ext cx="5090007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Le WER et le CER n'ont pas été calculés. Le choix d'une métrique applicative est argumenté, mais il prive la comparaison d'un chiffre universellement reconnu : le classement repose sur un jugement humain, rigoureux mais non reproductible sans le même locuteur.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La suite de tests ne parcourt jamais le réseau réel. Elle sécurise les régressions de logique, non les ruptures de contrat des fournisseurs — qui ont été la source de la majorité des défauts rencontrés.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250" b="0" i="0">
                <a:solidFill>
                  <a:srgbClr val="575656"/>
                </a:solidFill>
                <a:latin typeface="Arial"/>
              </a:rPr>
              <a:t>Le déploiement pilote auprès des techniciens constitue l'étape suivante ; les chiffres d'usage réel ne sont donc pas encore établis.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278E4"/>
                </a:solidFill>
                <a:latin typeface="Arial"/>
              </a:rPr>
              <a:t>6 —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Ce que ce travail ouvre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7215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45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50" b="1" i="0">
                <a:solidFill>
                  <a:srgbClr val="1C1F23"/>
                </a:solidFill>
                <a:latin typeface="Arial"/>
              </a:rPr>
              <a:t>Constituer la vérité terrain qui manque, </a:t>
            </a:r>
            <a:r>
              <a:rPr sz="1450" b="0" i="0">
                <a:solidFill>
                  <a:srgbClr val="575656"/>
                </a:solidFill>
                <a:latin typeface="Arial"/>
              </a:rPr>
              <a:t>à partir des rapports réels accumulés, afin de publier un WER et un CER et de rendre le classement reproductible.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45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50" b="1" i="0">
                <a:solidFill>
                  <a:srgbClr val="1C1F23"/>
                </a:solidFill>
                <a:latin typeface="Arial"/>
              </a:rPr>
              <a:t>Affiner un modèle de transcription </a:t>
            </a:r>
            <a:r>
              <a:rPr sz="1450" b="0" i="0">
                <a:solidFill>
                  <a:srgbClr val="575656"/>
                </a:solidFill>
                <a:latin typeface="Arial"/>
              </a:rPr>
              <a:t>sur ce corpus darija propre au câblage — l'apport de l'affinage étant désormais démontré pour un modèle assez grand.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45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50" b="1" i="0">
                <a:solidFill>
                  <a:srgbClr val="1C1F23"/>
                </a:solidFill>
                <a:latin typeface="Arial"/>
              </a:rPr>
              <a:t>Remplacer Google Sheets par une base de données </a:t>
            </a:r>
            <a:r>
              <a:rPr sz="1450" b="0" i="0">
                <a:solidFill>
                  <a:srgbClr val="575656"/>
                </a:solidFill>
                <a:latin typeface="Arial"/>
              </a:rPr>
              <a:t>lorsque la volumétrie le justifiera : l'infrastructure PostgreSQL est déjà en place.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450" b="1" i="0">
                <a:solidFill>
                  <a:srgbClr val="0278E4"/>
                </a:solidFill>
                <a:latin typeface="Arial"/>
              </a:rPr>
              <a:t>▪  </a:t>
            </a:r>
            <a:r>
              <a:rPr sz="1450" b="1" i="0">
                <a:solidFill>
                  <a:srgbClr val="1C1F23"/>
                </a:solidFill>
                <a:latin typeface="Arial"/>
              </a:rPr>
              <a:t>Étendre le tableau de bord vers l'analytique de chantier </a:t>
            </a:r>
            <a:r>
              <a:rPr sz="1450" b="0" i="0">
                <a:solidFill>
                  <a:srgbClr val="575656"/>
                </a:solidFill>
                <a:latin typeface="Arial"/>
              </a:rPr>
              <a:t>— avancement par site, consommation de matériel, alertes de stock ; le bordereau en fournit la 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15968"/>
            <a:ext cx="10637215" cy="1536192"/>
          </a:xfrm>
          <a:prstGeom prst="rect">
            <a:avLst/>
          </a:prstGeom>
          <a:solidFill>
            <a:srgbClr val="1C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4572000"/>
            <a:ext cx="994227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450" b="0" i="0">
                <a:solidFill>
                  <a:srgbClr val="DDDDDD"/>
                </a:solidFill>
                <a:latin typeface="Arial"/>
              </a:rPr>
              <a:t>Dans les applications des grands modèles de langage, la valeur ne réside pas dans le choix des modèles, mais dans l'architecture qui les entoure : </a:t>
            </a:r>
            <a:r>
              <a:rPr sz="1450" b="1" i="0">
                <a:solidFill>
                  <a:srgbClr val="FFFFFF"/>
                </a:solidFill>
                <a:latin typeface="Arial"/>
              </a:rPr>
              <a:t>contrats de données stricts, chaînes de repli explicites, refus des échecs silencieux, et bancs d'essai assez sceptiques pour se surprendre eux-mêmes.</a:t>
            </a:r>
          </a:p>
          <a:p>
            <a:pPr>
              <a:lnSpc>
                <a:spcPct val="120000"/>
              </a:lnSpc>
            </a:pPr>
            <a:r>
              <a:rPr sz="1250" b="0" i="0">
                <a:solidFill>
                  <a:srgbClr val="A8A8A8"/>
                </a:solidFill>
                <a:latin typeface="Arial"/>
              </a:rPr>
              <a:t>Ce banc d'essai a renversé son hypothèse de départ deux fois, et démasqué un bogue qui lui faisait couronner un vainqueur sur une transcription jamais générée.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2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C1F23"/>
                </a:solidFill>
                <a:latin typeface="Arial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118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0278E4"/>
                </a:solidFill>
                <a:latin typeface="Arial"/>
              </a:rPr>
              <a:t>Questions</a:t>
            </a:r>
          </a:p>
        </p:txBody>
      </p:sp>
      <p:pic>
        <p:nvPicPr>
          <p:cNvPr id="6" name="Picture 5" descr="logo-em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60720"/>
            <a:ext cx="2303035" cy="502920"/>
          </a:xfrm>
          <a:prstGeom prst="rect">
            <a:avLst/>
          </a:prstGeom>
        </p:spPr>
      </p:pic>
      <p:pic>
        <p:nvPicPr>
          <p:cNvPr id="7" name="Picture 6" descr="logo-az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5733288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8A8A8A"/>
                </a:solidFill>
                <a:latin typeface="Arial"/>
              </a:rPr>
              <a:t>ANNEXE — CAPTURE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Boîte de réception — les rapports arrivés, avec leurs avertissements de qualité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08128" y="1796796"/>
            <a:ext cx="7175437" cy="4078224"/>
          </a:xfrm>
          <a:prstGeom prst="rect">
            <a:avLst/>
          </a:prstGeom>
          <a:solidFill>
            <a:srgbClr val="FFFFFF"/>
          </a:solidFill>
          <a:ln w="11430">
            <a:solidFill>
              <a:srgbClr val="DF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en-inb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20" y="1847088"/>
            <a:ext cx="7074853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8A8A8A"/>
                </a:solidFill>
                <a:latin typeface="Arial"/>
              </a:rPr>
              <a:t>ANNEXE — CAPTURE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Rapports — consultation et correction ligne à ligne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08128" y="1796796"/>
            <a:ext cx="7175437" cy="4078224"/>
          </a:xfrm>
          <a:prstGeom prst="rect">
            <a:avLst/>
          </a:prstGeom>
          <a:solidFill>
            <a:srgbClr val="FFFFFF"/>
          </a:solidFill>
          <a:ln w="11430">
            <a:solidFill>
              <a:srgbClr val="DF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en-repo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20" y="1847088"/>
            <a:ext cx="7074853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8A8A8A"/>
                </a:solidFill>
                <a:latin typeface="Arial"/>
              </a:rPr>
              <a:t>ANNEXE — CAPTURE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Équipe — l'organigramme : directeur, chefs de chantier, techniciens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08128" y="1796796"/>
            <a:ext cx="7175437" cy="4078224"/>
          </a:xfrm>
          <a:prstGeom prst="rect">
            <a:avLst/>
          </a:prstGeom>
          <a:solidFill>
            <a:srgbClr val="FFFFFF"/>
          </a:solidFill>
          <a:ln w="11430">
            <a:solidFill>
              <a:srgbClr val="DF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en-equi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20" y="1847088"/>
            <a:ext cx="7074853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8A8A8A"/>
                </a:solidFill>
                <a:latin typeface="Arial"/>
              </a:rPr>
              <a:t>ANNEXE — CAPTURE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Automatisation — les six tâches planifiées et leurs dernières exécutions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08128" y="1796796"/>
            <a:ext cx="7175437" cy="4078224"/>
          </a:xfrm>
          <a:prstGeom prst="rect">
            <a:avLst/>
          </a:prstGeom>
          <a:solidFill>
            <a:srgbClr val="FFFFFF"/>
          </a:solidFill>
          <a:ln w="11430">
            <a:solidFill>
              <a:srgbClr val="DF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en-autom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20" y="1847088"/>
            <a:ext cx="7074853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8A8A8A"/>
                </a:solidFill>
                <a:latin typeface="Arial"/>
              </a:rPr>
              <a:t>ANNEXE — CAPTURE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Journaux — la trace de traitement, n8n et service réunis par correlation_id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08128" y="1796796"/>
            <a:ext cx="7175437" cy="4078224"/>
          </a:xfrm>
          <a:prstGeom prst="rect">
            <a:avLst/>
          </a:prstGeom>
          <a:solidFill>
            <a:srgbClr val="FFFFFF"/>
          </a:solidFill>
          <a:ln w="11430">
            <a:solidFill>
              <a:srgbClr val="DF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en-lo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20" y="1847088"/>
            <a:ext cx="7074853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8A8A8A"/>
                </a:solidFill>
                <a:latin typeface="Arial"/>
              </a:rPr>
              <a:t>ANNEXE — CAPTURE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C1F23"/>
                </a:solidFill>
                <a:latin typeface="Arial"/>
              </a:rPr>
              <a:t>Usage mobile — la même interface, consultée depuis un téléphone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7423" y="1796796"/>
            <a:ext cx="2436848" cy="4078224"/>
          </a:xfrm>
          <a:prstGeom prst="rect">
            <a:avLst/>
          </a:prstGeom>
          <a:solidFill>
            <a:srgbClr val="FFFFFF"/>
          </a:solidFill>
          <a:ln w="11430">
            <a:solidFill>
              <a:srgbClr val="DFE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mobile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715" y="1847088"/>
            <a:ext cx="2336264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327648"/>
            <a:ext cx="100885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8A8A"/>
                </a:solidFill>
                <a:latin typeface="Arial"/>
              </a:rPr>
              <a:t>AZnet — Automatisation des rapports journaliers de chantier par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2764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8A8A8A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
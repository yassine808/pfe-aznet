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3014882" cy="658368"/>
          </a:xfrm>
          <a:prstGeom prst="rect">
            <a:avLst/>
          </a:prstGeom>
        </p:spPr>
      </p:pic>
      <p:pic>
        <p:nvPicPr>
          <p:cNvPr id="5" name="Picture 4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23" y="539496"/>
            <a:ext cx="713232" cy="71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1627632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1" i="0">
                <a:solidFill>
                  <a:srgbClr val="575656"/>
                </a:solidFill>
                <a:latin typeface="Arial"/>
              </a:rPr>
              <a:t>ÉCOLE MAROCAINE DES SCIENCES DE L'INGÉNIEUR — RABAT</a:t>
            </a:r>
          </a:p>
          <a:p>
            <a:r>
              <a:rPr sz="1150" b="0" i="0">
                <a:solidFill>
                  <a:srgbClr val="8A8A8A"/>
                </a:solidFill>
                <a:latin typeface="Arial"/>
              </a:rPr>
              <a:t>Rapport de Projet de Fin d'Études — diplôme d'Ingénieur d'État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95728"/>
            <a:ext cx="1463040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70048"/>
            <a:ext cx="101800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3300" b="1" i="0">
                <a:solidFill>
                  <a:srgbClr val="1C1F23"/>
                </a:solidFill>
                <a:latin typeface="Arial"/>
              </a:rPr>
              <a:t>Automatisation des rapports journaliers
de chantier par intelligence artificielle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59936"/>
            <a:ext cx="101800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0278E4"/>
                </a:solidFill>
                <a:latin typeface="Arial"/>
              </a:rPr>
              <a:t>Transcription de notes vocales en darija et extraction structurée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5852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Réalisé par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Yassine [À COMPLÉTER — NOM]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académique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industriel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3975" y="484632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Entreprise d'accueil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AZNET — Casablanca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Soutenu le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Année universitaire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2025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SOMMAIRE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652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0744" y="1837943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Contexte et problématique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terrain, les trois verrous techniques, les besoins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42032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1975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0744" y="2551175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État de l'art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darija comme langue peu dotée, extraction par LLM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255263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3298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744" y="3264407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Conception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Architecture hybride, flux nominal, journal de chantier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968496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4622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3977639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Banc d'essai des moteurs de transcription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Treize moteurs, une hypothèse renversée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681728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75945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0744" y="4690872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Réalisation et qualité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Périmètre livré, tableau de bord, chaîne DevOps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394960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47268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0744" y="5404104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Démonstration, bilan et perspectives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" y="1874519"/>
            <a:ext cx="45720" cy="205740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920240"/>
            <a:ext cx="935705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2600" b="0" i="0">
                <a:solidFill>
                  <a:srgbClr val="D5D5D5"/>
                </a:solidFill>
                <a:latin typeface="Arial"/>
              </a:rPr>
              <a:t>“The first principle is that you must not fool yourself — </a:t>
            </a:r>
            <a:r>
              <a:rPr sz="2600" b="1" i="0">
                <a:solidFill>
                  <a:srgbClr val="FFFFFF"/>
                </a:solidFill>
                <a:latin typeface="Arial"/>
              </a:rPr>
              <a:t>and you are the easiest person to fool.</a:t>
            </a:r>
            <a:r>
              <a:rPr sz="2600" b="0" i="0">
                <a:solidFill>
                  <a:srgbClr val="D5D5D5"/>
                </a:solidFill>
                <a:latin typeface="Arial"/>
              </a:rPr>
              <a:t>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078224"/>
            <a:ext cx="93570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4FA9F5"/>
                </a:solidFill>
                <a:latin typeface="Arial"/>
              </a:rPr>
              <a:t>Richard P. Feynman</a:t>
            </a:r>
            <a:r>
              <a:rPr sz="1250" b="0" i="0">
                <a:solidFill>
                  <a:srgbClr val="7E7E7E"/>
                </a:solidFill>
                <a:latin typeface="Arial"/>
              </a:rPr>
              <a:t>   ·   Caltech, 1974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4590288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400" b="0" i="0">
                <a:solidFill>
                  <a:srgbClr val="B8B8B8"/>
                </a:solidFill>
                <a:latin typeface="Arial"/>
              </a:rPr>
              <a:t>Le banc d'essai de ce projet s'est trompé deux fois avant de trancher : </a:t>
            </a:r>
            <a:r>
              <a:rPr sz="1400" b="1" i="0">
                <a:solidFill>
                  <a:srgbClr val="E2E2E2"/>
                </a:solidFill>
                <a:latin typeface="Arial"/>
              </a:rPr>
              <a:t>un score de confiance qui couronnait un moteur ayant perdu le « 40 »</a:t>
            </a:r>
            <a:r>
              <a:rPr sz="1400" b="0" i="0">
                <a:solidFill>
                  <a:srgbClr val="B8B8B8"/>
                </a:solidFill>
                <a:latin typeface="Arial"/>
              </a:rPr>
              <a:t>, puis </a:t>
            </a:r>
            <a:r>
              <a:rPr sz="1400" b="1" i="0">
                <a:solidFill>
                  <a:srgbClr val="E2E2E2"/>
                </a:solidFill>
                <a:latin typeface="Arial"/>
              </a:rPr>
              <a:t>un bogue de harnais qui désignait un vainqueur sur une transcription jamais produite</a:t>
            </a:r>
            <a:r>
              <a:rPr sz="1400" b="0" i="0">
                <a:solidFill>
                  <a:srgbClr val="B8B8B8"/>
                </a:solidFill>
                <a:latin typeface="Arial"/>
              </a:rPr>
              <a:t>. La même exigence gouverne le système lui-même : aucune donnée inventée, aucun échec silencieux, et un écart de stock signalé plutôt que deviné.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9A9A9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9A9A9A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AZNET et la remontée d'information du terrain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métier.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Infrastructures réseau et câblage informatique : goulottes, tirage et raccordement cuivre et fibre, équipement de bureaux, de panneaux de brassage et de locaux techniques.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terrain.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équipes passent la journée sur les chantiers, loin de tout outil bureautique.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maillon faible.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comptes rendus remontent oralement, par messages dispersés ou sur papier — quand ils ne sont pas omis.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La langue de travail.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L'arabe marocain (darija), mêlé de vocabulaire technique français.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074920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5" y="5102352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Le directeur tient déjà un fichier de suivi. Le problème n'est pas l'absence d'outil, c'est le coût de la saisie pour celui qui détient l'information.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Trois verrous techniques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56231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700" b="0" i="0">
                <a:solidFill>
                  <a:srgbClr val="1C1F23"/>
                </a:solidFill>
                <a:latin typeface="Arial"/>
              </a:rPr>
              <a:t>Comment transformer automatiquement une note vocale spontanée en darija en un rapport journalier structuré, fiable et exploitable, </a:t>
            </a:r>
            <a:r>
              <a:rPr sz="1700" b="1" i="0">
                <a:solidFill>
                  <a:srgbClr val="0278E4"/>
                </a:solidFill>
                <a:latin typeface="Arial"/>
              </a:rPr>
              <a:t>en moins de deux minutes d'effort pour le technicien et sans budget logiciel</a:t>
            </a:r>
            <a:r>
              <a:rPr sz="1700" b="0" i="0">
                <a:solidFill>
                  <a:srgbClr val="1C1F23"/>
                </a:solidFill>
                <a:latin typeface="Arial"/>
              </a:rPr>
              <a:t> 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5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Transcription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5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Les moteurs de reconnaissance vocale sont entraînés sur l'arabe standard moderne. Le darija est une langue peu dotée, au code-switching arabe / français fréquent.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8322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8322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Structuration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 texte transcrit est du langage libre. Il faut en extraire des champs normalisés — quantités, localisations, observations — sans jamais inventer une donnée absente.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9404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39404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8860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860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Intégration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8860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La chaîne complète — messagerie, téléchargement, traitement IA, journal, notifications — doit fonctionner de bout en bout, de manière fiable et gratuite.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BESOINS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Ce que le cahier des charges exige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BF1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Saisie vocale en darija via une messagerie — aucune autre action demandée au technicien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BF2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Un second canal alimente le même traitement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BF3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Transcription automatique, darija et mélange arabe / français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BF4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Extraction des travaux réalisés et des quantités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BF5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Reformulation en français professionnel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BF6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Enregistrement dans le tableau de suivi Google Sheets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BF7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Notification du chef de chantier et du responsable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BF8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Confirmation au technicien que son rapport est traité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160520"/>
            <a:ext cx="10637215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160520"/>
            <a:ext cx="45720" cy="132588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79976"/>
            <a:ext cx="1005199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La contrainte structurante : budget zéro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4764024"/>
            <a:ext cx="1005199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0" i="0">
                <a:solidFill>
                  <a:srgbClr val="575656"/>
                </a:solidFill>
                <a:latin typeface="Arial"/>
              </a:rPr>
              <a:t>Aucune dépense logicielle autorisée. Toute la solution repose sur des paliers gratuits — Groq, Gemini AI Studio, Telegram Bot API, WhatsApp Cloud API, Google Sheets, Gmail SMTP — et sur du matériel déjà disponible. Cette contrainte n'est pas un détail d'intendance : elle dicte l'architecture, impose des chaînes de repli entre fournisseurs, et interdit la solution évidente à chaque étape.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Reconnaissance vocale de l'arabe dialectal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Une langue peu dotée.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Le darija n'a ni orthographe normalisée, ni corpus annoté de grande taille. Il emprunte massivement au français pour le vocabulaire technique — précisément celui que le rapport doit conserver.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Deux architectures concurrentes.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Whisper, transformeur encodeur-décodeur de bout en bout, entraîné en multitâche sur 680 000 h ; wav2vec2 pré-entraîné de manière auto-supervisée puis affiné par classification temporelle connexionniste (CTC).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Les affinages darija.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Plusieurs modèles publics existent sur Hugging Face, de quelques dizaines de millions à deux milliards de paramètres. Leur qualité réelle sur un usage métier n'est documentée nulle part.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828032"/>
            <a:ext cx="10637215" cy="117043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828032"/>
            <a:ext cx="45720" cy="117043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5029200"/>
            <a:ext cx="1005199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Les métriques standard.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WER et CER comparent la transcription à une vérité terrain, mot à mot ou caractère à caractère. Pour une langue sans orthographe normalisée, deux transcriptions également correctes divergent sur l'écriture — et le WER punit cette divergence exactement comme une erreur de sens. Ce constat commande la méthode du banc d'essai (section 4).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Extraction par LLM et plateformes d'orchestration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799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Extraction d'information structurée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12848"/>
            <a:ext cx="10637215" cy="3822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approches classiques — règles, expressions régulières, modèles de reconnaissance d'entités — supposent une langue régulière et un vocabulaire fermé : ni l'un ni l'autre ici.</a:t>
            </a:r>
          </a:p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LLM à sortie contrainte produisent directement un objet conforme à un schéma. Le risque se déplace : ce n'est plus l'échec de l'extraction, c'est l'invention plausible d'une valeur absente.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1012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Plateformes d'orchestration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3639312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578041"/>
                <a:gridCol w="2019724"/>
                <a:gridCol w="2019724"/>
                <a:gridCol w="2019724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Critère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n8n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Make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Zapier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Auto-hébergement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Coût à ce volume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Gratuit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Appels HTTP libres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Restreint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Contrôle des données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5468112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549554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n8n est retenu pour une raison unique et vérifiable : c'est le seul auto-hébergeable, donc le seul compatible avec la contrainte de budget zéro à volume non plafonné.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Architecture générale : une répartition par valeur ajoutée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29968"/>
            <a:ext cx="1732422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Terrain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Technicien
note vocale en darija,
photo ou texte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1102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03438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03438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31454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Réception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3166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Telegram Bot API
WhatsApp Cloud API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27300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29636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29636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57652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Orchestration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9364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n8n — 65 nœuds
réception, déduplication,
autorisation, réponses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053498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55834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55834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3850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Service applicatif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5562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FastAPI — 66 routes
STT, extraction, journal,
ordonnanceur, comptes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279696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82032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82032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10048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Persistance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91760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PostgreSQL — 11 tables
Google Sheets
un onglet par chantier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5256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Moteur local — sidecar GPU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Morocco-Darija-STT-large sur RTX 3070, chargé à la première demande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24447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24447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2463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Consultation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34175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Tableau de bord React FR / EN / AR  ·  rapports quotidien et hebdomadaire par e-mail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85232"/>
            <a:ext cx="32004" cy="47548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6695" y="531266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Ce qui est intégration reste dans n8n ; ce qui est décision passe dans le service. La frontière est fonctionnelle, et elle a bougé une fois en cours de projet.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La frontière entre orchestration et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506714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3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n8n — orchestration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3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Réception Telegram et WhatsApp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Vérification du webhook Meta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Déduplication des messages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Téléchargement des médias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Réponses au technicien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Journalisation d'étape</a:t>
            </a:r>
          </a:p>
        </p:txBody>
      </p:sp>
      <p:sp>
        <p:nvSpPr>
          <p:cNvPr id="9" name="Rectangle 8"/>
          <p:cNvSpPr/>
          <p:nvPr/>
        </p:nvSpPr>
        <p:spPr>
          <a:xfrm>
            <a:off x="6347307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47307" y="1874519"/>
            <a:ext cx="506714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5051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FastAPI — service métier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5051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Transcription et extraction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Reformulation en français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Tenue du journal de chantier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Ordonnancement des tâches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Authentification et comptes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Service du tableau de bord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828032"/>
            <a:ext cx="10637215" cy="1152144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5029200"/>
            <a:ext cx="10015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La règle retenue : </a:t>
            </a:r>
            <a:r>
              <a:rPr sz="1450" b="0" i="0">
                <a:solidFill>
                  <a:srgbClr val="DDDDDD"/>
                </a:solidFill>
                <a:latin typeface="Arial"/>
              </a:rPr>
              <a:t>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intégration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reste dans n8n ; 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décision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passe dans le service.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BBBBBB"/>
                </a:solidFill>
                <a:latin typeface="Arial"/>
              </a:rPr>
              <a:t>La frontière a bougé une fois, le 5 août : l'écriture Google Sheets a migré de n8n vers Python, car tenir le journal exige un lire-modifier-écrire qu'un nœud conditionnel ne sait pas exprimer.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Flux nominal : sept étapes, et un ordre qui n'est pas négociable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23544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Envoi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 technicien envoie une note vocale, une photo ou un texte sur Telegram ou WhatsApp.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86835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86835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33139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3139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35475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Réclamation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3139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réclame l'identifiant du message au service — WhatsApp re-livre un webhook non acquitté.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6431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2735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2735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5071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Identification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2735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L'expéditeur est retrouvé dans l'organigramme, son autorisation et son chantier vérifiés.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6027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06027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52331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331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54667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Traitement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331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POST /process : transcription, extraction contrainte, résumé français, avertissements.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3544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544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Réponse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répond au technicien avec son résumé.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90034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90034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36338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36338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8674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Journal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6338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Ensuite seulement : POST /journal fusionne la ligne dans l'onglet du chantier.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02828" y="3493008"/>
            <a:ext cx="3411626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02828" y="3493008"/>
            <a:ext cx="3411626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49132" y="3675888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49132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51468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Notification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49132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Les responsables sont notifiés.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047488"/>
            <a:ext cx="32004" cy="65836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695" y="5074920"/>
            <a:ext cx="1041775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L'ordre de 5 et 6 est un invariant, pas une préférence : une écriture Google Sheets qui échoue est garée dans une file de reprise et rejouée toutes les cinq minutes — elle ne coûte jamais au technicien son accusé de réception.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Le journal de chantier : deux règles qui le rendent juste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563772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Règle 1 — accumulation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08h12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120 m
étage RDC</a:t>
            </a:r>
          </a:p>
        </p:txBody>
      </p:sp>
      <p:sp>
        <p:nvSpPr>
          <p:cNvPr id="9" name="Rectangle 8"/>
          <p:cNvSpPr/>
          <p:nvPr/>
        </p:nvSpPr>
        <p:spPr>
          <a:xfrm>
            <a:off x="3724118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70422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17h40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70422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80 m
étage E1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477230" y="3182112"/>
            <a:ext cx="237744" cy="310896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602736"/>
            <a:ext cx="5637724" cy="932688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602736"/>
            <a:ext cx="5637724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749039"/>
            <a:ext cx="53451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0278E4"/>
                </a:solidFill>
                <a:latin typeface="Arial"/>
              </a:rPr>
              <a:t>Une seule ligne  —  12/08, technicien 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" y="4005072"/>
            <a:ext cx="53451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50" b="1" i="0">
                <a:solidFill>
                  <a:srgbClr val="1C1F23"/>
                </a:solidFill>
                <a:latin typeface="Arial"/>
              </a:rPr>
              <a:t>goulotte 200 m</a:t>
            </a:r>
            <a:r>
              <a:rPr sz="1250" b="0" i="0">
                <a:solidFill>
                  <a:srgbClr val="1C1F23"/>
                </a:solidFill>
                <a:latin typeface="Arial"/>
              </a:rPr>
              <a:t>   ·   étages RDC + E1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563772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Les nombres s'ajoutent, les localisations s'unissent, la prose s'ajoute. </a:t>
            </a:r>
            <a:r>
              <a:rPr sz="1150" b="1" i="0">
                <a:solidFill>
                  <a:srgbClr val="1C1F23"/>
                </a:solidFill>
                <a:latin typeface="Arial"/>
              </a:rPr>
              <a:t>Une seconde ligne doublerait les jours-hommes et fausserait la ligne de totaux — le seul chiffre que le directeur lit.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7884" y="1847088"/>
            <a:ext cx="4496571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B8E36"/>
                </a:solidFill>
                <a:latin typeface="Arial"/>
              </a:rPr>
              <a:t>Règle 2 — réconciliation de stock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17884" y="2212848"/>
            <a:ext cx="4496571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La référence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dernier stock connu moins l'installé.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chiffre rapporté l'emporte toujours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et devient la nouvelle référence.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écart émet un avertissement chiffré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 lieu de choisir silencieusement.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17884" y="4041648"/>
            <a:ext cx="4496571" cy="162763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73916" y="4224528"/>
            <a:ext cx="3984507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Une livraison et une perte sont identiques pour l'arithmétique. </a:t>
            </a:r>
            <a:r>
              <a:rPr sz="1250" b="0" i="0">
                <a:solidFill>
                  <a:srgbClr val="C0C0C0"/>
                </a:solidFill>
                <a:latin typeface="Arial"/>
              </a:rPr>
              <a:t>Le système ne peut pas trancher, donc il ne tranche pas : il écrit l'écart et son montant, et laisse un humain décider. C'est la même règle que partout ailleurs dans la chaîne — jamais d'échec silencieux, jamais de valeur devinée.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Protocole, et une décision de méthode assumée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moteurs de transcription
évalués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6835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86835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9715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9715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clips réels de
techniciens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431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9311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 + 12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9311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par API
et en local sur GPU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6027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06027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8907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RTX 3070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8907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8 Go, demi-précision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401568"/>
            <a:ext cx="10637215" cy="192024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401568"/>
            <a:ext cx="45720" cy="19202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621024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Ni WER, ni CER — et pourquoi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" y="4023360"/>
            <a:ext cx="1001542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0" i="0">
                <a:solidFill>
                  <a:srgbClr val="575656"/>
                </a:solidFill>
                <a:latin typeface="Arial"/>
              </a:rPr>
              <a:t>Établir une vérité terrain en darija suppose une orthographe de référence qui n'existe pas : deux transcriptions également justes divergent sur l'écriture, et le WER punit cette divergence comme une erreur de sens. Le critère retenu est donc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applicatif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la préservation des quantités numériques et des emprunts techniques français — jugé par un locuteur natif contre l'audio, parce que c'est exactement ce que le journal consomme. La limite est assumée : le classement est rigoureux mais non reproductible par un tiers sans le même locuteur.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Résultats — moteurs accessibles par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74519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68078"/>
                <a:gridCol w="1074466"/>
                <a:gridCol w="1074466"/>
                <a:gridCol w="1611699"/>
                <a:gridCol w="1504252"/>
                <a:gridCol w="1504252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Moteur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Clips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Erreurs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Latence moy.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Groq (Whisper large-v3)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1,53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0,483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Gemini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16,94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non exposée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20 651 *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Hugging Face (affinage darija)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jeton absent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3547872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4.2 — Comparaison des moteurs par API (7 août 2026). * chiffre faussé par une boucle de répétition du modèle.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913632"/>
            <a:ext cx="10637215" cy="17830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913632"/>
            <a:ext cx="45720" cy="178308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4096512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Le constat majeur : le moteur le plus rapide déforme les quantités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" y="4480560"/>
            <a:ext cx="1001542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Sur un même clip — Gemini :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‎40 كابل‎ · ‎12 پانُو‎ · 3ème étage</a:t>
            </a:r>
            <a:r>
              <a:rPr sz="1300" b="0" i="0">
                <a:solidFill>
                  <a:srgbClr val="575656"/>
                </a:solidFill>
                <a:latin typeface="Arial"/>
              </a:rPr>
              <a:t>   contre Groq : </a:t>
            </a:r>
            <a:r>
              <a:rPr sz="1300" b="1" i="0">
                <a:solidFill>
                  <a:srgbClr val="C0392B"/>
                </a:solidFill>
                <a:latin typeface="Arial"/>
              </a:rPr>
              <a:t>mniya dyal panno, Pouzina ssimetro, 3O mietage</a:t>
            </a:r>
          </a:p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Le schéma métier est intégralement composé de quantités et de localisations. Un moteur qui fusionne un chiffre dans le mot suivant ne donne rien à extraire — et le système conclut alors « aucune donnée » sur un rapport qui en contenait.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Résultats locaux : la confiance du modèle est un leurre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799"/>
          <a:ext cx="10637214" cy="2491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92978"/>
                <a:gridCol w="1411059"/>
                <a:gridCol w="1411059"/>
                <a:gridCol w="1519602"/>
                <a:gridCol w="1302516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Chiffres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boumehdi/wav2vec2-moroccan-darija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0,7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amineouaki/xlsr-53-darija-combined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6,3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amineouaki/wav2vec2-darija-combined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0,853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ychafiqui/whisper-medium-darija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BounharAbdelaziz/Morocco-Darija-STT-large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7,7 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0,791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openai/whisper-large-v3  (contrôle)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0,582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C-Ilyas/whisper-base-darija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31596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4.3 — Extrait de la campagne locale (12 moteurs, 11 clips, RTX 3070). Tri par confiance décroissante.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700016"/>
            <a:ext cx="10637215" cy="1298448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919472"/>
            <a:ext cx="10015423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Le tableau est trié par confiance précisément pour montrer qu'il ne faut pas s'y fier. </a:t>
            </a:r>
            <a:r>
              <a:rPr sz="1350" b="0" i="0">
                <a:solidFill>
                  <a:srgbClr val="C9C9C9"/>
                </a:solidFill>
                <a:latin typeface="Arial"/>
              </a:rPr>
              <a:t>boumehdi domine la colonne à 0,916 et perd purement et simplement le « 40 » ; le meilleur moteur n'arrive qu'en cinquième position. exp(mean logprob) mesure la certitude du décodeur, jamais son exactitude — et la colonne « chiffres » est elle-même un leurre, les affinages écrivant les nombres en toutes lettres arabes (‎ربعين‎ pour 40), forme que la chaîne d'extraction lit sans difficulté.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Le moteur retenu, et le coût assumé de ce choix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9655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1C1F23"/>
                </a:solidFill>
                <a:latin typeface="Arial"/>
              </a:rPr>
              <a:t>Clip de référence : </a:t>
            </a:r>
            <a:r>
              <a:rPr sz="1300" b="0" i="1">
                <a:solidFill>
                  <a:srgbClr val="575656"/>
                </a:solidFill>
                <a:latin typeface="Arial"/>
              </a:rPr>
              <a:t>« hier 20/07/2026, arrivés à Essaouira à 1 h, vérifié le chemin de 27 câbles, pris le métrage, coupés, vérifié le chemin de la fibre, sortis à 7 h »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04288"/>
          <a:ext cx="10637214" cy="16824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404"/>
                <a:gridCol w="3301204"/>
                <a:gridCol w="440160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Transcription obtenue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Conséquence sur les champs métier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‎27‎ كابل    فيريفينا    لافيبر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Tous les champs survivent : quantité, verbe technique, matériel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whisper-large-v3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فرحنا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vérifier » devient « nous nous sommes réjouis »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ychafiqui/medium-darija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السبعة وعشر وعشر الين كابل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27 câbles » : la quantité est détruite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04164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4.4 — Comportement comparé sur les champs métier.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4407408"/>
            <a:ext cx="513572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3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gagné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Seul moteur à préserver simultanément les quantités numériques et les emprunts techniques français. Conserve aussi les noms propres du domaine — Novec, Essaouira, Kenitra — sur l'ensemble des clips. Licence Apache 2.0.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8727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8727" y="440740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6471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payé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7,7 s de latence moyenne, le plus lent des douze, contre 1,53 s pour l'API de Groq. Environ 4 Go de mémoire graphique. Cinq fois l'attente contre la meilleure exactitude : c'est la décision centrale du banc d'essai.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Périmètre livré et en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 Telegram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 WhatsApp Cloud API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Transcription — 3 moteurs, chaîne de repli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Extraction structurée — 4 chaînes de repli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Entrée par photo — modèle de vision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Journal de chantier par site — fusion, stock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Miroir plat pour le tableau de bord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Observabilité PostgreSQL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Tableau de bord trilingue FR / EN / AR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Organigramme, comptes, chantiers, bordereau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Ordonnanceur — 6 tâches, page Automatisation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Rapports quotidien et hebdomadaire par e-mail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Commandes /rapport, /modifier, /supprimer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Moteur local sur GPU, conteneurisé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626864"/>
            <a:ext cx="10637215" cy="129844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626864"/>
            <a:ext cx="45720" cy="12984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4828031"/>
            <a:ext cx="10015423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Dès la semaine 0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le planning la prévoyait au sprint 2 — la chaîne complète a été validée en conditions réelles : note vocale, détection, téléchargement, transcription, extraction, résumé français, réponse de confirmation. Le risque d'intégration majeur du projet a été neutralisé immédiatement. Lors de ces essais,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le repli d'extraction s'est déclenché seul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sur indisponibilité du fournisseur principal, validant la conception sans intervention.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Le tableau de bord : consulter, corriger, administrer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018" y="1760220"/>
            <a:ext cx="6687516" cy="380390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310" y="1810512"/>
            <a:ext cx="6586932" cy="3703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91429" y="1883664"/>
            <a:ext cx="372302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Trilingue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Français, anglais, arabe. L'arabe impose le sens droite-à-gauche sur toute l'interface.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Sans dépendance d'UI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React 19 et Tailwind v4, graphiques en SVG écrits à la main, aucune bibliothèque de composants.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Huit écrans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Vue d'ensemble, boîte de réception, rapports, quotidien, hebdomadaire, automatisation, journaux, équipe.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Organigramme éditable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Le rattachement d'un technicien à un chef détermine le chantier de ses rapports.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632704"/>
            <a:ext cx="6595073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5.1 — Vue d'ensemble, thème sombre, connectée à la pile complète.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La chaîne d'intégration continue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220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commits en 29 jours
(15 juil. – 12 août 2026)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contrôles automatiques
à chaque push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272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tests, sans aucune
clé d'API ni base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demandes Dependabot
sur 5 écosystèmes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3832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Les 17 contrôles, par famille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730752"/>
            <a:ext cx="32004" cy="40233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7353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Correction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749039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API — ruff, types, 272 tests  ·  Dashboard — tsc, oxlint, build  ·  workflow n8n  ·  Docker compose  ·  parité des locales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187952"/>
            <a:ext cx="32004" cy="40233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1925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Sécurité du code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42062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CodeQL (python)  ·  CodeQL (javascript-typescript)  ·  Semgrep OWASP Top 10  ·  Bandit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645152"/>
            <a:ext cx="32004" cy="40233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497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Dépendances et secrets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46634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Trivy filesystem  ·  Trivy config  ·  pip-audit  ·  npm audit  ·  gitleaks + check_secrets.py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102352"/>
            <a:ext cx="32004" cy="40233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1069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Conformité des fichiers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51206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Hadolint (api)  ·  Hadolint (Dashboard)  ·  actionlint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Dependabot ouvre ses demandes quotidiennement sur npm, pip, les deux images Docker et les actions GitHub — chacune franchit les 17 contrôles avant d'être fusionnée.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4FA9F5"/>
                </a:solidFill>
                <a:latin typeface="Arial"/>
              </a:rPr>
              <a:t>6 —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Arial"/>
              </a:rPr>
              <a:t>La chaîne complète, en direct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4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79"/>
            <a:ext cx="10637215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Une note vocale en darija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est envoyée depuis Telegram.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bot répond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avec le résumé en français professionnel et les quantités extraites.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La ligne apparaît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dans l'onglet du chantier, fusionnée s'il en existe déjà une pour la journée.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tableau de bord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affiche le rapport, ses avertissements de qualité et la trace de traitement.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193792"/>
            <a:ext cx="10637215" cy="786384"/>
          </a:xfrm>
          <a:prstGeom prst="rect">
            <a:avLst/>
          </a:prstGeom>
          <a:solidFill>
            <a:srgbClr val="2A2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5358384"/>
            <a:ext cx="1001542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Si le réseau ou un palier gratuit fait défaut : </a:t>
            </a:r>
            <a:r>
              <a:rPr sz="1250" b="0" i="0">
                <a:solidFill>
                  <a:srgbClr val="B4B4B4"/>
                </a:solidFill>
                <a:latin typeface="Arial"/>
              </a:rPr>
              <a:t>les captures de secours suivent la dernière diapositive et couvrent le même parcours, écran par écran.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9A9A9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9A9A9A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BILAN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Contributions et limites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B8E36"/>
                </a:solidFill>
                <a:latin typeface="Arial"/>
              </a:rP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architecture hybride dont la frontière a été fixée par une contrainte fonctionnelle identifiée en cours de projet, non par préférence.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banc d'essai de treize moteurs de transcription du darija, avec une critique argumentée du WER et une métrique applicative de substitution.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service d'extraction à sortie contrainte, quatre chaînes de repli alternant les fournisseurs, et une politique stricte d'absence de données inventées.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modèle métier reconstruit sur le fichier réel du client, avec accumulation intra-journalière et réconciliation de stock.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conception indépendante du canal, démontrée par la mise en service de deux messageries aux contraintes opposées.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Limites énoncées sans détour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WER et le CER n'ont pas été calculés. Le choix d'une métrique applicative est argumenté, mais il prive la comparaison d'un chiffre universellement reconnu : le classement repose sur un jugement humain, rigoureux mais non reproductible sans le même locuteur.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suite de tests ne parcourt jamais le réseau réel. Elle sécurise les régressions de logique, non les ruptures de contrat des fournisseurs — qui ont été la source de la majorité des défauts rencontrés.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déploiement pilote auprès des techniciens constitue l'étape suivante ; les chiffres d'usage réel ne sont donc pas encore établis.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Ce que ce travail ouvre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Constituer la vérité terrain qui manque,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à partir des rapports réels accumulés, afin de publier un WER et un CER et de rendre le classement reproductible.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Affiner un modèle de transcription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sur ce corpus darija propre au câblage — l'apport de l'affinage étant désormais démontré pour un modèle assez grand.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Remplacer Google Sheets par une base de données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lorsque la volumétrie le justifiera : l'infrastructure PostgreSQL est déjà en place.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Étendre le tableau de bord vers l'analytique de chantier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— avancement par site, consommation de matériel, alertes de stock ; le bordereau en fournit la base.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315968"/>
            <a:ext cx="10637215" cy="153619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4572000"/>
            <a:ext cx="994227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450" b="0" i="0">
                <a:solidFill>
                  <a:srgbClr val="DDDDDD"/>
                </a:solidFill>
                <a:latin typeface="Arial"/>
              </a:rPr>
              <a:t>Dans les applications des grands modèles de langage, la valeur ne réside pas dans le choix des modèles, mais dans l'architecture qui les entoure :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contrats de données stricts, chaînes de repli explicites, refus des échecs silencieux, et bancs d'essai assez sceptiques pour se surprendre eux-mêmes.</a:t>
            </a:r>
          </a:p>
          <a:p>
            <a:pPr>
              <a:lnSpc>
                <a:spcPct val="120000"/>
              </a:lnSpc>
            </a:pPr>
            <a:r>
              <a:rPr sz="1250" b="0" i="0">
                <a:solidFill>
                  <a:srgbClr val="A8A8A8"/>
                </a:solidFill>
                <a:latin typeface="Arial"/>
              </a:rPr>
              <a:t>Ce banc d'essai a renversé son hypothèse de départ deux fois, et démasqué un bogue qui lui faisait couronner un vainqueur sur une transcription jamais générée.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C1F23"/>
                </a:solidFill>
                <a:latin typeface="Arial"/>
              </a:rPr>
              <a:t>Merci de votre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1188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0278E4"/>
                </a:solidFill>
                <a:latin typeface="Arial"/>
              </a:rPr>
              <a:t>Questions</a:t>
            </a:r>
          </a:p>
        </p:txBody>
      </p:sp>
      <p:pic>
        <p:nvPicPr>
          <p:cNvPr id="6" name="Picture 5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760720"/>
            <a:ext cx="2303035" cy="502920"/>
          </a:xfrm>
          <a:prstGeom prst="rect">
            <a:avLst/>
          </a:prstGeom>
        </p:spPr>
      </p:pic>
      <p:pic>
        <p:nvPicPr>
          <p:cNvPr id="7" name="Picture 6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5815" y="5733288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Boîte de réception — les rapports arrivés, avec leurs avertissements de qualité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inbo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Rapports — consultation et correction ligne à ligne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repo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Équipe — l'organigramme : directeur, chefs de chantier, techniciens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Automatisation — les six tâches planifiées et leurs dernières exécutions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Journaux — la trace de traitement, n8n et service réunis par correlation_id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lo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Usage mobile — la même interface, consultée depuis un téléphone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77423" y="1796796"/>
            <a:ext cx="2436848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mobile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715" y="1847088"/>
            <a:ext cx="2336264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
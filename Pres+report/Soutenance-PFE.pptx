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Se présenter. Sujet en une phrase.</a:t>
            </a:r>
          </a:p>
          <a:p>
            <a:r>
              <a:t>→ notes vocales darija → journal de chantier, chez AZNET Rabat.</a:t>
            </a:r>
          </a:p>
          <a:p/>
          <a:p>
            <a:r>
              <a:t>— Design : Khatam (étoile à 8 branches, zellige) en trait, hors-cadre. Il se déplace de diapo en diapo — morph, pas une coupure.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0:30 · Annoncer le parcours, ne pas lire les six points.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0:20 · Laisser lire deux secondes avant de parler.</a:t>
            </a:r>
          </a:p>
          <a:p>
            <a:r>
              <a:t>→ C'est la phrase du directeur, pas la mienne.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Le suivi se fait le soir, de mémoire, à la main.</a:t>
            </a:r>
          </a:p>
          <a:p>
            <a:r>
              <a:t>→ Si on demande : le directeur re-saisit lui-même.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point : écart entre ce qui est DIT et ce qui est COMPTÉ.</a:t>
            </a:r>
          </a:p>
          <a:p>
            <a:r>
              <a:t>→ Darija + emprunts français vs colonnes chiffrées.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Besoins fonctionnels puis non fonctionnels.</a:t>
            </a:r>
          </a:p>
          <a:p>
            <a:r>
              <a:t>→ Budget zéro explique presque toutes les décisions qui suivent.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Sept phases, six mois.</a:t>
            </a:r>
          </a:p>
          <a:p>
            <a:r>
              <a:t>→ Bout-en-bout atteint en phase 3, une phase EN AVANCE.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littérature ne tranchait pas pour le darija.</a:t>
            </a:r>
          </a:p>
          <a:p>
            <a:r>
              <a:t>→ D'où un banc d'essai, pas un choix de confort.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Sortie contrainte par schéma.</a:t>
            </a:r>
          </a:p>
          <a:p>
            <a:r>
              <a:t>→ Le risque central : un modèle qui invente une valeur plausible.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n8n orchestre, Python fait l'IA. Cinq services, une seule origine.</a:t>
            </a:r>
          </a:p>
          <a:p>
            <a:r>
              <a:t>→ Ne pas anticiper la frontière, c'est la diapo suivante.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Testable → code. Câblage → n8n.</a:t>
            </a:r>
          </a:p>
          <a:p>
            <a:r>
              <a:t>→ Exemple : la tenue du journal a quitté n8n, un IF ne relit pas un onglet.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Dérouler une fois, lentement.</a:t>
            </a:r>
          </a:p>
          <a:p>
            <a:r>
              <a:t>→ La réponse part AVANT le Sheet : une panne Google ne coûte pas son résumé.</a:t>
            </a:r>
          </a:p>
          <a:p>
            <a:r>
              <a:t>→ Deux files, pas une : l'écriture refusée d'un côté, le message intraitable de</a:t>
            </a:r>
          </a:p>
          <a:p>
            <a:r>
              <a:t>  l'autre. Ce dernier répond 202 — un 502 ferait envoyer ❌ à un technicien dont</a:t>
            </a:r>
          </a:p>
          <a:p>
            <a:r>
              <a:t>  le rapport est en sécurité.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Une ligne par message, JAMAIS de réécriture.</a:t>
            </a:r>
          </a:p>
          <a:p>
            <a:r>
              <a:t>→ Un chiffre faux ne peut plus écraser un chiffre juste : 50 puis +80.</a:t>
            </a:r>
          </a:p>
          <a:p>
            <a:r>
              <a:t>→ Stock réconcilié, jamais supposé. Heures et JH viennent de la voix.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La perte silencieuse est l'histoire à raconter, pas le mécanisme.</a:t>
            </a:r>
          </a:p>
          <a:p>
            <a:r>
              <a:t>→ Quarante pièces extraites correctement, puis jetées. Zéro erreur levée.</a:t>
            </a:r>
          </a:p>
          <a:p>
            <a:r>
              <a:t>→ Le champ est en texte libre EXPRÈS : son sujet est l'article pas encore</a:t>
            </a:r>
          </a:p>
          <a:p>
            <a:r>
              <a:t>  connu, le valider contre la liste jetterait ce qu'il existe pour porter.</a:t>
            </a:r>
          </a:p>
          <a:p>
            <a:r>
              <a:t>→ Insister sur « la validation vient après » : faire attendre une approbation</a:t>
            </a:r>
          </a:p>
          <a:p>
            <a:r>
              <a:t>  humaine remettrait au centre le délai que tout le projet supprime.</a:t>
            </a:r>
          </a:p>
          <a:p>
            <a:r>
              <a:t>→ Si on demande le risque : le slug. Sans lui, un pluriel = une colonne de plus.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Ni WER ni CER — assumé.</a:t>
            </a:r>
          </a:p>
          <a:p>
            <a:r>
              <a:t>→ On mesure ce que le journal consomme : chiffres et emprunts techniques.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Groq est rapide, c'est le plancher toujours disponible.</a:t>
            </a:r>
          </a:p>
          <a:p>
            <a:r>
              <a:t>→ Pas le meilleur.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Hypothèse renversée puis rétablie.</a:t>
            </a:r>
          </a:p>
          <a:p>
            <a:r>
              <a:t>→ Les petits affinages perdent, les grands gagnent. Rien n'était acquis.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Le modèle darija est la RÉFÉRENCE d'exactitude.</a:t>
            </a:r>
          </a:p>
          <a:p>
            <a:r>
              <a:t>→ Dire tout de suite qu'il est en REPLI en production (7,7 s, 4 Go).</a:t>
            </a:r>
          </a:p>
          <a:p>
            <a:r>
              <a:t>→ Le banc désigne une référence ; l'ordre d'appel est une décision d'exploitation.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llama-3.1-8b : le plus rapide ET cinq valeurs inventées.</a:t>
            </a:r>
          </a:p>
          <a:p>
            <a:r>
              <a:t>→ La vitesse ne rachète rien.</a:t>
            </a:r>
          </a:p>
          <a:p>
            <a:r>
              <a:t>→ Si on soulève la limite : oui, les dix cas sont de ma main (§4.3.9).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10. Trois des quatre choses que lit le modèle ne viennent pas du message.</a:t>
            </a:r>
          </a:p>
          <a:p>
            <a:r>
              <a:t>→ Le profil est du contexte, jamais une source de valeurs : sinon on remplit un</a:t>
            </a:r>
          </a:p>
          <a:p>
            <a:r>
              <a:t>  chantier que personne n'a nommé, et la donnée est plausible et fausse.</a:t>
            </a:r>
          </a:p>
          <a:p>
            <a:r>
              <a:t>→ Le vocabulaire de transcription est le seul sans âme : Whisper le lirait</a:t>
            </a:r>
          </a:p>
          <a:p>
            <a:r>
              <a:t>  comme un début de transcript.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Ce qui tourne, ce qui reste. Rester factuel.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Trilingue, arabe RTL, graphiques écrits à la main. Douze écrans.</a:t>
            </a:r>
          </a:p>
          <a:p>
            <a:r>
              <a:t>→ Vingt-neuf captures en annexe H.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Deux écrans ajoutés en dernier, pour deux angles morts.</a:t>
            </a:r>
          </a:p>
          <a:p>
            <a:r>
              <a:t>→ Consommation : tout le projet tient sur des offres gratuites, et un quota</a:t>
            </a:r>
          </a:p>
          <a:p>
            <a:r>
              <a:t>  épuisé ne fait aucun bruit — la chaîne bascule, la journée paraît normale.</a:t>
            </a:r>
          </a:p>
          <a:p>
            <a:r>
              <a:t>→ Insister sur « mesuré » vs « documenté » : les trois fournisseurs ne sont</a:t>
            </a:r>
          </a:p>
          <a:p>
            <a:r>
              <a:t>  pas également bavards, et l'écran le dit au lieu de faire semblant.</a:t>
            </a:r>
          </a:p>
          <a:p>
            <a:r>
              <a:t>→ Chantiers : l'avancement est recalculé à chaque appel, jamais stocké.</a:t>
            </a:r>
          </a:p>
          <a:p>
            <a:r>
              <a:t>→ Si on demande pourquoi la colonne installée est vide : le bordereau existe,</a:t>
            </a:r>
          </a:p>
          <a:p>
            <a:r>
              <a:t>  le pilote n'a pas encore produit de quantités sur ces lignes contractuelles.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 min 20. Deux familles, et c'est le contraste qui compte.</a:t>
            </a:r>
          </a:p>
          <a:p>
            <a:r>
              <a:t>→ A : recalculée, stockée nulle part — un chiffre dérivé de trois sources</a:t>
            </a:r>
          </a:p>
          <a:p>
            <a:r>
              <a:t>  périmerait dans une cellule.</a:t>
            </a:r>
          </a:p>
          <a:p>
            <a:r>
              <a:t>→ B : une colonne, dix clés, cinq drapeaux. « Écart de stock » ne lève pas le</a:t>
            </a:r>
          </a:p>
          <a:p>
            <a:r>
              <a:t>  drapeau, et c'est un choix : seul le technicien peut trancher.</a:t>
            </a:r>
          </a:p>
          <a:p>
            <a:r>
              <a:t>→ « Ignorer » photographie le niveau et le reste ; la sourdine expire dès que</a:t>
            </a:r>
          </a:p>
          <a:p>
            <a:r>
              <a:t>  ça empire.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Dix-huit contrôles à chaque push.</a:t>
            </a:r>
          </a:p>
          <a:p>
            <a:r>
              <a:t>→ Honnêteté : Dependabot ouvre, rien n'est encore fusionné.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0:45 · 0 bogue, 0 vulnérabilité, A/A/A, dette de 25 minutes.</a:t>
            </a:r>
          </a:p>
          <a:p>
            <a:r>
              <a:t>→ Raconter le vrai bogue : un test qui dépendait du .env local.</a:t>
            </a:r>
          </a:p>
          <a:p>
            <a:r>
              <a:t>→ Si on demande le portail : cinq conditions sur six. La sixième veut 80 % de</a:t>
            </a:r>
          </a:p>
          <a:p>
            <a:r>
              <a:t>  couverture sur le code nouveau, seuil du référentiel par défaut, que je récuse</a:t>
            </a:r>
          </a:p>
          <a:p>
            <a:r>
              <a:t>  pour une suite hors ligne — et je le dis avant qu'on me le demande.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3:00 · DÉMO. Note vocale → ⏳ → ✅ → Sheet → boîte de réception.</a:t>
            </a:r>
          </a:p>
          <a:p>
            <a:r>
              <a:t>→ SI ÇA TOMBE : passer aux captures d'annexe. Ne pas déboguer devant le jury.</a:t>
            </a:r>
          </a:p>
          <a:p/>
          <a:p>
            <a:r>
              <a:t>— Design : Fond sombre : le trait passe au bleu clair pour rester lisible.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1:30 · Technique puis méthodologique.</a:t>
            </a:r>
          </a:p>
          <a:p>
            <a:r>
              <a:t>→ La leçon : un résultat flatteur mérite plus de vérification qu'un décevant.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1:00 · Nommer les limites avant le jury.</a:t>
            </a:r>
          </a:p>
          <a:p>
            <a:r>
              <a:t>→ Jeu de test de ma main, pilote court, couverture = service Python seul.</a:t>
            </a:r>
          </a:p>
          <a:p/>
          <a:p>
            <a:r>
              <a:t>— Design : Un seul bleu, celui du logo AZNET. Un seul motif, le khatam, en trait. Ni bandeau, ni filet sous les titres.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Remercier, puis se taire.</a:t>
            </a:r>
          </a:p>
          <a:p>
            <a:r>
              <a:t>→ Attendues : pourquoi pas Whisper seul / pourquoi n8n / quotas épuisés /</a:t>
            </a:r>
          </a:p>
          <a:p>
            <a:r>
              <a:t>  comment on empêche l'invention d'une valeur.</a:t>
            </a:r>
          </a:p>
          <a:p/>
          <a:p>
            <a:r>
              <a:t>— Design : Le khatam au centre, plein format. Dernière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Relationship Id="rId4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jpg"/><Relationship Id="rId4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6918716" y="731520"/>
            <a:ext cx="5669280" cy="566928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66928"/>
            <a:ext cx="3014882" cy="658368"/>
          </a:xfrm>
          <a:prstGeom prst="rect">
            <a:avLst/>
          </a:prstGeom>
        </p:spPr>
      </p:pic>
      <p:pic>
        <p:nvPicPr>
          <p:cNvPr id="3" name="Picture 2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1223" y="539496"/>
            <a:ext cx="713232" cy="71323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77240" y="1627632"/>
            <a:ext cx="1063721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0000"/>
              </a:lnSpc>
            </a:pPr>
            <a:r>
              <a:rPr sz="1150" b="1" i="0">
                <a:solidFill>
                  <a:srgbClr val="575656"/>
                </a:solidFill>
                <a:latin typeface="Arial"/>
              </a:rPr>
              <a:t>ÉCOLE MAROCAINE DES SCIENCES DE L'INGÉNIEUR — RABAT</a:t>
            </a:r>
          </a:p>
          <a:p>
            <a:r>
              <a:rPr sz="1150" b="0" i="0">
                <a:solidFill>
                  <a:srgbClr val="8A8A8A"/>
                </a:solidFill>
                <a:latin typeface="Arial"/>
              </a:rPr>
              <a:t>Rapport de Projet de Fin d'Études — diplôme d'Ingénieur d'État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70048"/>
            <a:ext cx="10180015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3300" b="1" i="0">
                <a:solidFill>
                  <a:srgbClr val="1C1F23"/>
                </a:solidFill>
                <a:latin typeface="Arial"/>
              </a:rPr>
              <a:t>Automatisation des rapports journaliers
de chantier par intelligence artificielle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059936"/>
            <a:ext cx="1018001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0" i="0">
                <a:solidFill>
                  <a:srgbClr val="0278E4"/>
                </a:solidFill>
                <a:latin typeface="Arial"/>
              </a:rPr>
              <a:t>Transcription de notes vocales en darija et extraction structurée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4846320"/>
            <a:ext cx="585216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Réalisé par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Yassine [À COMPLÉTER — NOM]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académique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Encadrant industriel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73975" y="4846320"/>
            <a:ext cx="38404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Entreprise d'accueil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AZNET — Rabat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Soutenu le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[À COMPLÉTER]</a:t>
            </a:r>
          </a:p>
          <a:p>
            <a:pPr algn="r">
              <a:spcAft>
                <a:spcPts val="500"/>
              </a:spcAft>
            </a:pPr>
            <a:r>
              <a:rPr sz="1250" b="1" i="0">
                <a:solidFill>
                  <a:srgbClr val="1C1F23"/>
                </a:solidFill>
                <a:latin typeface="Arial"/>
              </a:rPr>
              <a:t>Année universitaire :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2025 /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8-Point Star 24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SOMMAIRE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Plan de la présentation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0652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0744" y="1837943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Contexte et problématique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terrain, les trois verrous techniques, les besoins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2542032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619756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80744" y="2551175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État de l'art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Le darija comme langue peu dotée, extraction par LLM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" y="3255263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32987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0744" y="3264407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Conception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Architecture hybride, flux nominal, journal de chantier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" y="3968496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046220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80744" y="3977639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Banc d'essai des moteurs de transcription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Treize moteurs, une hypothèse renversée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" y="4681728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759452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80744" y="4690872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Réalisation et qualité</a:t>
            </a:r>
          </a:p>
          <a:p>
            <a:r>
              <a:rPr sz="1250" b="0" i="0">
                <a:solidFill>
                  <a:srgbClr val="8A8A8A"/>
                </a:solidFill>
                <a:latin typeface="Arial"/>
              </a:rPr>
              <a:t>Périmètre livré, tableau de bord, chaîne DevOps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" y="5394960"/>
            <a:ext cx="384048" cy="3840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472684"/>
            <a:ext cx="384048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0744" y="5404104"/>
            <a:ext cx="999713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Démonstration, bilan et perspectives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zHero"/>
          <p:cNvSpPr/>
          <p:nvPr/>
        </p:nvSpPr>
        <p:spPr>
          <a:xfrm rot="1350000">
            <a:off x="-61008" y="3063239"/>
            <a:ext cx="4023360" cy="40233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quote-wittgenste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AZNET et la remontée d'information du terrain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métier.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Infrastructures réseau et câblage informatique : goulottes, tirage et raccordement cuivre et fibre, équipement de bureaux, de panneaux de brassage et de locaux techniques.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terrain.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équipes passent la journée sur les chantiers, loin de tout outil bureautique.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Le maillon faible.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Les comptes rendus remontent oralement, par messages dispersés ou sur papier — quand ils ne sont pas omis.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6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600" b="1" i="0">
                <a:solidFill>
                  <a:srgbClr val="1C1F23"/>
                </a:solidFill>
                <a:latin typeface="Arial"/>
              </a:rPr>
              <a:t>La langue de travail. </a:t>
            </a:r>
            <a:r>
              <a:rPr sz="1600" b="0" i="0">
                <a:solidFill>
                  <a:srgbClr val="575656"/>
                </a:solidFill>
                <a:latin typeface="Arial"/>
              </a:rPr>
              <a:t>L'arabe marocain (darija), mêlé de vocabulaire technique français.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074920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102352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Le directeur tient déjà un fichier de suivi. Le problème n'est pas l'absence d'outil, c'est le coût de la saisie pour celui qui détient l'information.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8-Point Star 2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PROBLÉMATIQUE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Trois verrous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10637215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700" b="0" i="0">
                <a:solidFill>
                  <a:srgbClr val="1C1F23"/>
                </a:solidFill>
                <a:latin typeface="Arial"/>
              </a:rPr>
              <a:t>Comment transformer automatiquement une note vocale spontanée en darija en un rapport journalier structuré, fiable et exploitable, </a:t>
            </a:r>
            <a:r>
              <a:rPr sz="1700" b="1" i="0">
                <a:solidFill>
                  <a:srgbClr val="0278E4"/>
                </a:solidFill>
                <a:latin typeface="Arial"/>
              </a:rPr>
              <a:t>en moins de deux minutes d'effort pour le technicien et sans budget logiciel</a:t>
            </a:r>
            <a:r>
              <a:rPr sz="1700" b="0" i="0">
                <a:solidFill>
                  <a:srgbClr val="1C1F23"/>
                </a:solidFill>
                <a:latin typeface="Arial"/>
              </a:rPr>
              <a:t> ?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5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5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Transcription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6695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Les moteurs de reconnaissance vocale sont entraînés sur l'arabe standard moderne. Le darija est une langue peu dotée, au code-switching arabe / français fréquent.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8322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08322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Structuration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Le texte transcrit est du langage libre. Il faut en extraire des champs normalisés — quantités, localisations, observations — sans jamais inventer une donnée absente.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39404" y="3017520"/>
            <a:ext cx="3375050" cy="22402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39404" y="3017520"/>
            <a:ext cx="3375050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58860" y="3291839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0278E4"/>
                </a:solidFill>
                <a:latin typeface="Arial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58860" y="3584448"/>
            <a:ext cx="2936138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Intégration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58860" y="3977639"/>
            <a:ext cx="2936138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La chaîne complète — messagerie, téléchargement, traitement IA, journal, notifications — doit fonctionner de bout en bout, de manière fiable et gratuite.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BESOINS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le cahier des charges exige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BF1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Saisie vocale en darija via une messagerie — aucune autre action demandée au technicien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BF2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Un second canal alimente le même traitement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BF3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Transcription automatique, darija et mélange arabe / français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BF4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Extraction des travaux réalisés et des quantités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70167" y="1874519"/>
            <a:ext cx="5044287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BF5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Reformulation en français professionnel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BF6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Enregistrement dans le tableau de suivi Google Sheets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BF7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Notification du chef de chantier et du responsable</a:t>
            </a:r>
          </a:p>
          <a:p>
            <a:pPr>
              <a:lnSpc>
                <a:spcPct val="122000"/>
              </a:lnSpc>
              <a:spcAft>
                <a:spcPts val="11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00" b="1" i="0">
                <a:solidFill>
                  <a:srgbClr val="1C1F23"/>
                </a:solidFill>
                <a:latin typeface="Arial"/>
              </a:rPr>
              <a:t>BF8 </a:t>
            </a:r>
            <a:r>
              <a:rPr sz="1400" b="0" i="0">
                <a:solidFill>
                  <a:srgbClr val="575656"/>
                </a:solidFill>
                <a:latin typeface="Arial"/>
              </a:rPr>
              <a:t>Confirmation au technicien que son rapport est traité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160520"/>
            <a:ext cx="10637215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160520"/>
            <a:ext cx="45720" cy="132588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9848" y="4379976"/>
            <a:ext cx="10051999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La contrainte structurante : budget zéro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" y="4764024"/>
            <a:ext cx="10051999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0" i="0">
                <a:solidFill>
                  <a:srgbClr val="575656"/>
                </a:solidFill>
                <a:latin typeface="Arial"/>
              </a:rPr>
              <a:t>Aucune dépense logicielle autorisée. Toute la solution repose sur des paliers gratuits — Groq, Gemini AI Studio, Telegram Bot API, WhatsApp Cloud API, Google Sheets, Gmail SMTP — et sur du matériel déjà disponible. Cette contrainte n'est pas un détail d'intendance : elle dicte l'architecture, impose des chaînes de repli entre fournisseurs, et interdit la solution évidente à chaque étape.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1 — CONDUITE DU PROJET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Six mois, sept phases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4" cy="3182112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92503"/>
                <a:gridCol w="2292503"/>
                <a:gridCol w="6052208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Phase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Période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Objectif principal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 — Cadrage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 – 27 mars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Immersion métier, cahier des charges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 — État de l'art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30 mars – 30 avril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Transcription du dialectal, extraction par LLM, jeu de 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 — Conception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mai – 5 juin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Architecture hybride, contrat de données, frontière n8n / code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— Cœur IA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8 juin – 17 juillet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Service FastAPI, adaptateurs STT, chaînes de repli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 — Chaîne complète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20 juillet – 1er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Workflow n8n, réception bicanale, tableau de bord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 — Bancs d'essai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 – 14 août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Comparatifs STT et extraction, sécurité, intégration continue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 — Pilote et rapport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17 – 28 août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Déploiement pilote, livrables, soutenance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Le bout-en-bout réel a été atteint en phase 3, une phase avant le planning : le risque d'intégration a été neutralisé avant d'engager le reste.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Reconnaissance vocale de l'arabe dialectal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Une langue peu dotée.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Le darija n'a ni orthographe normalisée, ni corpus annoté de grande taille. Il emprunte massivement au français pour le vocabulaire technique — précisément celui que le rapport doit conserver.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Deux architectures concurrentes.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Whisper, transformeur encodeur-décodeur de bout en bout, entraîné en multitâche sur 680 000 h ; wav2vec2 pré-entraîné de manière auto-supervisée puis affiné par classification temporelle connexionniste (CTC).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5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500" b="1" i="0">
                <a:solidFill>
                  <a:srgbClr val="1C1F23"/>
                </a:solidFill>
                <a:latin typeface="Arial"/>
              </a:rPr>
              <a:t>Les affinages darija. </a:t>
            </a:r>
            <a:r>
              <a:rPr sz="1500" b="0" i="0">
                <a:solidFill>
                  <a:srgbClr val="575656"/>
                </a:solidFill>
                <a:latin typeface="Arial"/>
              </a:rPr>
              <a:t>Plusieurs modèles publics existent sur Hugging Face, de quelques dizaines de millions à deux milliards de paramètres. Leur qualité réelle sur un usage métier n'est documentée nulle part.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828032"/>
            <a:ext cx="10637215" cy="117043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828032"/>
            <a:ext cx="45720" cy="1170432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5029200"/>
            <a:ext cx="10051999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Les métriques standard.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WER et CER comparent la transcription à une vérité terrain, mot à mot ou caractère à caractère. Pour une langue sans orthographe normalisée, deux transcriptions également correctes divergent sur l'écriture — et le WER punit cette divergence exactement comme une erreur de sens. Ce constat commande la méthode du banc d'essai (section 4).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2 — ÉTAT DE L'ART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Extraction par LLM et plateformes d'orchestration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Extraction d'information structurée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12848"/>
            <a:ext cx="10637215" cy="382219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approches classiques — règles, expressions régulières, modèles de reconnaissance d'entités — supposent une langue régulière et un vocabulaire fermé : ni l'un ni l'autre ici.</a:t>
            </a:r>
          </a:p>
          <a:p>
            <a:pPr>
              <a:lnSpc>
                <a:spcPct val="122000"/>
              </a:lnSpc>
              <a:spcAft>
                <a:spcPts val="9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50" b="0" i="0">
                <a:solidFill>
                  <a:srgbClr val="575656"/>
                </a:solidFill>
                <a:latin typeface="Arial"/>
              </a:rPr>
              <a:t>Les LLM à sortie contrainte produisent directement un objet conforme à un schéma. Le risque se déplace : ce n'est plus l'échec de l'extraction, c'est l'invention plausible d'une valeur absente.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278E4"/>
                </a:solidFill>
                <a:latin typeface="Arial"/>
              </a:rPr>
              <a:t>Plateformes d'orchestration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" y="3639312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578041"/>
                <a:gridCol w="2019724"/>
                <a:gridCol w="2019724"/>
                <a:gridCol w="2019724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Critère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n8n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Make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Zapier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Auto-hébergement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Non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Coût à ce volume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Gratuit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Palier limité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Appels HTTP libres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Oui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Restreint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Contrôle des données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Hébergé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77240" y="5468112"/>
            <a:ext cx="32004" cy="475488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96695" y="549554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50" b="0" i="0">
                <a:solidFill>
                  <a:srgbClr val="1C1F23"/>
                </a:solidFill>
                <a:latin typeface="Arial"/>
              </a:rPr>
              <a:t>n8n est retenu pour une raison unique et vérifiable : c'est le seul auto-hébergeable, donc le seul compatible avec la contrainte de budget zéro à volume non plafonné.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8-Point Star 4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Architecture générale : une répartition par valeur ajoutée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29968"/>
            <a:ext cx="1732422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Terrain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Technicien
note vocale en darija,
photo ou texte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601102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03438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03438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31454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Réception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13166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Telegram Bot API
WhatsApp Cloud API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827300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29636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29636" y="2029968"/>
            <a:ext cx="1732422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57652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Orchestration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39364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n8n — 64 nœuds
réception, déduplication,
autorisation, réponses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053498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455834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7455834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83850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Service applicatif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565562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FastAPI — 82 routes
STT, extraction, journal,
ordonnanceur, comptes</a:t>
            </a:r>
          </a:p>
        </p:txBody>
      </p:sp>
      <p:sp>
        <p:nvSpPr>
          <p:cNvPr id="23" name="Right Arrow 22"/>
          <p:cNvSpPr/>
          <p:nvPr/>
        </p:nvSpPr>
        <p:spPr>
          <a:xfrm>
            <a:off x="9279696" y="2670048"/>
            <a:ext cx="310896" cy="201168"/>
          </a:xfrm>
          <a:prstGeom prst="rightArrow">
            <a:avLst/>
          </a:prstGeom>
          <a:solidFill>
            <a:srgbClr val="C3C7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682032" y="2029968"/>
            <a:ext cx="1732422" cy="148132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682032" y="2029968"/>
            <a:ext cx="1732422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10048" y="2212848"/>
            <a:ext cx="1476390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300" b="1" i="0">
                <a:solidFill>
                  <a:srgbClr val="1C1F23"/>
                </a:solidFill>
                <a:latin typeface="Arial"/>
              </a:rPr>
              <a:t>Persistance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91760" y="2487168"/>
            <a:ext cx="1512966" cy="9326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PostgreSQL — 26 tables
Google Sheets
un onglet par chantier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05256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Moteur local — sidecar GPU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6968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Morocco-Darija-STT-large sur RTX 3070, préchargé au démarrage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24447" y="4041648"/>
            <a:ext cx="5090007" cy="96012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324447" y="4041648"/>
            <a:ext cx="5090007" cy="3657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52463" y="4224528"/>
            <a:ext cx="483397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6000"/>
              </a:lnSpc>
            </a:pPr>
            <a:r>
              <a:rPr sz="1200" b="1" i="0">
                <a:solidFill>
                  <a:srgbClr val="1C1F23"/>
                </a:solidFill>
                <a:latin typeface="Arial"/>
              </a:rPr>
              <a:t>Consultation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4175" y="4498848"/>
            <a:ext cx="4870551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950" b="0" i="0">
                <a:solidFill>
                  <a:srgbClr val="575656"/>
                </a:solidFill>
                <a:latin typeface="Arial"/>
              </a:rPr>
              <a:t>Tableau de bord React FR / EN / AR  ·  rapports quotidien et hebdomadaire par e-mail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77240" y="5285232"/>
            <a:ext cx="32004" cy="47548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6695" y="5312664"/>
            <a:ext cx="104177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Ce qui est intégration reste dans n8n ; ce qui est décision passe dans le service. La frontière est fonctionnelle, et elle a bougé une fois en cours de projet.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frontière entre orchestration et code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74519"/>
            <a:ext cx="506714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14983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n8n — orchestration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4983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Réception Telegram et WhatsApp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Vérification du webhook Meta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Déduplication des messages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Téléchargement des médias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Réponses au technicien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B8E36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Journalisation d'étape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7307" y="1874519"/>
            <a:ext cx="5067147" cy="26974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7307" y="1874519"/>
            <a:ext cx="506714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5051" y="2112263"/>
            <a:ext cx="4609947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FastAPI — service métier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5051" y="2514600"/>
            <a:ext cx="4609947" cy="1920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Transcription et extraction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Reformulation en français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Tenue du journal de chantier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Ordonnancement des tâches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Authentification et comptes</a:t>
            </a:r>
          </a:p>
          <a:p>
            <a:pPr>
              <a:spcAft>
                <a:spcPts val="600"/>
              </a:spcAft>
            </a:pPr>
            <a:r>
              <a:rPr sz="1250" b="0" i="0">
                <a:solidFill>
                  <a:srgbClr val="0278E4"/>
                </a:solidFill>
                <a:latin typeface="Arial"/>
              </a:rPr>
              <a:t>–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Service du tableau de bord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77240" y="4828032"/>
            <a:ext cx="10637215" cy="1152144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5029200"/>
            <a:ext cx="10015423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450" b="1" i="0">
                <a:solidFill>
                  <a:srgbClr val="FFFFFF"/>
                </a:solidFill>
                <a:latin typeface="Arial"/>
              </a:rPr>
              <a:t>La règle retenue : </a:t>
            </a:r>
            <a:r>
              <a:rPr sz="1450" b="0" i="0">
                <a:solidFill>
                  <a:srgbClr val="DDDDDD"/>
                </a:solidFill>
                <a:latin typeface="Arial"/>
              </a:rPr>
              <a:t>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intégration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reste dans n8n ; ce qui est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décision</a:t>
            </a:r>
            <a:r>
              <a:rPr sz="1450" b="0" i="0">
                <a:solidFill>
                  <a:srgbClr val="DDDDDD"/>
                </a:solidFill>
                <a:latin typeface="Arial"/>
              </a:rPr>
              <a:t> passe dans le service.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BBBBBB"/>
                </a:solidFill>
                <a:latin typeface="Arial"/>
              </a:rPr>
              <a:t>La frontière a bougé une fois, le 5 août : l'écriture Google Sheets a migré de n8n vers Python, car tenir le journal exige un lire-modifier-écrire qu'un nœud conditionnel ne sait pas exprimer.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8-Point Star 5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Flux nominal : sept étapes, et un ordre qui n'est pas négociable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23544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Envoi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544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 technicien envoie une note vocale, une photo ou un texte sur Telegram ou WhatsApp.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86835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86835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33139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3139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5475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Réclamation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33139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réclame l'identifiant du message au service — WhatsApp re-livre un webhook non acquitté.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96431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96431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342735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2735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45071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Identification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2735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L'expéditeur est retrouvé dans l'organigramme et son autorisation vérifiée ; le chantier, lui, vient du message.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06027" y="2011680"/>
            <a:ext cx="2508427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06027" y="2011680"/>
            <a:ext cx="2508427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52331" y="2194560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52331" y="2244852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54667" y="2240280"/>
            <a:ext cx="1822627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Traitement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52331" y="2615184"/>
            <a:ext cx="2215819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POST /process : transcription, extraction contrainte, résumé français, avertissements.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77240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77240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23544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25880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Réponse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n8n répond au technicien avec son résumé.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90034" y="3493008"/>
            <a:ext cx="3411626" cy="1207008"/>
          </a:xfrm>
          <a:prstGeom prst="rect">
            <a:avLst/>
          </a:prstGeom>
          <a:solidFill>
            <a:srgbClr val="E9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90034" y="3493008"/>
            <a:ext cx="3411626" cy="3657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36338" y="3675888"/>
            <a:ext cx="310896" cy="31089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36338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8674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Journal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36338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Ensuite seulement : POST /journal ajoute la ligne dans l'onglet du chantier.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02828" y="3493008"/>
            <a:ext cx="3411626" cy="120700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2828" y="3493008"/>
            <a:ext cx="3411626" cy="3657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149132" y="3675888"/>
            <a:ext cx="310896" cy="31089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49132" y="3726180"/>
            <a:ext cx="310896" cy="2377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551468" y="3721608"/>
            <a:ext cx="2725826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Notification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49132" y="4096512"/>
            <a:ext cx="3119018" cy="4937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050" b="0" i="0">
                <a:solidFill>
                  <a:srgbClr val="575656"/>
                </a:solidFill>
                <a:latin typeface="Arial"/>
              </a:rPr>
              <a:t>Les responsables sont notifiés.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7240" y="5047488"/>
            <a:ext cx="32004" cy="76809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96695" y="5074920"/>
            <a:ext cx="10417759" cy="7498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L'ordre de 5 et 6 est un invariant, pas une préférence. Deux files de reprise le rendent tenable : une écriture Google Sheets refusée est garée et rejouée toutes les cinq minutes ; un message qu'aucun moteur n'a pu traiter est garé lui aussi, le service répond 202 et non 502, et le technicien reçoit « rapport reçu, il sera enregistré » plutôt qu'un échec. Rien n'est perdu, et l'ordre des messages d'un même technicien est préservé.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8-Point Star 2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journal de chantier : deux règles qui le rendent juste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47088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Règle 1 — une ligne par message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08h12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120 m
étage RDC</a:t>
            </a:r>
          </a:p>
        </p:txBody>
      </p:sp>
      <p:sp>
        <p:nvSpPr>
          <p:cNvPr id="8" name="Rectangle 7"/>
          <p:cNvSpPr/>
          <p:nvPr/>
        </p:nvSpPr>
        <p:spPr>
          <a:xfrm>
            <a:off x="3724118" y="2176272"/>
            <a:ext cx="2690846" cy="8961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70422" y="2286000"/>
            <a:ext cx="2398238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8A8A8A"/>
                </a:solidFill>
                <a:latin typeface="Arial"/>
              </a:rPr>
              <a:t>Message  17h40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70422" y="2542032"/>
            <a:ext cx="2398238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goulotte 80 m
étage E1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477230" y="3182112"/>
            <a:ext cx="237744" cy="310896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77240" y="3602736"/>
            <a:ext cx="5637724" cy="932688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602736"/>
            <a:ext cx="5637724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749039"/>
            <a:ext cx="534511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278E4"/>
                </a:solidFill>
                <a:latin typeface="Arial"/>
              </a:rPr>
              <a:t>Deux lignes  —  12/08, technicien 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4005072"/>
            <a:ext cx="5345116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4000"/>
              </a:lnSpc>
            </a:pPr>
            <a:r>
              <a:rPr sz="1250" b="1" i="0">
                <a:solidFill>
                  <a:srgbClr val="1C1F23"/>
                </a:solidFill>
                <a:latin typeface="Arial"/>
              </a:rPr>
              <a:t>goulotte 120 m</a:t>
            </a:r>
            <a:r>
              <a:rPr sz="1250" b="0" i="0">
                <a:solidFill>
                  <a:srgbClr val="575656"/>
                </a:solidFill>
                <a:latin typeface="Arial"/>
              </a:rPr>
              <a:t>   puis   </a:t>
            </a:r>
            <a:r>
              <a:rPr sz="1250" b="1" i="0">
                <a:solidFill>
                  <a:srgbClr val="0278E4"/>
                </a:solidFill>
                <a:latin typeface="Arial"/>
              </a:rPr>
              <a:t>+80</a:t>
            </a:r>
            <a:r>
              <a:rPr sz="1250" b="0" i="0">
                <a:solidFill>
                  <a:srgbClr val="1C1F23"/>
                </a:solidFill>
                <a:latin typeface="Arial"/>
              </a:rPr>
              <a:t>   ·   totaux de l'onglet : 200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663440"/>
            <a:ext cx="5637724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Fusionner les deux messages détruirait de l'information : </a:t>
            </a:r>
            <a:r>
              <a:rPr sz="1150" b="1" i="0">
                <a:solidFill>
                  <a:srgbClr val="1C1F23"/>
                </a:solidFill>
                <a:latin typeface="Arial"/>
              </a:rPr>
              <a:t>un chiffre faux dicté l'après-midi écraserait sur place un chiffre juste du matin. Rien ne lit une ligne isolée — les totaux somment l'onglet — et les JH se lisent au maximum, jamais en somme.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17884" y="1847088"/>
            <a:ext cx="4496571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B8E36"/>
                </a:solidFill>
                <a:latin typeface="Arial"/>
              </a:rPr>
              <a:t>Règle 2 — réconciliation de stock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7884" y="2212848"/>
            <a:ext cx="4496571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La référence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dernier stock connu moins l'installé.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chiffre rapporté l'emporte toujours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et devient la nouvelle référence.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écart émet un avertissement chiffré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au lieu de choisir silencieusement.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7884" y="4041648"/>
            <a:ext cx="4496571" cy="162763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73916" y="4224528"/>
            <a:ext cx="3984507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Une livraison et une perte sont identiques pour l'arithmétique. </a:t>
            </a:r>
            <a:r>
              <a:rPr sz="1250" b="0" i="0">
                <a:solidFill>
                  <a:srgbClr val="C0C0C0"/>
                </a:solidFill>
                <a:latin typeface="Arial"/>
              </a:rPr>
              <a:t>Le système ne peut pas trancher, donc il ne tranche pas : il écrit l'écart et son montant, et laisse un humain décider. C'est la même règle que partout ailleurs dans la chaîne — jamais d'échec silencieux, jamais de valeur devinée.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8-Point Star 16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3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champ qui n'existe pas encore : une colonne créée à la volée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37943"/>
            <a:ext cx="32004" cy="786384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96695" y="1865375"/>
            <a:ext cx="10417759" cy="768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300" b="0" i="0">
                <a:solidFill>
                  <a:srgbClr val="1C1F23"/>
                </a:solidFill>
                <a:latin typeface="Arial"/>
              </a:rPr>
              <a:t>Un rapport nommant quarante pièces sur huit types d'article déposait une ligne vide des huit : la quantité était extraite correctement, puis abandonnée faute d'un champ où la ranger. Aucune erreur n'était levée — une perte parfaitement silencieuse.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4893118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8A8A8A"/>
                </a:solidFill>
                <a:latin typeface="Arial"/>
              </a:rPr>
              <a:t>Ce que dit le technicien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3163824"/>
            <a:ext cx="4893118" cy="786384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3310128"/>
            <a:ext cx="456393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200" b="0" i="1">
                <a:solidFill>
                  <a:srgbClr val="1C1F23"/>
                </a:solidFill>
                <a:latin typeface="Arial"/>
              </a:rPr>
              <a:t>« … w rakkabt rbaa prises doubles étanches »</a:t>
            </a:r>
          </a:p>
        </p:txBody>
      </p:sp>
      <p:sp>
        <p:nvSpPr>
          <p:cNvPr id="9" name="Down Arrow 8"/>
          <p:cNvSpPr/>
          <p:nvPr/>
        </p:nvSpPr>
        <p:spPr>
          <a:xfrm>
            <a:off x="3104927" y="4059936"/>
            <a:ext cx="237744" cy="274320"/>
          </a:xfrm>
          <a:prstGeom prst="downArrow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4443984"/>
            <a:ext cx="4893118" cy="1225296"/>
          </a:xfrm>
          <a:prstGeom prst="rect">
            <a:avLst/>
          </a:prstGeom>
          <a:solidFill>
            <a:srgbClr val="E8F3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7240" y="4443984"/>
            <a:ext cx="4893118" cy="3657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41832" y="4590288"/>
            <a:ext cx="4563934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6000"/>
              </a:lnSpc>
            </a:pPr>
            <a:r>
              <a:rPr sz="1150" b="1" i="0">
                <a:solidFill>
                  <a:srgbClr val="0278E4"/>
                </a:solidFill>
                <a:latin typeface="Arial"/>
              </a:rPr>
              <a:t>articles_libres</a:t>
            </a:r>
            <a:r>
              <a:rPr sz="1150" b="0" i="0">
                <a:solidFill>
                  <a:srgbClr val="1C1F23"/>
                </a:solidFill>
                <a:latin typeface="Arial"/>
              </a:rPr>
              <a:t>  {« prise double étanche encastrée »: 4}</a:t>
            </a:r>
          </a:p>
          <a:p>
            <a:pPr>
              <a:lnSpc>
                <a:spcPct val="116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→ colonne créée dans l'onglet du chantier, valeur écrite, article inscrit au registre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3278" y="2834640"/>
            <a:ext cx="5241176" cy="2834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Une identité normalisée, pas le libellé dicté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prises doubles étanches » et « prise double étanche encastrée » se réduisent au même slug. L'onglet ne gagne pas une seconde colonne parce qu'un technicien a mis un pluriel.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Registre global, colonne locale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colonne appartient à l'onglet qui l'a déclarée ; le nom est partagé, donc un second site réutilise l'orthographe au lieu d'en inventer une parallèle.</a:t>
            </a:r>
          </a:p>
          <a:p>
            <a:pPr>
              <a:spcAft>
                <a:spcPts val="4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La validation vient après, jamais avant</a:t>
            </a:r>
          </a:p>
          <a:p>
            <a:pPr>
              <a:lnSpc>
                <a:spcPct val="116000"/>
              </a:lnSpc>
              <a:spcAft>
                <a:spcPts val="12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La quantité est comptée immédiatement ; la page Chantiers confirme, corrige — un libellé corrigé vers un libellé existant fusionne les deux colonnes — ou supprime.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zHero"/>
          <p:cNvSpPr/>
          <p:nvPr/>
        </p:nvSpPr>
        <p:spPr>
          <a:xfrm rot="2700000">
            <a:off x="10088593" y="4114800"/>
            <a:ext cx="2743200" cy="274320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Protocole, et une décision de méthode assumée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moteurs de transcription
évalués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clips réels de
techniciens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 + 12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par API
et en local sur GPU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56231"/>
            <a:ext cx="2508427" cy="13258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56231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30551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RTX 3070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52344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8 Go, demi-précision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77240" y="3401568"/>
            <a:ext cx="10637215" cy="192024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77240" y="3401568"/>
            <a:ext cx="45720" cy="192024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3621024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1" i="0">
                <a:solidFill>
                  <a:srgbClr val="1C1F23"/>
                </a:solidFill>
                <a:latin typeface="Arial"/>
              </a:rPr>
              <a:t>Ni WER, ni CER — et pourquoi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" y="4023360"/>
            <a:ext cx="10015423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0" i="0">
                <a:solidFill>
                  <a:srgbClr val="575656"/>
                </a:solidFill>
                <a:latin typeface="Arial"/>
              </a:rPr>
              <a:t>Établir une vérité terrain en darija suppose une orthographe de référence qui n'existe pas : deux transcriptions également justes divergent sur l'écriture, et le WER punit cette divergence comme une erreur de sens. Le critère retenu est donc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applicatif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la préservation des quantités numériques et des emprunts techniques français — jugé par un locuteur natif contre l'audio, parce que c'est exactement ce que le journal consomme. La limite est assumée : le classement est rigoureux mais non reproductible par un tiers sans le même locuteur.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2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8-Point Star 12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— moteurs accessibles par API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3" cy="15544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868078"/>
                <a:gridCol w="1074466"/>
                <a:gridCol w="1074466"/>
                <a:gridCol w="1611699"/>
                <a:gridCol w="1504252"/>
                <a:gridCol w="1504252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Moteur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Clips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Erreurs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Latence moy.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Groq (Whisper large-v3)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1,53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0,483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613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Gemini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16,94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non exposée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20 651 *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Hugging Face (affinage darija)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575656"/>
                          </a:solidFill>
                          <a:latin typeface="Arial"/>
                        </a:rPr>
                        <a:t>jeton absent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3547872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4.2 — Comparaison des moteurs par API (7 août 2026). * chiffre faussé par une boucle de répétition du modèle.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3913632"/>
            <a:ext cx="10637215" cy="1783080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3913632"/>
            <a:ext cx="45720" cy="178308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96512"/>
            <a:ext cx="10015423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50" b="1" i="0">
                <a:solidFill>
                  <a:srgbClr val="1C1F23"/>
                </a:solidFill>
                <a:latin typeface="Arial"/>
              </a:rPr>
              <a:t>Le constat majeur : le moteur le plus rapide déforme les quantités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" y="4480560"/>
            <a:ext cx="10015423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Sur un même clip — Gemini :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‎40 كابل‎ · ‎12 پانُو‎ · 3ème étage</a:t>
            </a:r>
            <a:r>
              <a:rPr sz="1300" b="0" i="0">
                <a:solidFill>
                  <a:srgbClr val="575656"/>
                </a:solidFill>
                <a:latin typeface="Arial"/>
              </a:rPr>
              <a:t>   contre Groq : </a:t>
            </a:r>
            <a:r>
              <a:rPr sz="1300" b="1" i="0">
                <a:solidFill>
                  <a:srgbClr val="C0392B"/>
                </a:solidFill>
                <a:latin typeface="Arial"/>
              </a:rPr>
              <a:t>mniya dyal panno, Pouzina ssimetro, 3O mietage</a:t>
            </a:r>
          </a:p>
          <a:p>
            <a:pPr>
              <a:lnSpc>
                <a:spcPct val="125000"/>
              </a:lnSpc>
            </a:pPr>
            <a:r>
              <a:rPr sz="1300" b="0" i="0">
                <a:solidFill>
                  <a:srgbClr val="575656"/>
                </a:solidFill>
                <a:latin typeface="Arial"/>
              </a:rPr>
              <a:t>Le schéma métier est intégralement composé de quantités et de localisations. Un moteur qui fusionne un chiffre dans le mot suivant ne donne rien à extraire — et le système conclut alors « aucune donnée » sur un rapport qui en contenait.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Résultats locaux : la confiance du modèle est un leurre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28799"/>
          <a:ext cx="10637214" cy="24917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992978"/>
                <a:gridCol w="1411059"/>
                <a:gridCol w="1411059"/>
                <a:gridCol w="1519602"/>
                <a:gridCol w="1302516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Confiance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Caractères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Chiffres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boumehdi/wav2vec2-moroccan-darija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0,7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0,916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amineouaki/xlsr-53-darija-combined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6,3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493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amineouaki/wav2vec2-darija-combined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0,853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ychafiqui/whisper-medium-darija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3,7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0,843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BounharAbdelaziz/Morocco-Darija-STT-large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7,7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0,791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openai/whisper-large-v3  (contrôle)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5,7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0,582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214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06324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C-Ilyas/whisper-base-darija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5,0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0,548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77240" y="431596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4.3 — Extrait de la campagne locale (12 moteurs, 11 clips, RTX 3070). Tri par confiance décroissante.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700016"/>
            <a:ext cx="10637215" cy="1298448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4919472"/>
            <a:ext cx="10015423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</a:pPr>
            <a:r>
              <a:rPr sz="1350" b="1" i="0">
                <a:solidFill>
                  <a:srgbClr val="FFFFFF"/>
                </a:solidFill>
                <a:latin typeface="Arial"/>
              </a:rPr>
              <a:t>Le tableau est trié par confiance précisément pour montrer qu'il ne faut pas s'y fier. </a:t>
            </a:r>
            <a:r>
              <a:rPr sz="1350" b="0" i="0">
                <a:solidFill>
                  <a:srgbClr val="C9C9C9"/>
                </a:solidFill>
                <a:latin typeface="Arial"/>
              </a:rPr>
              <a:t>boumehdi domine la colonne à 0,916 et perd purement et simplement le « 40 » ; le meilleur moteur n'arrive qu'en cinquième position. exp(mean logprob) mesure la certitude du décodeur, jamais son exactitude — et la colonne « chiffres » est elle-même un leurre, les affinages écrivant les nombres en toutes lettres arabes (‎ربعين‎ pour 40), forme que la chaîne d'extraction lit sans difficulté.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référence d'exactitude, et sa place dans la chaîne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19655"/>
            <a:ext cx="10637215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 i="0">
                <a:solidFill>
                  <a:srgbClr val="1C1F23"/>
                </a:solidFill>
                <a:latin typeface="Arial"/>
              </a:rPr>
              <a:t>Clip de référence : </a:t>
            </a:r>
            <a:r>
              <a:rPr sz="1300" b="0" i="1">
                <a:solidFill>
                  <a:srgbClr val="575656"/>
                </a:solidFill>
                <a:latin typeface="Arial"/>
              </a:rPr>
              <a:t>« hier 20/07/2026, arrivés à Essaouira à 1 h, vérifié le chemin de 27 câbles, pris le métrage, coupés, vérifié le chemin de la fibre, sortis à 7 h »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77240" y="2304288"/>
          <a:ext cx="10637214" cy="1682496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34404"/>
                <a:gridCol w="3301204"/>
                <a:gridCol w="440160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Transcription obtenue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Arial"/>
                        </a:rPr>
                        <a:t>Conséquence sur les champs métier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Morocco-Darija-STT-large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‎27‎ كابل    فيريفينا    لافيبر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1C1F23"/>
                          </a:solidFill>
                          <a:latin typeface="Arial"/>
                        </a:rPr>
                        <a:t>Tous les champs survivent : quantité, verbe technique, matériel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whisper-large-v3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فرحنا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vérifier » devient « nous nous sommes réjouis »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ychafiqui/medium-darija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السبعة وعشر وعشر الين كابل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575656"/>
                          </a:solidFill>
                          <a:latin typeface="Arial"/>
                        </a:rPr>
                        <a:t>« 27 câbles » : la quantité est détruite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77240" y="4041648"/>
            <a:ext cx="10637215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8A8A"/>
                </a:solidFill>
                <a:latin typeface="Arial"/>
              </a:rPr>
              <a:t>Tableau 4.4 — Comportement comparé sur les champs métier.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7240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77240" y="4407408"/>
            <a:ext cx="5135727" cy="45720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14983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gagné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Seul moteur à préserver simultanément les quantités numériques et les emprunts techniques français. Conserve aussi les noms propres du domaine — Novec, Essaouira, Kenitra — sur l'ensemble des clips. Licence Apache 2.0.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78727" y="4407408"/>
            <a:ext cx="5135727" cy="157276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440740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6471" y="4645152"/>
            <a:ext cx="4660239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1C1F23"/>
                </a:solidFill>
                <a:latin typeface="Arial"/>
              </a:rPr>
              <a:t>Ce qui est payé</a:t>
            </a:r>
          </a:p>
          <a:p>
            <a:pPr>
              <a:lnSpc>
                <a:spcPct val="120000"/>
              </a:lnSpc>
            </a:pPr>
            <a:r>
              <a:rPr sz="1200" b="0" i="0">
                <a:solidFill>
                  <a:srgbClr val="575656"/>
                </a:solidFill>
                <a:latin typeface="Arial"/>
              </a:rPr>
              <a:t>7,7 s de latence moyenne, le plus lent des douze, contre 1,53 s pour l'API de Groq, et 4 Go de mémoire graphique immobilisés. C'est ce coût qui lui vaut, en production, la position de repli : la chaîne livrée est gemini, local, groq. Le banc d'essai désigne la référence d'exactitude ; l'ordre d'appel est une décision d'exploitation.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8-Point Star 1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BANC D'ESSAI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Du texte au tableau : huit modèles, dix cas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77240" y="1874519"/>
          <a:ext cx="10637212" cy="267004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117804"/>
                <a:gridCol w="1558902"/>
                <a:gridCol w="1375501"/>
                <a:gridCol w="1467202"/>
                <a:gridCol w="1925702"/>
                <a:gridCol w="1192101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Modèle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répondus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Exactitude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Cas parfaits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Valeurs inventées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FFFFFF"/>
                          </a:solidFill>
                          <a:latin typeface="Arial"/>
                        </a:rPr>
                        <a:t>Latence</a:t>
                      </a:r>
                    </a:p>
                  </a:txBody>
                  <a:tcPr marL="91440" marR="91440" marT="27432" marB="27432" anchor="ctr">
                    <a:solidFill>
                      <a:srgbClr val="1C1F2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openai/gpt-oss-120b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 i="0">
                          <a:solidFill>
                            <a:srgbClr val="1C1F23"/>
                          </a:solidFill>
                          <a:latin typeface="Arial"/>
                        </a:rPr>
                        <a:t>1,72 s</a:t>
                      </a:r>
                    </a:p>
                  </a:txBody>
                  <a:tcPr marL="91440" marR="91440" marT="27432" marB="27432" anchor="ctr">
                    <a:solidFill>
                      <a:srgbClr val="E8F3F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gemini-flash-lite-latest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0,980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9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1,04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gemini-3.6-flash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1,000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 /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4,98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llama-3.3-70b-versatile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0,922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0,69 s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llama-3.1-8b-instant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7 / 10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0,876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 /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0,50 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qwen/qwen3.6-27b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0 / 10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0" i="0">
                          <a:solidFill>
                            <a:srgbClr val="575656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91440" marR="91440" marT="27432" marB="27432" anchor="ctr">
                    <a:solidFill>
                      <a:srgbClr val="F4F5F3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777240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4590288"/>
            <a:ext cx="5135727" cy="457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14983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rapidité ne rachète rien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llama-3.1-8b-instant : le plus rapide du tableau, et cinq valeurs inventées — dont un client qu'aucun cas ne mentionne.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278727" y="4590288"/>
            <a:ext cx="5135727" cy="93268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78727" y="4590288"/>
            <a:ext cx="5135727" cy="45720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6471" y="4773168"/>
            <a:ext cx="4660239" cy="69494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1" i="0">
                <a:solidFill>
                  <a:srgbClr val="1C1F23"/>
                </a:solidFill>
                <a:latin typeface="Arial"/>
              </a:rPr>
              <a:t>La disponibilité prime</a:t>
            </a:r>
          </a:p>
          <a:p>
            <a:pPr>
              <a:lnSpc>
                <a:spcPct val="115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gemini-3.6-flash obtient 1,000 — sur les quatre cas traités avant l'épuisement du quota gratuit. Parfait puis muet : c'est un repli, pas un primaire.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00" b="0" i="0">
                <a:solidFill>
                  <a:srgbClr val="1C1F23"/>
                </a:solidFill>
                <a:latin typeface="Arial"/>
              </a:rPr>
              <a:t>La chaîne déployée est gpt-oss-120b → 3.5-flash-lite → flash-lite-latest : elle alterne les fournisseurs, Groq et Google comptant leurs quotas séparément. Le jeu de cas en compte vingt-cinq aujourd'hui, et une seconde campagne a montré ce qu'un repli ne rattrape pas : un modèle qui répond 200 avec un objet vide.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19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4 — CONCEPTION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lit le modèle, et ce qu'il ne peut pas en faire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5977" y="1723644"/>
            <a:ext cx="3780248" cy="4014216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15-ai-inpu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6269" y="1773936"/>
            <a:ext cx="3679664" cy="3913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34080" y="1847088"/>
            <a:ext cx="4680374" cy="3840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Quatre entrées, une seule est le message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L'âme (identité, ne jamais inventer), l'instruction d'extraction et le profil du technicien accompagnent chaque appel.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vocabulaire n'a pas d'âme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Whisper lit son champ comme le texte qui précède le clip : l'âme y serait recopiée dans la transcription.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Le profil est un contexte, jamais une source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« Intervient surtout sur Sidi Maarouf » est à un pas de remplir le chantier d'un message qui n'a nommé aucun site. L'instruction l'interdit, et interdit les nombres.</a:t>
            </a:r>
          </a:p>
          <a:p>
            <a:pPr>
              <a:spcAft>
                <a:spcPts val="300"/>
              </a:spcAft>
            </a:pPr>
            <a:r>
              <a:rPr sz="1350" b="1" i="0">
                <a:solidFill>
                  <a:srgbClr val="0278E4"/>
                </a:solidFill>
                <a:latin typeface="Arial"/>
              </a:rPr>
              <a:t>La réponse part avant l'écriture</a:t>
            </a:r>
          </a:p>
          <a:p>
            <a:pPr>
              <a:lnSpc>
                <a:spcPct val="116000"/>
              </a:lnSpc>
              <a:spcAft>
                <a:spcPts val="1100"/>
              </a:spcAft>
            </a:pPr>
            <a:r>
              <a:rPr sz="1150" b="0" i="0">
                <a:solidFill>
                  <a:srgbClr val="575656"/>
                </a:solidFill>
                <a:latin typeface="Arial"/>
              </a:rPr>
              <a:t>Le résumé revient au technicien d'abord ; un échec Google lui coûte son accusé de réception, jamais son message.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760720"/>
            <a:ext cx="5637724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3.14 — Les quatre sources d'une extraction et les trois issues.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20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1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8-Point Star 11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Périmètre livré et en production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Telegram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 WhatsApp Cloud API — webhook signé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Transcription — 3 moteurs, chaîne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Extraction structurée — 3 chaînes de repli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Entrée par photo — modèle de vision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Journal de chantier par site — ajout, stock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Miroir plat et table d'agrégation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Boîte de réception — réponse et transcription corrigeable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324447" y="1856231"/>
            <a:ext cx="5090007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Observabilité PostgreSQL — 26 tables, deux files de reprise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Tableau de bord trilingue FR / EN / 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Organigramme, comptes, chantiers, bordereau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Ordonnanceur — 9 tâches, page Automatisation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Rapports quotidien et hebdomadaire — e-mail et document .docx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Colonnes d'article créées à la volée, puis confirmées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Réceptions de matériel et alertes de stock en jours de couverture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Consommation des offres gratuites, mesurée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B8E36"/>
                </a:solidFill>
                <a:latin typeface="Arial"/>
              </a:rPr>
              <a:t>✓  </a:t>
            </a:r>
            <a:r>
              <a:rPr sz="1250" b="0" i="0">
                <a:solidFill>
                  <a:srgbClr val="1C1F23"/>
                </a:solidFill>
                <a:latin typeface="Arial"/>
              </a:rPr>
              <a:t>Moteur local sur GPU, conteneurisé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4626864"/>
            <a:ext cx="10637215" cy="1298448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77240" y="4626864"/>
            <a:ext cx="45720" cy="12984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828031"/>
            <a:ext cx="10015423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</a:pPr>
            <a:r>
              <a:rPr sz="1350" b="1" i="0">
                <a:solidFill>
                  <a:srgbClr val="1C1F23"/>
                </a:solidFill>
                <a:latin typeface="Arial"/>
              </a:rPr>
              <a:t>Dès la phase 3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— le planning la prévoyait en phase 4 — la chaîne complète a été validée en conditions réelles : note vocale, détection, téléchargement, transcription, extraction, résumé français, réponse de confirmation. Le risque d'intégration majeur du projet a été neutralisé immédiatement. Lors de ces essais, </a:t>
            </a:r>
            <a:r>
              <a:rPr sz="1350" b="1" i="0">
                <a:solidFill>
                  <a:srgbClr val="1C1F23"/>
                </a:solidFill>
                <a:latin typeface="Arial"/>
              </a:rPr>
              <a:t>le repli d'extraction s'est déclenché seul</a:t>
            </a:r>
            <a:r>
              <a:rPr sz="1350" b="0" i="0">
                <a:solidFill>
                  <a:srgbClr val="575656"/>
                </a:solidFill>
                <a:latin typeface="Arial"/>
              </a:rPr>
              <a:t> sur indisponibilité du fournisseur principal, validant la conception sans intervention.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Le tableau de bord : consulter, corriger, administrer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018" y="1760220"/>
            <a:ext cx="6687516" cy="380390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310" y="1810512"/>
            <a:ext cx="6586932" cy="3703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691429" y="1883664"/>
            <a:ext cx="3723025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Trilingue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Français, anglais, arabe. L'arabe impose le sens droite-à-gauche sur toute l'interface.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Sans dépendance d'UI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React 19 et Tailwind v4, graphiques en SVG écrits à la main, aucune bibliothèque de composants.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Douze écrans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Vue d'ensemble, réception, rapports, quotidien, hebdomadaire, automatisation, tâches, journaux, file de reprise, consommation, équipe, chantiers.</a:t>
            </a:r>
          </a:p>
          <a:p>
            <a:pPr>
              <a:spcAft>
                <a:spcPts val="300"/>
              </a:spcAft>
            </a:pPr>
            <a:r>
              <a:rPr sz="1400" b="1" i="0">
                <a:solidFill>
                  <a:srgbClr val="0278E4"/>
                </a:solidFill>
                <a:latin typeface="Arial"/>
              </a:rPr>
              <a:t>Organigramme éditable</a:t>
            </a:r>
          </a:p>
          <a:p>
            <a:pPr>
              <a:lnSpc>
                <a:spcPct val="118000"/>
              </a:lnSpc>
              <a:spcAft>
                <a:spcPts val="1300"/>
              </a:spcAft>
            </a:pPr>
            <a:r>
              <a:rPr sz="1200" b="0" i="0">
                <a:solidFill>
                  <a:srgbClr val="575656"/>
                </a:solidFill>
                <a:latin typeface="Arial"/>
              </a:rPr>
              <a:t>Une personne, plusieurs canaux : le rattachement d'un technicien à un chef porte la hiérarchie, jamais le chantier de ses rapports.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5632704"/>
            <a:ext cx="6595073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Figure 5.1 — Vue d'ensemble, thème sombre, connectée à la pile complète.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écrans récents : ce qu'il reste, et où en est le chantier</a:t>
            </a:r>
          </a:p>
        </p:txBody>
      </p:sp>
      <p:sp>
        <p:nvSpPr>
          <p:cNvPr id="4" name="Rectangle 3"/>
          <p:cNvSpPr/>
          <p:nvPr/>
        </p:nvSpPr>
        <p:spPr>
          <a:xfrm>
            <a:off x="1454428" y="1760220"/>
            <a:ext cx="3808783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20" y="1810512"/>
            <a:ext cx="3708199" cy="208483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7931245" y="1760220"/>
            <a:ext cx="1803259" cy="2185415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bordereau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1537" y="1810512"/>
            <a:ext cx="1702675" cy="20848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Consommation — les trois offres gratuites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968496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Chantiers — le bordereau d'un site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334256"/>
            <a:ext cx="10637215" cy="17007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Un quota épuisé ne lève aucune erreur.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chaîne bascule sur le fournisseur suivant, ou WhatsApp se tait : vu de l'extérieur, une journée normale. C'est la raison d'être de l'écran.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Chaque chiffre dit d'où il vient.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Groq publie son quota dans ses en-têtes — « mesuré » ; Gemini n'en publie aucun, son plafond est une constante — « documenté ». Un en-tête absent est enregistré NULL, jamais 0.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L'avancement n'est stocké nulle part.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quantité installée est recalculée depuis le journal à chaque appel : le journal étant le seul endroit où une quantité est saisie, un total conservé ne pourrait que dériver.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3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8-Point Star 13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RÉALISATION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Deux familles d'avertissements, deux destins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1486956" y="1723644"/>
            <a:ext cx="3743727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chantie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48" y="1773936"/>
            <a:ext cx="3643143" cy="20482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103353" y="1723644"/>
            <a:ext cx="1459044" cy="2148840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7" name="Picture 6" descr="en-chantiers-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645" y="1773936"/>
            <a:ext cx="1358460" cy="20482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895344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Alertes matière : permanentes, bornées à trois lignes, « Ignorer »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51295" y="3895344"/>
            <a:ext cx="51631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00" b="0" i="1">
                <a:solidFill>
                  <a:srgbClr val="8A8A8A"/>
                </a:solidFill>
                <a:latin typeface="Arial"/>
              </a:rPr>
              <a:t>Le matériel déclaré hors bordereau, sur le site qui l'a déclaré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61104"/>
            <a:ext cx="10637215" cy="17739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A — alertes matière : aucune colonne.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Recalculées à la demande depuis le journal, les réceptions et le bordereau. Un chiffre dérivé de trois sources serait périmé avant d'être lu. Quatre niveaux, dont « excédent », testé avant les pénuries : en fin de chantier « commandez-en » serait la phrase inverse.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Famille B — avertissements de ligne : une colonne, dix clés, cinq drapeaux.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« Écart de stock » est le seul qui porte sur une contradiction numérique et il ne lève pas le drapeau : l'écart est chiffré, une livraison et une perte sont arithmétiquement identiques, et seul le technicien peut trancher.</a:t>
            </a:r>
          </a:p>
          <a:p>
            <a:pPr>
              <a:lnSpc>
                <a:spcPct val="122000"/>
              </a:lnSpc>
              <a:spcAft>
                <a:spcPts val="800"/>
              </a:spcAft>
            </a:pPr>
            <a:r>
              <a:rPr sz="12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250" b="1" i="0">
                <a:solidFill>
                  <a:srgbClr val="1C1F23"/>
                </a:solidFill>
                <a:latin typeface="Arial"/>
              </a:rPr>
              <a:t>« Ignorer » enregistre la décision, pas l'effacement.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niveau et le reste sont pris en photo au moment du clic ; la mise en sourdine expire d'elle-même dès que la situation empire. Un clic ne peut pas faire taire une pénurie pour toujours.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8-Point Star 37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La chaîne d'intégration continue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 mois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développement
(2 mars – 31 août 2026)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contrôles automatiques
à chaque push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475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tests, sans aucune
clé d'API ni base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38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demandes Dependabot
sur 5 écosystèmes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383280"/>
            <a:ext cx="10637215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50" b="1" i="0">
                <a:solidFill>
                  <a:srgbClr val="0278E4"/>
                </a:solidFill>
                <a:latin typeface="Arial"/>
              </a:rPr>
              <a:t>Les 18 contrôles, par famille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3730752"/>
            <a:ext cx="32004" cy="402336"/>
          </a:xfrm>
          <a:prstGeom prst="rect">
            <a:avLst/>
          </a:prstGeom>
          <a:solidFill>
            <a:srgbClr val="0B8E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37353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Correction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749039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API — ruff, types, 475 tests  ·  Dashboard — tsc, oxlint, build  ·  workflow n8n  ·  Docker compose  ·  parité des locales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77240" y="4187952"/>
            <a:ext cx="32004" cy="402336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1925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Sécurité du code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42062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CodeQL (python)  ·  CodeQL (javascript-typescript)  ·  Semgrep OWASP Top 10  ·  Bandit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77240" y="4645152"/>
            <a:ext cx="32004" cy="402336"/>
          </a:xfrm>
          <a:prstGeom prst="rect">
            <a:avLst/>
          </a:prstGeom>
          <a:solidFill>
            <a:srgbClr val="8E44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46497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Dépendances et secrets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46634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Trivy filesystem  ·  Trivy config  ·  pip-audit  ·  npm audit  ·  gitleaks + check_secrets.py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" y="5102352"/>
            <a:ext cx="32004" cy="402336"/>
          </a:xfrm>
          <a:prstGeom prst="rect">
            <a:avLst/>
          </a:prstGeom>
          <a:solidFill>
            <a:srgbClr val="5756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60120" y="5106924"/>
            <a:ext cx="2331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1" i="0">
                <a:solidFill>
                  <a:srgbClr val="1C1F23"/>
                </a:solidFill>
                <a:latin typeface="Arial"/>
              </a:rPr>
              <a:t>Conformité des fichiers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5120640"/>
            <a:ext cx="8031175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0000"/>
              </a:lnSpc>
            </a:pPr>
            <a:r>
              <a:rPr sz="1150" b="0" i="0">
                <a:solidFill>
                  <a:srgbClr val="575656"/>
                </a:solidFill>
                <a:latin typeface="Arial"/>
              </a:rPr>
              <a:t>Hadolint (api)  ·  Hadolint (Dashboard)  ·  actionlint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Dependabot ouvre ses demandes quotidiennement sur npm, pip, les deux images Docker et les actions GitHub — chacune doit franchir les 18 contrôles avant de pouvoir être fusionnée.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5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8-Point Star 25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5 — QUALITÉ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L'analyse statique externe : SonarCloud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bogue</a:t>
            </a:r>
          </a:p>
        </p:txBody>
      </p:sp>
      <p:sp>
        <p:nvSpPr>
          <p:cNvPr id="8" name="Rectangle 7"/>
          <p:cNvSpPr/>
          <p:nvPr/>
        </p:nvSpPr>
        <p:spPr>
          <a:xfrm>
            <a:off x="3486835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6835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69715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69715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vulnérabilité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96431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A / A / 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fiabilité · sécurité
maintenabilité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06027" y="1828799"/>
            <a:ext cx="2508427" cy="1353312"/>
          </a:xfrm>
          <a:prstGeom prst="rect">
            <a:avLst/>
          </a:prstGeom>
          <a:solidFill>
            <a:srgbClr val="F4F5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06027" y="1828799"/>
            <a:ext cx="2508427" cy="41148"/>
          </a:xfrm>
          <a:prstGeom prst="rect">
            <a:avLst/>
          </a:prstGeom>
          <a:solidFill>
            <a:srgbClr val="0278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88907" y="2103120"/>
            <a:ext cx="2142667" cy="56692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400" b="1" i="0">
                <a:solidFill>
                  <a:srgbClr val="1C1F23"/>
                </a:solidFill>
                <a:latin typeface="Arial"/>
              </a:rPr>
              <a:t>63,1 %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88907" y="2724911"/>
            <a:ext cx="2142667" cy="43891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2000"/>
              </a:lnSpc>
            </a:pPr>
            <a:r>
              <a:rPr sz="1100" b="0" i="0">
                <a:solidFill>
                  <a:srgbClr val="575656"/>
                </a:solidFill>
                <a:latin typeface="Arial"/>
              </a:rPr>
              <a:t>de couverture
mesurée (service Python)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401568"/>
            <a:ext cx="10637215" cy="263347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Fiabilité, sécurité et maintenabilité : A.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La première analyse rendait E et C : une image de conteneur qui s'exécutait en root et installait depuis des sources non épinglées. Trois défauts réels corrigés, un faux positif réfuté, un refus motivé et consigné.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signalement a été refusé, motif consigné.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Verrouiller les empreintes des dépendances du service GPU tirerait la variante processeur de torch et casserait silencieusement l'inférence — la dépendance vient de l'image CUDA.</a:t>
            </a:r>
          </a:p>
          <a:p>
            <a:pPr>
              <a:lnSpc>
                <a:spcPct val="122000"/>
              </a:lnSpc>
              <a:spcAft>
                <a:spcPts val="1000"/>
              </a:spcAft>
            </a:pPr>
            <a:r>
              <a:rPr sz="130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300" b="1" i="0">
                <a:solidFill>
                  <a:srgbClr val="1C1F23"/>
                </a:solidFill>
                <a:latin typeface="Arial"/>
              </a:rPr>
              <a:t>Un vrai bogue de test a été débusqué.</a:t>
            </a:r>
            <a:r>
              <a:rPr sz="1300" b="0" i="0">
                <a:solidFill>
                  <a:srgbClr val="575656"/>
                </a:solidFill>
                <a:latin typeface="Arial"/>
              </a:rPr>
              <a:t>Un test dépendait du fichier .env local : il passait sur la machine de développement et échouait en intégration continue. À lui seul, il maintenait la chaîne au rouge à chaque exécution.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77240" y="5632704"/>
            <a:ext cx="32004" cy="530352"/>
          </a:xfrm>
          <a:prstGeom prst="rect">
            <a:avLst/>
          </a:prstGeom>
          <a:solidFill>
            <a:srgbClr val="8A8A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96695" y="5660136"/>
            <a:ext cx="10417759" cy="512063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</a:pPr>
            <a:r>
              <a:rPr sz="1250" b="0" i="0">
                <a:solidFill>
                  <a:srgbClr val="1C1F23"/>
                </a:solidFill>
                <a:latin typeface="Arial"/>
              </a:rPr>
              <a:t>Cinq conditions du portail sur six sont satisfaites. La sixième exige 80 % de couverture sur le code nouveau : le projet en présente 66,6 %, et une suite hors ligne par construction ne franchira pas ce seuil — le seuil n'est donc pas bloquant en intégration continue.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C1F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 rot="1350000">
            <a:off x="7924537" y="-502919"/>
            <a:ext cx="5120640" cy="5120640"/>
          </a:xfrm>
          <a:prstGeom prst="star8">
            <a:avLst/>
          </a:prstGeom>
          <a:noFill/>
          <a:ln w="31750">
            <a:solidFill>
              <a:srgbClr val="4FA9F5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4FA9F5"/>
                </a:solidFill>
                <a:latin typeface="Arial"/>
              </a:rPr>
              <a:t>6 — DÉMONSTRATION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FFFFFF"/>
                </a:solidFill>
                <a:latin typeface="Arial"/>
              </a:rPr>
              <a:t>La chaîne complète, en direct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011679"/>
            <a:ext cx="10637215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Une note vocale en darija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est envoyée depuis Telegram.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bot répond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avec le résumé en français professionnel et les quantités extraites.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La ligne apparaît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dans l'onglet du chantier ; si la journée est déjà ouverte, les quantités s'affichent +80.</a:t>
            </a:r>
          </a:p>
          <a:p>
            <a:pPr>
              <a:lnSpc>
                <a:spcPct val="122000"/>
              </a:lnSpc>
              <a:spcAft>
                <a:spcPts val="1700"/>
              </a:spcAft>
            </a:pPr>
            <a:r>
              <a:rPr sz="1650" b="1" i="0">
                <a:solidFill>
                  <a:srgbClr val="4FA9F5"/>
                </a:solidFill>
                <a:latin typeface="Arial"/>
              </a:rPr>
              <a:t>▪  </a:t>
            </a:r>
            <a:r>
              <a:rPr sz="1650" b="1" i="0">
                <a:solidFill>
                  <a:srgbClr val="FFFFFF"/>
                </a:solidFill>
                <a:latin typeface="Arial"/>
              </a:rPr>
              <a:t>Le tableau de bord </a:t>
            </a:r>
            <a:r>
              <a:rPr sz="1650" b="0" i="0">
                <a:solidFill>
                  <a:srgbClr val="D8D8D8"/>
                </a:solidFill>
                <a:latin typeface="Arial"/>
              </a:rPr>
              <a:t>affiche le rapport, ses avertissements de qualité et la trace de traitement.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5193792"/>
            <a:ext cx="10637215" cy="786384"/>
          </a:xfrm>
          <a:prstGeom prst="rect">
            <a:avLst/>
          </a:prstGeom>
          <a:solidFill>
            <a:srgbClr val="2A2E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8136" y="5358384"/>
            <a:ext cx="10015423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Si le réseau ou un palier gratuit fait défaut : </a:t>
            </a:r>
            <a:r>
              <a:rPr sz="1250" b="0" i="0">
                <a:solidFill>
                  <a:srgbClr val="B4B4B4"/>
                </a:solidFill>
                <a:latin typeface="Arial"/>
              </a:rPr>
              <a:t>les captures de secours suivent la dernière diapositive et couvrent le même parcours, écran par écran.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9A9A9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9A9A9A"/>
                </a:solidFill>
                <a:latin typeface="Arial"/>
              </a:rPr>
              <a:t>27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8-Point Star 10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BILAN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Contributions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0B8E36"/>
                </a:solidFill>
                <a:latin typeface="Arial"/>
              </a:rPr>
              <a:t>Contributions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architecture hybride dont la frontière a été fixée par une contrainte fonctionnelle identifiée en cours de projet, non par préférence.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banc d'essai de treize moteurs de transcription du darija, avec une critique argumentée du WER et une métrique applicative de substitution.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service d'extraction à sortie contrainte, des chaînes de repli alternant les fournisseurs, et une politique stricte d'absence de données inventées.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 modèle métier reconstruit sur le fichier réel du client : une ligne par message, jamais réécrite, et réconciliation de stock.</a:t>
            </a:r>
          </a:p>
          <a:p>
            <a:pPr>
              <a:lnSpc>
                <a:spcPct val="118000"/>
              </a:lnSpc>
              <a:spcAft>
                <a:spcPts val="900"/>
              </a:spcAft>
            </a:pPr>
            <a:r>
              <a:rPr sz="1250" b="1" i="0">
                <a:solidFill>
                  <a:srgbClr val="0B8E36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Une conception indépendante du canal, démontrée par la mise en service de deux messageries aux contraintes opposées.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24447" y="1828799"/>
            <a:ext cx="5090007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C0392B"/>
                </a:solidFill>
                <a:latin typeface="Arial"/>
              </a:rPr>
              <a:t>Limites énoncées sans détour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24447" y="2167127"/>
            <a:ext cx="5090007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WER et le CER n'ont pas été calculés. Le choix d'une métrique applicative est argumenté, mais il prive la comparaison d'un chiffre universellement reconnu : le classement repose sur un jugement humain, rigoureux mais non reproductible sans le même locuteur.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La suite de tests ne parcourt jamais le réseau réel. Elle sécurise les régressions de logique, non les ruptures de contrat des fournisseurs — qui ont été la source de la majorité des défauts rencontrés.</a:t>
            </a:r>
          </a:p>
          <a:p>
            <a:pPr>
              <a:lnSpc>
                <a:spcPct val="118000"/>
              </a:lnSpc>
              <a:spcAft>
                <a:spcPts val="1100"/>
              </a:spcAft>
            </a:pPr>
            <a:r>
              <a:rPr sz="1250" b="1" i="0">
                <a:solidFill>
                  <a:srgbClr val="C0392B"/>
                </a:solidFill>
                <a:latin typeface="Arial"/>
              </a:rPr>
              <a:t>▪  </a:t>
            </a:r>
            <a:r>
              <a:rPr sz="1250" b="0" i="0">
                <a:solidFill>
                  <a:srgbClr val="575656"/>
                </a:solidFill>
                <a:latin typeface="Arial"/>
              </a:rPr>
              <a:t>Le déploiement pilote auprès des techniciens constitue l'étape suivante ; les chiffres d'usage réel ne sont donc pas encore établis.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9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8-Point Star 9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0278E4"/>
                </a:solidFill>
                <a:latin typeface="Arial"/>
              </a:rPr>
              <a:t>6 — PERSPECTIVES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Ce que ce travail ouvre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1874519"/>
            <a:ext cx="10637215" cy="4160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Constituer la vérité terrain qui manque,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à partir des rapports réels accumulés, afin de publier un WER et un CER et de rendre le classement reproductible.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Affiner un modèle de transcription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sur ce corpus darija propre au câblage — l'apport de l'affinage étant désormais démontré pour un modèle assez grand.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Remplacer Google Sheets par une base de données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lorsque la volumétrie le justifiera : l'infrastructure PostgreSQL est déjà en place.</a:t>
            </a:r>
          </a:p>
          <a:p>
            <a:pPr>
              <a:lnSpc>
                <a:spcPct val="122000"/>
              </a:lnSpc>
              <a:spcAft>
                <a:spcPts val="1300"/>
              </a:spcAft>
            </a:pPr>
            <a:r>
              <a:rPr sz="1450" b="1" i="0">
                <a:solidFill>
                  <a:srgbClr val="0278E4"/>
                </a:solidFill>
                <a:latin typeface="Arial"/>
              </a:rPr>
              <a:t>▪  </a:t>
            </a:r>
            <a:r>
              <a:rPr sz="1450" b="1" i="0">
                <a:solidFill>
                  <a:srgbClr val="1C1F23"/>
                </a:solidFill>
                <a:latin typeface="Arial"/>
              </a:rPr>
              <a:t>Prolonger l'analytique de chantier </a:t>
            </a:r>
            <a:r>
              <a:rPr sz="1450" b="0" i="0">
                <a:solidFill>
                  <a:srgbClr val="575656"/>
                </a:solidFill>
                <a:latin typeface="Arial"/>
              </a:rPr>
              <a:t>— l'avancement par site, le registre des réceptions et les alertes de stock existent ; la prévision de commande, elle, reste à construire.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4315968"/>
            <a:ext cx="10637215" cy="1536192"/>
          </a:xfrm>
          <a:prstGeom prst="rect">
            <a:avLst/>
          </a:prstGeom>
          <a:solidFill>
            <a:srgbClr val="1C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4572000"/>
            <a:ext cx="9942271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4000"/>
              </a:lnSpc>
            </a:pPr>
            <a:r>
              <a:rPr sz="1450" b="0" i="0">
                <a:solidFill>
                  <a:srgbClr val="DDDDDD"/>
                </a:solidFill>
                <a:latin typeface="Arial"/>
              </a:rPr>
              <a:t>Dans les applications des grands modèles de langage, la valeur ne réside pas dans le choix des modèles, mais dans l'architecture qui les entoure : </a:t>
            </a:r>
            <a:r>
              <a:rPr sz="1450" b="1" i="0">
                <a:solidFill>
                  <a:srgbClr val="FFFFFF"/>
                </a:solidFill>
                <a:latin typeface="Arial"/>
              </a:rPr>
              <a:t>contrats de données stricts, chaînes de repli explicites, refus des échecs silencieux, et bancs d'essai assez sceptiques pour se surprendre eux-mêmes.</a:t>
            </a:r>
          </a:p>
          <a:p>
            <a:pPr>
              <a:lnSpc>
                <a:spcPct val="120000"/>
              </a:lnSpc>
            </a:pPr>
            <a:r>
              <a:rPr sz="1250" b="0" i="0">
                <a:solidFill>
                  <a:srgbClr val="A8A8A8"/>
                </a:solidFill>
                <a:latin typeface="Arial"/>
              </a:rPr>
              <a:t>Ce banc d'essai a renversé son hypothèse de départ deux fois, et démasqué un bogue qui lui faisait couronner un vainqueur sur une transcription jamais générée.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29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" name="zHero"/>
          <p:cNvSpPr/>
          <p:nvPr/>
        </p:nvSpPr>
        <p:spPr>
          <a:xfrm rot="2700000">
            <a:off x="2712567" y="-228600"/>
            <a:ext cx="6766560" cy="6766560"/>
          </a:xfrm>
          <a:prstGeom prst="star8">
            <a:avLst/>
          </a:prstGeom>
          <a:noFill/>
          <a:ln w="31750">
            <a:solidFill>
              <a:srgbClr val="0278E4">
                <a:alpha val="14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2606040"/>
            <a:ext cx="1063721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4000" b="1" i="0">
                <a:solidFill>
                  <a:srgbClr val="1C1F23"/>
                </a:solidFill>
                <a:latin typeface="Arial"/>
              </a:rPr>
              <a:t>Merci de votre attention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611880"/>
            <a:ext cx="1063721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0" i="0">
                <a:solidFill>
                  <a:srgbClr val="0278E4"/>
                </a:solidFill>
                <a:latin typeface="Arial"/>
              </a:rPr>
              <a:t>Questions</a:t>
            </a:r>
          </a:p>
        </p:txBody>
      </p:sp>
      <p:pic>
        <p:nvPicPr>
          <p:cNvPr id="4" name="Picture 3" descr="logo-em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5760720"/>
            <a:ext cx="2303035" cy="502920"/>
          </a:xfrm>
          <a:prstGeom prst="rect">
            <a:avLst/>
          </a:prstGeom>
        </p:spPr>
      </p:pic>
      <p:pic>
        <p:nvPicPr>
          <p:cNvPr id="5" name="Picture 4" descr="logo-azn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65815" y="5733288"/>
            <a:ext cx="548640" cy="54864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Boîte de réception — les rapports arrivés, avec leurs avertissements de qualité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inbox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31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Rapports — consultation et correction ligne à ligne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repor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32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Équipe — l'organigramme : directeur, chefs de chantier, techniciens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equip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33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Automatisation — les neuf tâches planifiées et leurs dernières exécutions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automat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34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Journaux — la trace de traitement, n8n et service réunis par correlation_id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log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35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Consommation — ce qu'il reste de chaque offre gratuite, et d'où vient le chiffre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us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36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Thème clair — le thème est un choix persistant de l'utilisateur, pas une préférence système</a:t>
            </a:r>
          </a:p>
        </p:txBody>
      </p:sp>
      <p:sp>
        <p:nvSpPr>
          <p:cNvPr id="4" name="Rectangle 3"/>
          <p:cNvSpPr/>
          <p:nvPr/>
        </p:nvSpPr>
        <p:spPr>
          <a:xfrm>
            <a:off x="2508128" y="1796796"/>
            <a:ext cx="7175437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en-overview-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58420" y="1847088"/>
            <a:ext cx="7074853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37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8" name="zHero"/>
          <p:cNvSpPr/>
          <p:nvPr/>
        </p:nvSpPr>
        <p:spPr>
          <a:xfrm>
            <a:off x="11239205" y="537210"/>
            <a:ext cx="1051560" cy="1051560"/>
          </a:xfrm>
          <a:prstGeom prst="star8">
            <a:avLst/>
          </a:prstGeom>
          <a:noFill/>
          <a:ln w="15875">
            <a:solidFill>
              <a:srgbClr val="0278E4">
                <a:alpha val="22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8-Point Star 8"/>
          <p:cNvSpPr/>
          <p:nvPr/>
        </p:nvSpPr>
        <p:spPr>
          <a:xfrm>
            <a:off x="425196" y="580644"/>
            <a:ext cx="155448" cy="155448"/>
          </a:xfrm>
          <a:prstGeom prst="star8">
            <a:avLst/>
          </a:prstGeom>
          <a:solidFill>
            <a:srgbClr val="0278E4">
              <a:alpha val="10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extBox 1"/>
          <p:cNvSpPr txBox="1"/>
          <p:nvPr/>
        </p:nvSpPr>
        <p:spPr>
          <a:xfrm>
            <a:off x="777240" y="548640"/>
            <a:ext cx="10637215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 i="0">
                <a:solidFill>
                  <a:srgbClr val="8A8A8A"/>
                </a:solidFill>
                <a:latin typeface="Arial"/>
              </a:rPr>
              <a:t>ANNEXE — CAPTURE 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896112"/>
            <a:ext cx="10637215" cy="7132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 i="0">
                <a:solidFill>
                  <a:srgbClr val="1C1F23"/>
                </a:solidFill>
                <a:latin typeface="Arial"/>
              </a:rPr>
              <a:t>Usage mobile — la même interface, consultée depuis un téléphone</a:t>
            </a:r>
          </a:p>
        </p:txBody>
      </p:sp>
      <p:sp>
        <p:nvSpPr>
          <p:cNvPr id="4" name="Rectangle 3"/>
          <p:cNvSpPr/>
          <p:nvPr/>
        </p:nvSpPr>
        <p:spPr>
          <a:xfrm>
            <a:off x="4877423" y="1796796"/>
            <a:ext cx="2436848" cy="4078224"/>
          </a:xfrm>
          <a:prstGeom prst="rect">
            <a:avLst/>
          </a:prstGeom>
          <a:solidFill>
            <a:srgbClr val="FFFFFF"/>
          </a:solidFill>
          <a:ln w="11430">
            <a:solidFill>
              <a:srgbClr val="DFE1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5" name="Picture 4" descr="mobile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7715" y="1847088"/>
            <a:ext cx="2336264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327648"/>
            <a:ext cx="10088575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 i="0">
                <a:solidFill>
                  <a:srgbClr val="8A8A8A"/>
                </a:solidFill>
                <a:latin typeface="Arial"/>
              </a:rPr>
              <a:t>AZnet — Automatisation des rapports journaliers de chantier par IA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65815" y="6327648"/>
            <a:ext cx="5486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8A8A8A"/>
                </a:solidFill>
                <a:latin typeface="Arial"/>
              </a:rPr>
              <a:t>38 / 24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700">
        <p159:morph option="byObject"/>
      </p:transition>
    </mc:Choice>
    <mc:Fallback>
      <p:transition xmlns:p14="http://schemas.microsoft.com/office/powerpoint/2010/main" spd="slow" p14:dur="700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
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Bonjour. Mohammed Yassine MAGRI, filière Ingénierie Informatique et</a:t>
            </a:r>
          </a:p>
          <a:p>
            <a:r>
              <a:t>Réseaux. Sujet : automatiser les rapports journaliers de chantier chez AZNET,</a:t>
            </a:r>
          </a:p>
          <a:p>
            <a:r>
              <a:t>à Rabat, à partir de notes vocales en darija.</a:t>
            </a:r>
          </a:p>
          <a:p>
            <a:r>
              <a:t>Attendre que le jury soit installé avant de commencer.</a:t>
            </a:r>
          </a:p>
          <a:p/>
          <a:p>
            <a:r>
              <a:t>— Design : Bandeau zellige plein : khatam (étoile à 8 branches), le motif qui signe la mosaïque marocaine. La rosace repart vers la diapo suivante — c'est un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Annoncer le parcours en une phrase : le problème, la conception, les</a:t>
            </a:r>
          </a:p>
          <a:p>
            <a:r>
              <a:t>bancs d'essai, la démonstration. Ne pas lire les six points.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 Laisser la citation à l'écran deux secondes avant de parler. C'est la</a:t>
            </a:r>
          </a:p>
          <a:p>
            <a:r>
              <a:t>phrase du directeur : elle pose le problème mieux que je ne le ferais.</a:t>
            </a:r>
          </a:p>
          <a:p/>
          <a:p>
            <a:r>
              <a:t>— Design : La rosace a traversé depuis la couverture, agrandie et tournée.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AZNET pose des infrastructures réseau. Le suivi de chantier se fait</a:t>
            </a:r>
          </a:p>
          <a:p>
            <a:r>
              <a:t>aujourd'hui à la main, le soir, de mémoire.</a:t>
            </a:r>
          </a:p>
          <a:p>
            <a:r>
              <a:t>Chiffre à donner si la question vient : le directeur re-saisit les rapports</a:t>
            </a:r>
          </a:p>
          <a:p>
            <a:r>
              <a:t>lui-même dans son fichier de suivi.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Le cœur du problème : le technicien parle darija, mélange les</a:t>
            </a:r>
          </a:p>
          <a:p>
            <a:r>
              <a:t>emprunts français techniques, et le journal attend des chiffres par colonne.</a:t>
            </a:r>
          </a:p>
          <a:p>
            <a:r>
              <a:t>Insister sur l'écart entre « ce qui est dit » et « ce qui est compté » — c'est</a:t>
            </a:r>
          </a:p>
          <a:p>
            <a:r>
              <a:t>ce que tout le reste de la présentation résout.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Besoins fonctionnels puis non fonctionnels. Souligner la contrainte de</a:t>
            </a:r>
          </a:p>
          <a:p>
            <a:r>
              <a:t>budget zéro : elle explique presque toutes les décisions techniques qui</a:t>
            </a:r>
          </a:p>
          <a:p>
            <a:r>
              <a:t>suivent, y compris la chaîne de repli entre fournisseurs.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Sept phases sur six mois. Le point à faire passer : le bout-en-bout</a:t>
            </a:r>
          </a:p>
          <a:p>
            <a:r>
              <a:t>réel a été atteint en phase 3, une phase avant le planning — le risque</a:t>
            </a:r>
          </a:p>
          <a:p>
            <a:r>
              <a:t>d'intégration a été neutralisé avant d'engager le reste.</a:t>
            </a:r>
          </a:p>
          <a:p>
            <a:r>
              <a:t>Si on demande pourquoi : un défaut d'intégration ne se voit pas hors ligne.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État de l'art de la transcription de l'arabe dialectal. Dire que la</a:t>
            </a:r>
          </a:p>
          <a:p>
            <a:r>
              <a:t>littérature ne tranchait pas pour le darija : c'est ce qui a rendu le banc</a:t>
            </a:r>
          </a:p>
          <a:p>
            <a:r>
              <a:t>d'essai nécessaire plutôt que confortable.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Extraction structurée par LLM : sortie contrainte par schéma, et le</a:t>
            </a:r>
          </a:p>
          <a:p>
            <a:r>
              <a:t>risque central — un modèle qui invente une valeur plausible. C'est le critère</a:t>
            </a:r>
          </a:p>
          <a:p>
            <a:r>
              <a:t>qui décidera du choix au banc d'essai n°2.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Architecture hybride : n8n orchestre, le service Python fait l'IA.</a:t>
            </a:r>
          </a:p>
          <a:p>
            <a:r>
              <a:t>La frontière est le sujet de la diapositive suivante, ne pas l'anticiper ici.</a:t>
            </a:r>
          </a:p>
          <a:p>
            <a:r>
              <a:t>Cinq services, une seule origine publique.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Pourquoi cette frontière : ce qui est testable va dans le code, ce qui</a:t>
            </a:r>
          </a:p>
          <a:p>
            <a:r>
              <a:t>est du câblage reste dans n8n. Exemple concret si on demande — la fusion d'une</a:t>
            </a:r>
          </a:p>
          <a:p>
            <a:r>
              <a:t>ligne de journal a quitté n8n parce qu'un nœud IF ne sait pas relire une ligne.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Dérouler le flux une fois, lentement. Le point non évident :</a:t>
            </a:r>
          </a:p>
          <a:p>
            <a:r>
              <a:t>la réponse au technicien part AVANT l'écriture du Sheet. Une panne Google ne</a:t>
            </a:r>
          </a:p>
          <a:p>
            <a:r>
              <a:t>doit jamais coûter son résumé au technicien ; la ligne est mise en file.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Le journal reproduit le fichier du directeur, colonne pour colonne.</a:t>
            </a:r>
          </a:p>
          <a:p>
            <a:r>
              <a:t>Deux règles : une ligne par message (jamais de réécriture, une correction</a:t>
            </a:r>
          </a:p>
          <a:p>
            <a:r>
              <a:t>fausse ne détruit pas un chiffre juste) et le stock réconcilié, jamais supposé.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Protocole. Assumer la décision de méthode : ni WER ni CER. Le journal</a:t>
            </a:r>
          </a:p>
          <a:p>
            <a:r>
              <a:t>ne consomme que des chiffres et des emprunts techniques — c'est cela qu'on</a:t>
            </a:r>
          </a:p>
          <a:p>
            <a:r>
              <a:t>mesure, jugé par un locuteur natif contre l'audio.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Trois moteurs par API. Groq est rapide, et c'est le plancher toujours</a:t>
            </a:r>
          </a:p>
          <a:p>
            <a:r>
              <a:t>disponible de la chaîne — pas le meilleur.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Douze moteurs en local sur la 3070. Raconter l'hypothèse renversée</a:t>
            </a:r>
          </a:p>
          <a:p>
            <a:r>
              <a:t>puis rétablie : les petits affinages darija perdaient, les grands gagnent.</a:t>
            </a:r>
          </a:p>
          <a:p>
            <a:r>
              <a:t>C'est la diapositive où l'on montre que le résultat n'était pas acquis.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La référence d'exactitude est le modèle darija open-source. Dire</a:t>
            </a:r>
          </a:p>
          <a:p>
            <a:r>
              <a:t>tout de suite ce qui suit, avant qu'on le trouve dans la config : il est en</a:t>
            </a:r>
          </a:p>
          <a:p>
            <a:r>
              <a:t>REPLI en production, pas en tête. 7,7 s et 4 Go de VRAM se paient sur chaque</a:t>
            </a:r>
          </a:p>
          <a:p>
            <a:r>
              <a:t>note ; Gemini répond d'abord, le local prend le relais quand le quota tombe.</a:t>
            </a:r>
          </a:p>
          <a:p>
            <a:r>
              <a:t>Le banc d'essai désigne une référence, l'ordre d'appel est une décision</a:t>
            </a:r>
          </a:p>
          <a:p>
            <a:r>
              <a:t>d'exploitation.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Deuxième banc d'essai. Le chiffre qui frappe : llama-3.1-8b-instant</a:t>
            </a:r>
          </a:p>
          <a:p>
            <a:r>
              <a:t>est le plus rapide du tableau ET invente cinq valeurs. La vitesse ne rachète</a:t>
            </a:r>
          </a:p>
          <a:p>
            <a:r>
              <a:t>rien quand le modèle remplit des champs à partir de rien.</a:t>
            </a:r>
          </a:p>
          <a:p>
            <a:r>
              <a:t>Assumer la limite si on la soulève : les dix cas ont été écrits par l'auteur du</a:t>
            </a:r>
          </a:p>
          <a:p>
            <a:r>
              <a:t>système. C'est dit au §4.3.9 du rapport.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Périmètre livré. Rester factuel, ne pas survendre : ce qui tourne, ce</a:t>
            </a:r>
          </a:p>
          <a:p>
            <a:r>
              <a:t>qui reste à faire.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Le tableau de bord. Trilingue, arabe en RTL, graphiques écrits à la</a:t>
            </a:r>
          </a:p>
          <a:p>
            <a:r>
              <a:t>main — aucune bibliothèque de composants. Les vingt-deux captures sont en</a:t>
            </a:r>
          </a:p>
          <a:p>
            <a:r>
              <a:t>annexe H du rapport.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Dix-huit contrôles à chaque push. Le point honnête : Dependabot ouvre</a:t>
            </a:r>
          </a:p>
          <a:p>
            <a:r>
              <a:t>les demandes, aucune n'a encore été fusionnée — le dispositif rend l'écart</a:t>
            </a:r>
          </a:p>
          <a:p>
            <a:r>
              <a:t>visible, il ne l'a pas encore résorbé.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SonarCloud : la porte qualité passe. Raconter le vrai bogue trouvé — un</a:t>
            </a:r>
          </a:p>
          <a:p>
            <a:r>
              <a:t>test qui dépendait du .env local, vert sur ma machine, rouge en intégration</a:t>
            </a:r>
          </a:p>
          <a:p>
            <a:r>
              <a:t>continue, et qui maintenait la chaîne au rouge à chaque exécution.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 min] DÉMONSTRATION EN DIRECT.</a:t>
            </a:r>
          </a:p>
          <a:p>
            <a:r>
              <a:t>Ordre : envoyer la note vocale → montrer le ⏳ → attendre le ✅ → ouvrir le</a:t>
            </a:r>
          </a:p>
          <a:p>
            <a:r>
              <a:t>Sheet → ouvrir la boîte de réception du tableau de bord.</a:t>
            </a:r>
          </a:p>
          <a:p>
            <a:r>
              <a:t>Si le réseau tombe : passer aux captures d'annexe, elles suivent le même</a:t>
            </a:r>
          </a:p>
          <a:p>
            <a:r>
              <a:t>parcours. Ne pas déboguer devant le jury.</a:t>
            </a:r>
          </a:p>
          <a:p/>
          <a:p>
            <a:r>
              <a:t>— Design : Fond sombre : la rosace passe au turquoise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Compétences techniques puis méthodologiques. La leçon à énoncer :</a:t>
            </a:r>
          </a:p>
          <a:p>
            <a:r>
              <a:t>un résultat flatteur mérite plus de vérification qu'un résultat décevant — le</a:t>
            </a:r>
          </a:p>
          <a:p>
            <a:r>
              <a:t>banc d'essai avait un bogue silencieux qui couronnait un modèle sur une</a:t>
            </a:r>
          </a:p>
          <a:p>
            <a:r>
              <a:t>transcription qu'il n'avait jamais produite.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Perspectives, et les limites assumées. Mieux vaut nommer les limites</a:t>
            </a:r>
          </a:p>
          <a:p>
            <a:r>
              <a:t>avant le jury : jeu de test écrit par l'auteur, pilote court, couverture qui</a:t>
            </a:r>
          </a:p>
          <a:p>
            <a:r>
              <a:t>ne décrit que le service Python.</a:t>
            </a:r>
          </a:p>
          <a:p/>
          <a:p>
            <a:r>
              <a:t>— Design : Rail zellige à gauche + rosace khatam près du titre. Palette d'ornement ancrée sur le bleu AZNET ; le texte et les chiffres gardent les couleurs institutionnelles.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[fin] Remercier, puis se taire. Laisser venir les questions.</a:t>
            </a:r>
          </a:p>
          <a:p>
            <a:r>
              <a:t>Questions attendues : pourquoi pas Whisper seul / pourquoi n8n et pas tout en</a:t>
            </a:r>
          </a:p>
          <a:p>
            <a:r>
              <a:t>code / que se passe-t-il si les quotas gratuits tombent / comment on empêche</a:t>
            </a:r>
          </a:p>
          <a:p>
            <a:r>
              <a:t>le modèle d'inventer une valeur.</a:t>
            </a:r>
          </a:p>
          <a:p/>
          <a:p>
            <a:r>
              <a:t>— Design : Rosace au centre, plein format — dernière image, on la laisse respirer avant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zBand-0"/>
          <p:cNvSpPr/>
          <p:nvPr/>
        </p:nvSpPr>
        <p:spPr>
          <a:xfrm>
            <a:off x="-468911" y="5686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BandIn-0"/>
          <p:cNvSpPr/>
          <p:nvPr/>
        </p:nvSpPr>
        <p:spPr>
          <a:xfrm>
            <a:off x="-196942" y="32883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Band-1"/>
          <p:cNvSpPr/>
          <p:nvPr/>
        </p:nvSpPr>
        <p:spPr>
          <a:xfrm rot="1350000">
            <a:off x="468911" y="5686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BandIn-1"/>
          <p:cNvSpPr/>
          <p:nvPr/>
        </p:nvSpPr>
        <p:spPr>
          <a:xfrm>
            <a:off x="740879" y="32883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Band-2"/>
          <p:cNvSpPr/>
          <p:nvPr/>
        </p:nvSpPr>
        <p:spPr>
          <a:xfrm>
            <a:off x="1406734" y="5686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BandIn-2"/>
          <p:cNvSpPr/>
          <p:nvPr/>
        </p:nvSpPr>
        <p:spPr>
          <a:xfrm>
            <a:off x="1678702" y="32883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Band-3"/>
          <p:cNvSpPr/>
          <p:nvPr/>
        </p:nvSpPr>
        <p:spPr>
          <a:xfrm rot="1350000">
            <a:off x="2344556" y="5686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BandIn-3"/>
          <p:cNvSpPr/>
          <p:nvPr/>
        </p:nvSpPr>
        <p:spPr>
          <a:xfrm>
            <a:off x="2616525" y="32883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Band-4"/>
          <p:cNvSpPr/>
          <p:nvPr/>
        </p:nvSpPr>
        <p:spPr>
          <a:xfrm>
            <a:off x="3282379" y="5686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BandIn-4"/>
          <p:cNvSpPr/>
          <p:nvPr/>
        </p:nvSpPr>
        <p:spPr>
          <a:xfrm>
            <a:off x="3554348" y="32883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Band-5"/>
          <p:cNvSpPr/>
          <p:nvPr/>
        </p:nvSpPr>
        <p:spPr>
          <a:xfrm rot="1350000">
            <a:off x="4220202" y="5686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BandIn-5"/>
          <p:cNvSpPr/>
          <p:nvPr/>
        </p:nvSpPr>
        <p:spPr>
          <a:xfrm>
            <a:off x="4492170" y="32883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Band-6"/>
          <p:cNvSpPr/>
          <p:nvPr/>
        </p:nvSpPr>
        <p:spPr>
          <a:xfrm>
            <a:off x="5158024" y="5686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BandIn-6"/>
          <p:cNvSpPr/>
          <p:nvPr/>
        </p:nvSpPr>
        <p:spPr>
          <a:xfrm>
            <a:off x="5429993" y="32883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Band-7"/>
          <p:cNvSpPr/>
          <p:nvPr/>
        </p:nvSpPr>
        <p:spPr>
          <a:xfrm rot="1350000">
            <a:off x="6095847" y="5686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BandIn-7"/>
          <p:cNvSpPr/>
          <p:nvPr/>
        </p:nvSpPr>
        <p:spPr>
          <a:xfrm>
            <a:off x="6367816" y="32883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Band-8"/>
          <p:cNvSpPr/>
          <p:nvPr/>
        </p:nvSpPr>
        <p:spPr>
          <a:xfrm>
            <a:off x="7033670" y="5686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BandIn-8"/>
          <p:cNvSpPr/>
          <p:nvPr/>
        </p:nvSpPr>
        <p:spPr>
          <a:xfrm>
            <a:off x="7305638" y="32883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zBand-9"/>
          <p:cNvSpPr/>
          <p:nvPr/>
        </p:nvSpPr>
        <p:spPr>
          <a:xfrm rot="1350000">
            <a:off x="7971493" y="5686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zBandIn-9"/>
          <p:cNvSpPr/>
          <p:nvPr/>
        </p:nvSpPr>
        <p:spPr>
          <a:xfrm>
            <a:off x="8243461" y="32883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zBand-10"/>
          <p:cNvSpPr/>
          <p:nvPr/>
        </p:nvSpPr>
        <p:spPr>
          <a:xfrm>
            <a:off x="8909315" y="5686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zBandIn-10"/>
          <p:cNvSpPr/>
          <p:nvPr/>
        </p:nvSpPr>
        <p:spPr>
          <a:xfrm>
            <a:off x="9181284" y="32883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zBand-11"/>
          <p:cNvSpPr/>
          <p:nvPr/>
        </p:nvSpPr>
        <p:spPr>
          <a:xfrm rot="1350000">
            <a:off x="9847138" y="5686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zBandIn-11"/>
          <p:cNvSpPr/>
          <p:nvPr/>
        </p:nvSpPr>
        <p:spPr>
          <a:xfrm>
            <a:off x="10119107" y="32883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zBand-12"/>
          <p:cNvSpPr/>
          <p:nvPr/>
        </p:nvSpPr>
        <p:spPr>
          <a:xfrm>
            <a:off x="10784961" y="5686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zBandIn-12"/>
          <p:cNvSpPr/>
          <p:nvPr/>
        </p:nvSpPr>
        <p:spPr>
          <a:xfrm>
            <a:off x="11056929" y="32883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zBand-13"/>
          <p:cNvSpPr/>
          <p:nvPr/>
        </p:nvSpPr>
        <p:spPr>
          <a:xfrm rot="1350000">
            <a:off x="11722783" y="5686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zBandIn-13"/>
          <p:cNvSpPr/>
          <p:nvPr/>
        </p:nvSpPr>
        <p:spPr>
          <a:xfrm>
            <a:off x="11994752" y="32883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zHero-star"/>
          <p:cNvSpPr/>
          <p:nvPr/>
        </p:nvSpPr>
        <p:spPr>
          <a:xfrm>
            <a:off x="8838937" y="411479"/>
            <a:ext cx="3291840" cy="3291840"/>
          </a:xfrm>
          <a:prstGeom prst="star8">
            <a:avLst/>
          </a:prstGeom>
          <a:solidFill>
            <a:srgbClr val="0278E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zHero-in"/>
          <p:cNvSpPr/>
          <p:nvPr/>
        </p:nvSpPr>
        <p:spPr>
          <a:xfrm>
            <a:off x="9727734" y="1300276"/>
            <a:ext cx="1514246" cy="1514246"/>
          </a:xfrm>
          <a:prstGeom prst="diamond">
            <a:avLst/>
          </a:prstGeom>
          <a:solidFill>
            <a:srgbClr val="17A2A8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zHero-c"/>
          <p:cNvSpPr/>
          <p:nvPr/>
        </p:nvSpPr>
        <p:spPr>
          <a:xfrm>
            <a:off x="10221510" y="1794052"/>
            <a:ext cx="526694" cy="526694"/>
          </a:xfrm>
          <a:prstGeom prst="ellipse">
            <a:avLst/>
          </a:prstGeom>
          <a:solidFill>
            <a:srgbClr val="E3B23C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6601968"/>
            <a:ext cx="88643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Hero-star"/>
          <p:cNvSpPr/>
          <p:nvPr/>
        </p:nvSpPr>
        <p:spPr>
          <a:xfrm rot="1350000">
            <a:off x="1005785" y="3749039"/>
            <a:ext cx="2377440" cy="2377440"/>
          </a:xfrm>
          <a:prstGeom prst="star8">
            <a:avLst/>
          </a:prstGeom>
          <a:solidFill>
            <a:srgbClr val="0278E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Hero-in"/>
          <p:cNvSpPr/>
          <p:nvPr/>
        </p:nvSpPr>
        <p:spPr>
          <a:xfrm rot="1350000">
            <a:off x="1647693" y="4390948"/>
            <a:ext cx="1093622" cy="1093622"/>
          </a:xfrm>
          <a:prstGeom prst="diamond">
            <a:avLst/>
          </a:prstGeom>
          <a:solidFill>
            <a:srgbClr val="17A2A8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Hero-c"/>
          <p:cNvSpPr/>
          <p:nvPr/>
        </p:nvSpPr>
        <p:spPr>
          <a:xfrm>
            <a:off x="2004309" y="4747564"/>
            <a:ext cx="380390" cy="380390"/>
          </a:xfrm>
          <a:prstGeom prst="ellipse">
            <a:avLst/>
          </a:prstGeom>
          <a:solidFill>
            <a:srgbClr val="E3B23C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772869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601968"/>
            <a:ext cx="221608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Rectangle 14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265930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3102521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 1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3545738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Rectangle 14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398895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Rectangle 4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6601968"/>
            <a:ext cx="443217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ectangle 18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6601968"/>
            <a:ext cx="4875390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3" name="Rectangle 5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6601968"/>
            <a:ext cx="5318607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ectangle 25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6601968"/>
            <a:ext cx="576182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Rectangle 28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6601968"/>
            <a:ext cx="6205042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Rectangle 14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6648259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 1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709147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753469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7977911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Rectangle 13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8421128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 1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886434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Rectangle 39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601968"/>
            <a:ext cx="930756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ectangle 27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6601968"/>
            <a:ext cx="9750780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24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Hero-star"/>
          <p:cNvSpPr/>
          <p:nvPr/>
        </p:nvSpPr>
        <p:spPr>
          <a:xfrm rot="2700000">
            <a:off x="8717011" y="320040"/>
            <a:ext cx="4023360" cy="4023360"/>
          </a:xfrm>
          <a:prstGeom prst="star8">
            <a:avLst/>
          </a:prstGeom>
          <a:solidFill>
            <a:srgbClr val="17A2A8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in"/>
          <p:cNvSpPr/>
          <p:nvPr/>
        </p:nvSpPr>
        <p:spPr>
          <a:xfrm rot="2700000">
            <a:off x="9803318" y="1406347"/>
            <a:ext cx="1850745" cy="1850745"/>
          </a:xfrm>
          <a:prstGeom prst="diamond">
            <a:avLst/>
          </a:prstGeom>
          <a:solidFill>
            <a:srgbClr val="0278E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c"/>
          <p:cNvSpPr/>
          <p:nvPr/>
        </p:nvSpPr>
        <p:spPr>
          <a:xfrm>
            <a:off x="10406822" y="2009851"/>
            <a:ext cx="643737" cy="643737"/>
          </a:xfrm>
          <a:prstGeom prst="ellipse">
            <a:avLst/>
          </a:prstGeom>
          <a:solidFill>
            <a:srgbClr val="E3B23C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33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193997" cy="13716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 12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Hero-star"/>
          <p:cNvSpPr/>
          <p:nvPr/>
        </p:nvSpPr>
        <p:spPr>
          <a:xfrm>
            <a:off x="11405324" y="550926"/>
            <a:ext cx="475488" cy="475488"/>
          </a:xfrm>
          <a:prstGeom prst="star8">
            <a:avLst/>
          </a:prstGeom>
          <a:solidFill>
            <a:srgbClr val="0278E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Hero-in"/>
          <p:cNvSpPr/>
          <p:nvPr/>
        </p:nvSpPr>
        <p:spPr>
          <a:xfrm>
            <a:off x="11533706" y="679307"/>
            <a:ext cx="218724" cy="218724"/>
          </a:xfrm>
          <a:prstGeom prst="diamond">
            <a:avLst/>
          </a:prstGeom>
          <a:solidFill>
            <a:srgbClr val="17A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Hero-c"/>
          <p:cNvSpPr/>
          <p:nvPr/>
        </p:nvSpPr>
        <p:spPr>
          <a:xfrm>
            <a:off x="11605029" y="750630"/>
            <a:ext cx="76078" cy="76078"/>
          </a:xfrm>
          <a:prstGeom prst="ellipse">
            <a:avLst/>
          </a:prstGeom>
          <a:solidFill>
            <a:srgbClr val="E3B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zBand-0"/>
          <p:cNvSpPr/>
          <p:nvPr/>
        </p:nvSpPr>
        <p:spPr>
          <a:xfrm>
            <a:off x="-468911" y="586330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BandIn-0"/>
          <p:cNvSpPr/>
          <p:nvPr/>
        </p:nvSpPr>
        <p:spPr>
          <a:xfrm>
            <a:off x="-196942" y="613527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Band-1"/>
          <p:cNvSpPr/>
          <p:nvPr/>
        </p:nvSpPr>
        <p:spPr>
          <a:xfrm rot="1350000">
            <a:off x="468911" y="586330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BandIn-1"/>
          <p:cNvSpPr/>
          <p:nvPr/>
        </p:nvSpPr>
        <p:spPr>
          <a:xfrm>
            <a:off x="740879" y="613527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zBand-2"/>
          <p:cNvSpPr/>
          <p:nvPr/>
        </p:nvSpPr>
        <p:spPr>
          <a:xfrm>
            <a:off x="1406734" y="586330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zBandIn-2"/>
          <p:cNvSpPr/>
          <p:nvPr/>
        </p:nvSpPr>
        <p:spPr>
          <a:xfrm>
            <a:off x="1678702" y="613527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zBand-3"/>
          <p:cNvSpPr/>
          <p:nvPr/>
        </p:nvSpPr>
        <p:spPr>
          <a:xfrm rot="1350000">
            <a:off x="2344556" y="586330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BandIn-3"/>
          <p:cNvSpPr/>
          <p:nvPr/>
        </p:nvSpPr>
        <p:spPr>
          <a:xfrm>
            <a:off x="2616525" y="613527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zBand-4"/>
          <p:cNvSpPr/>
          <p:nvPr/>
        </p:nvSpPr>
        <p:spPr>
          <a:xfrm>
            <a:off x="3282379" y="586330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zBandIn-4"/>
          <p:cNvSpPr/>
          <p:nvPr/>
        </p:nvSpPr>
        <p:spPr>
          <a:xfrm>
            <a:off x="3554348" y="613527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zBand-5"/>
          <p:cNvSpPr/>
          <p:nvPr/>
        </p:nvSpPr>
        <p:spPr>
          <a:xfrm rot="1350000">
            <a:off x="4220202" y="586330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zBandIn-5"/>
          <p:cNvSpPr/>
          <p:nvPr/>
        </p:nvSpPr>
        <p:spPr>
          <a:xfrm>
            <a:off x="4492170" y="613527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zBand-6"/>
          <p:cNvSpPr/>
          <p:nvPr/>
        </p:nvSpPr>
        <p:spPr>
          <a:xfrm>
            <a:off x="5158024" y="586330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zBandIn-6"/>
          <p:cNvSpPr/>
          <p:nvPr/>
        </p:nvSpPr>
        <p:spPr>
          <a:xfrm>
            <a:off x="5429993" y="613527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zBand-7"/>
          <p:cNvSpPr/>
          <p:nvPr/>
        </p:nvSpPr>
        <p:spPr>
          <a:xfrm rot="1350000">
            <a:off x="6095847" y="586330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zBandIn-7"/>
          <p:cNvSpPr/>
          <p:nvPr/>
        </p:nvSpPr>
        <p:spPr>
          <a:xfrm>
            <a:off x="6367816" y="613527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zBand-8"/>
          <p:cNvSpPr/>
          <p:nvPr/>
        </p:nvSpPr>
        <p:spPr>
          <a:xfrm>
            <a:off x="7033670" y="586330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zBandIn-8"/>
          <p:cNvSpPr/>
          <p:nvPr/>
        </p:nvSpPr>
        <p:spPr>
          <a:xfrm>
            <a:off x="7305638" y="613527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zBand-9"/>
          <p:cNvSpPr/>
          <p:nvPr/>
        </p:nvSpPr>
        <p:spPr>
          <a:xfrm rot="1350000">
            <a:off x="7971493" y="586330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zBandIn-9"/>
          <p:cNvSpPr/>
          <p:nvPr/>
        </p:nvSpPr>
        <p:spPr>
          <a:xfrm>
            <a:off x="8243461" y="613527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zBand-10"/>
          <p:cNvSpPr/>
          <p:nvPr/>
        </p:nvSpPr>
        <p:spPr>
          <a:xfrm>
            <a:off x="8909315" y="5863308"/>
            <a:ext cx="937822" cy="937822"/>
          </a:xfrm>
          <a:prstGeom prst="star8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zBandIn-10"/>
          <p:cNvSpPr/>
          <p:nvPr/>
        </p:nvSpPr>
        <p:spPr>
          <a:xfrm>
            <a:off x="9181284" y="6135277"/>
            <a:ext cx="393885" cy="393885"/>
          </a:xfrm>
          <a:prstGeom prst="diamond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zBand-11"/>
          <p:cNvSpPr/>
          <p:nvPr/>
        </p:nvSpPr>
        <p:spPr>
          <a:xfrm rot="1350000">
            <a:off x="9847138" y="5863308"/>
            <a:ext cx="937822" cy="937822"/>
          </a:xfrm>
          <a:prstGeom prst="star8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zBandIn-11"/>
          <p:cNvSpPr/>
          <p:nvPr/>
        </p:nvSpPr>
        <p:spPr>
          <a:xfrm>
            <a:off x="10119107" y="6135277"/>
            <a:ext cx="393885" cy="393885"/>
          </a:xfrm>
          <a:prstGeom prst="diamond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zBand-12"/>
          <p:cNvSpPr/>
          <p:nvPr/>
        </p:nvSpPr>
        <p:spPr>
          <a:xfrm>
            <a:off x="10784961" y="5863308"/>
            <a:ext cx="937822" cy="937822"/>
          </a:xfrm>
          <a:prstGeom prst="star8">
            <a:avLst/>
          </a:prstGeom>
          <a:solidFill>
            <a:srgbClr val="0278E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zBandIn-12"/>
          <p:cNvSpPr/>
          <p:nvPr/>
        </p:nvSpPr>
        <p:spPr>
          <a:xfrm>
            <a:off x="11056929" y="6135277"/>
            <a:ext cx="393885" cy="393885"/>
          </a:xfrm>
          <a:prstGeom prst="diamond">
            <a:avLst/>
          </a:prstGeom>
          <a:solidFill>
            <a:srgbClr val="C4542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zBand-13"/>
          <p:cNvSpPr/>
          <p:nvPr/>
        </p:nvSpPr>
        <p:spPr>
          <a:xfrm rot="1350000">
            <a:off x="11722783" y="5863308"/>
            <a:ext cx="937822" cy="937822"/>
          </a:xfrm>
          <a:prstGeom prst="star8">
            <a:avLst/>
          </a:prstGeom>
          <a:solidFill>
            <a:srgbClr val="17A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zBandIn-13"/>
          <p:cNvSpPr/>
          <p:nvPr/>
        </p:nvSpPr>
        <p:spPr>
          <a:xfrm>
            <a:off x="11994752" y="6135277"/>
            <a:ext cx="393885" cy="393885"/>
          </a:xfrm>
          <a:prstGeom prst="diamond">
            <a:avLst/>
          </a:prstGeom>
          <a:solidFill>
            <a:srgbClr val="E3B23C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zHero-star"/>
          <p:cNvSpPr/>
          <p:nvPr/>
        </p:nvSpPr>
        <p:spPr>
          <a:xfrm rot="1350000">
            <a:off x="3718407" y="502919"/>
            <a:ext cx="4754880" cy="4754880"/>
          </a:xfrm>
          <a:prstGeom prst="star8">
            <a:avLst/>
          </a:prstGeom>
          <a:solidFill>
            <a:srgbClr val="0278E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zHero-in"/>
          <p:cNvSpPr/>
          <p:nvPr/>
        </p:nvSpPr>
        <p:spPr>
          <a:xfrm rot="1350000">
            <a:off x="5002225" y="1786737"/>
            <a:ext cx="2187244" cy="2187244"/>
          </a:xfrm>
          <a:prstGeom prst="diamond">
            <a:avLst/>
          </a:prstGeom>
          <a:solidFill>
            <a:srgbClr val="17A2A8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zHero-c"/>
          <p:cNvSpPr/>
          <p:nvPr/>
        </p:nvSpPr>
        <p:spPr>
          <a:xfrm>
            <a:off x="5715457" y="2499969"/>
            <a:ext cx="760780" cy="760780"/>
          </a:xfrm>
          <a:prstGeom prst="ellipse">
            <a:avLst/>
          </a:prstGeom>
          <a:solidFill>
            <a:srgbClr val="E3B23C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0"/>
            <a:ext cx="274320" cy="6858000"/>
          </a:xfrm>
          <a:prstGeom prst="rect">
            <a:avLst/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zRail-0"/>
          <p:cNvSpPr/>
          <p:nvPr/>
        </p:nvSpPr>
        <p:spPr>
          <a:xfrm>
            <a:off x="267004" y="-219456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Rail-1"/>
          <p:cNvSpPr/>
          <p:nvPr/>
        </p:nvSpPr>
        <p:spPr>
          <a:xfrm rot="1350000">
            <a:off x="267004" y="32918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Rail-2"/>
          <p:cNvSpPr/>
          <p:nvPr/>
        </p:nvSpPr>
        <p:spPr>
          <a:xfrm>
            <a:off x="267004" y="87782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Rail-3"/>
          <p:cNvSpPr/>
          <p:nvPr/>
        </p:nvSpPr>
        <p:spPr>
          <a:xfrm rot="1350000">
            <a:off x="267004" y="142646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Rail-4"/>
          <p:cNvSpPr/>
          <p:nvPr/>
        </p:nvSpPr>
        <p:spPr>
          <a:xfrm>
            <a:off x="267004" y="1975104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Rail-5"/>
          <p:cNvSpPr/>
          <p:nvPr/>
        </p:nvSpPr>
        <p:spPr>
          <a:xfrm rot="1350000">
            <a:off x="267004" y="252374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Rail-6"/>
          <p:cNvSpPr/>
          <p:nvPr/>
        </p:nvSpPr>
        <p:spPr>
          <a:xfrm>
            <a:off x="267004" y="3072383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zRail-7"/>
          <p:cNvSpPr/>
          <p:nvPr/>
        </p:nvSpPr>
        <p:spPr>
          <a:xfrm rot="1350000">
            <a:off x="267004" y="3621024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Rail-8"/>
          <p:cNvSpPr/>
          <p:nvPr/>
        </p:nvSpPr>
        <p:spPr>
          <a:xfrm>
            <a:off x="267004" y="416966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Rail-9"/>
          <p:cNvSpPr/>
          <p:nvPr/>
        </p:nvSpPr>
        <p:spPr>
          <a:xfrm rot="1350000">
            <a:off x="267004" y="4718303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Rail-10"/>
          <p:cNvSpPr/>
          <p:nvPr/>
        </p:nvSpPr>
        <p:spPr>
          <a:xfrm>
            <a:off x="267004" y="5266944"/>
            <a:ext cx="252374" cy="252374"/>
          </a:xfrm>
          <a:prstGeom prst="star8">
            <a:avLst/>
          </a:prstGeom>
          <a:solidFill>
            <a:srgbClr val="C4542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zRail-11"/>
          <p:cNvSpPr/>
          <p:nvPr/>
        </p:nvSpPr>
        <p:spPr>
          <a:xfrm rot="1350000">
            <a:off x="267004" y="5815583"/>
            <a:ext cx="252374" cy="252374"/>
          </a:xfrm>
          <a:prstGeom prst="star8">
            <a:avLst/>
          </a:prstGeom>
          <a:solidFill>
            <a:srgbClr val="E3B23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Rail-12"/>
          <p:cNvSpPr/>
          <p:nvPr/>
        </p:nvSpPr>
        <p:spPr>
          <a:xfrm>
            <a:off x="267004" y="6364223"/>
            <a:ext cx="252374" cy="252374"/>
          </a:xfrm>
          <a:prstGeom prst="star8">
            <a:avLst/>
          </a:prstGeom>
          <a:solidFill>
            <a:srgbClr val="0278E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zRail-13"/>
          <p:cNvSpPr/>
          <p:nvPr/>
        </p:nvSpPr>
        <p:spPr>
          <a:xfrm rot="1350000">
            <a:off x="267004" y="6912864"/>
            <a:ext cx="252374" cy="252374"/>
          </a:xfrm>
          <a:prstGeom prst="star8">
            <a:avLst/>
          </a:prstGeom>
          <a:solidFill>
            <a:srgbClr val="17A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
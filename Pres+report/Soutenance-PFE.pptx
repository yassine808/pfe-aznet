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Bonjour. Mohammed Yassine MAGRI, filière Ingénierie Informatique et</a:t>
            </a:r>
          </a:p>
          <a:p>
            <a:r>
              <a:t>Réseaux. Sujet : automatiser les rapports journaliers de chantier chez AZNET,</a:t>
            </a:r>
          </a:p>
          <a:p>
            <a:r>
              <a:t>à Rabat, à partir de notes vocales en darija.</a:t>
            </a:r>
          </a:p>
          <a:p>
            <a:r>
              <a:t>Attendre que le jury soit installé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Annoncer le parcours en une phrase : le problème, la conception, les</a:t>
            </a:r>
          </a:p>
          <a:p>
            <a:r>
              <a:t>bancs d'essai, la démonstration. Ne pas lire les six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s] Laisser la citation à l'écran deux secondes avant de parler. C'est la</a:t>
            </a:r>
          </a:p>
          <a:p>
            <a:r>
              <a:t>phrase du directeur : elle pose le problème mieux que je ne le ferais.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AZNET pose des infrastructures réseau. Le suivi de chantier se fait</a:t>
            </a:r>
          </a:p>
          <a:p>
            <a:r>
              <a:t>aujourd'hui à la main, le soir, de mémoire.</a:t>
            </a:r>
          </a:p>
          <a:p>
            <a:r>
              <a:t>Chiffre à donner si la question vient : le directeur re-saisit les rapports</a:t>
            </a:r>
          </a:p>
          <a:p>
            <a:r>
              <a:t>lui-même dans son fichier de suivi.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Le cœur du problème : le technicien parle darija, mélange les</a:t>
            </a:r>
          </a:p>
          <a:p>
            <a:r>
              <a:t>emprunts français techniques, et le journal attend des chiffres par colonne.</a:t>
            </a:r>
          </a:p>
          <a:p>
            <a:r>
              <a:t>Insister sur l'écart entre « ce qui est dit » et « ce qui est compté » — c'est</a:t>
            </a:r>
          </a:p>
          <a:p>
            <a:r>
              <a:t>ce que tout le reste de la présentation résout.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Besoins fonctionnels puis non fonctionnels. Souligner la contrainte de</a:t>
            </a:r>
          </a:p>
          <a:p>
            <a:r>
              <a:t>budget zéro : elle explique presque toutes les décisions techniques qui</a:t>
            </a:r>
          </a:p>
          <a:p>
            <a:r>
              <a:t>suivent, y compris la chaîne de repli entre fournisseurs.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 Sept phases sur six mois. Le point à faire passer : le bout-en-bout</a:t>
            </a:r>
          </a:p>
          <a:p>
            <a:r>
              <a:t>réel a été atteint en phase 3, une phase avant le planning — le risque</a:t>
            </a:r>
          </a:p>
          <a:p>
            <a:r>
              <a:t>d'intégration a été neutralisé avant d'engager le reste.</a:t>
            </a:r>
          </a:p>
          <a:p>
            <a:r>
              <a:t>Si on demande pourquoi : un défaut d'intégration ne se voit pas hors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État de l'art de la transcription de l'arabe dialectal. Dire que la</a:t>
            </a:r>
          </a:p>
          <a:p>
            <a:r>
              <a:t>littérature ne tranchait pas pour le darija : c'est ce qui a rendu le banc</a:t>
            </a:r>
          </a:p>
          <a:p>
            <a:r>
              <a:t>d'essai nécessaire plutôt que confortable.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Extraction structurée par LLM : sortie contrainte par schéma, et le</a:t>
            </a:r>
          </a:p>
          <a:p>
            <a:r>
              <a:t>risque central — un modèle qui invente une valeur plausible. C'est le critère</a:t>
            </a:r>
          </a:p>
          <a:p>
            <a:r>
              <a:t>qui décidera du choix au banc d'essai n°2.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Architecture hybride : n8n orchestre, le service Python fait l'IA.</a:t>
            </a:r>
          </a:p>
          <a:p>
            <a:r>
              <a:t>La frontière est le sujet de la diapositive suivante, ne pas l'anticiper ici.</a:t>
            </a:r>
          </a:p>
          <a:p>
            <a:r>
              <a:t>Cinq services, une seule origine publique.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Pourquoi cette frontière : ce qui est testable va dans le code, ce qui</a:t>
            </a:r>
          </a:p>
          <a:p>
            <a:r>
              <a:t>est du câblage reste dans n8n. Exemple concret si on demande — la fusion d'une</a:t>
            </a:r>
          </a:p>
          <a:p>
            <a:r>
              <a:t>ligne de journal a quitté n8n parce qu'un nœud IF ne sait pas relire une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Dérouler le flux une fois, lentement. Le point non évident :</a:t>
            </a:r>
          </a:p>
          <a:p>
            <a:r>
              <a:t>la réponse au technicien part AVANT l'écriture du Sheet. Une panne Google ne</a:t>
            </a:r>
          </a:p>
          <a:p>
            <a:r>
              <a:t>doit jamais coûter son résumé au technicien ; la ligne est mise en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Le journal reproduit le fichier du directeur, colonne pour colonne.</a:t>
            </a:r>
          </a:p>
          <a:p>
            <a:r>
              <a:t>Deux règles : une ligne par message (jamais de réécriture, une correction</a:t>
            </a:r>
          </a:p>
          <a:p>
            <a:r>
              <a:t>fausse ne détruit pas un chiffre juste) et le stock réconcilié, jamais supposé.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Protocole. Assumer la décision de méthode : ni WER ni CER. Le journal</a:t>
            </a:r>
          </a:p>
          <a:p>
            <a:r>
              <a:t>ne consomme que des chiffres et des emprunts techniques — c'est cela qu'on</a:t>
            </a:r>
          </a:p>
          <a:p>
            <a:r>
              <a:t>mesure, jugé par un locuteur natif contre l'audio.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 Trois moteurs par API. Groq est rapide, et c'est le plancher toujours</a:t>
            </a:r>
          </a:p>
          <a:p>
            <a:r>
              <a:t>disponible de la chaîne — pas le meilleur.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Douze moteurs en local sur la 3070. Raconter l'hypothèse renversée</a:t>
            </a:r>
          </a:p>
          <a:p>
            <a:r>
              <a:t>puis rétablie : les petits affinages darija perdaient, les grands gagnent.</a:t>
            </a:r>
          </a:p>
          <a:p>
            <a:r>
              <a:t>C'est la diapositive où l'on montre que le résultat n'était pas acquis.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La référence d'exactitude est le modèle darija open-source. Dire</a:t>
            </a:r>
          </a:p>
          <a:p>
            <a:r>
              <a:t>tout de suite ce qui suit, avant qu'on le trouve dans la config : il est en</a:t>
            </a:r>
          </a:p>
          <a:p>
            <a:r>
              <a:t>REPLI en production, pas en tête. 7,7 s et 4 Go de VRAM se paient sur chaque</a:t>
            </a:r>
          </a:p>
          <a:p>
            <a:r>
              <a:t>note ; Gemini répond d'abord, le local prend le relais quand le quota tombe.</a:t>
            </a:r>
          </a:p>
          <a:p>
            <a:r>
              <a:t>Le banc d'essai désigne une référence, l'ordre d'appel est une décision</a:t>
            </a:r>
          </a:p>
          <a:p>
            <a:r>
              <a:t>d'exploitation.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Deuxième banc d'essai. Le chiffre qui frappe : llama-3.1-8b-instant</a:t>
            </a:r>
          </a:p>
          <a:p>
            <a:r>
              <a:t>est le plus rapide du tableau ET invente cinq valeurs. La vitesse ne rachète</a:t>
            </a:r>
          </a:p>
          <a:p>
            <a:r>
              <a:t>rien quand le modèle remplit des champs à partir de rien.</a:t>
            </a:r>
          </a:p>
          <a:p>
            <a:r>
              <a:t>Assumer la limite si on la soulève : les dix cas ont été écrits par l'auteur du</a:t>
            </a:r>
          </a:p>
          <a:p>
            <a:r>
              <a:t>système. C'est dit au §4.3.9 du rapport.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Périmètre livré. Rester factuel, ne pas survendre : ce qui tourne, ce</a:t>
            </a:r>
          </a:p>
          <a:p>
            <a:r>
              <a:t>qui reste à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Le tableau de bord. Trilingue, arabe en RTL, graphiques écrits à la</a:t>
            </a:r>
          </a:p>
          <a:p>
            <a:r>
              <a:t>main — aucune bibliothèque de composants. Les vingt-deux captures sont en</a:t>
            </a:r>
          </a:p>
          <a:p>
            <a:r>
              <a:t>annexe H du rapport.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Dix-huit contrôles à chaque push. Le point honnête : Dependabot ouvre</a:t>
            </a:r>
          </a:p>
          <a:p>
            <a:r>
              <a:t>les demandes, aucune n'a encore été fusionnée — le dispositif rend l'écart</a:t>
            </a:r>
          </a:p>
          <a:p>
            <a:r>
              <a:t>visible, il ne l'a pas encore résorbé.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 SonarCloud : la porte qualité passe. Raconter le vrai bogue trouvé — un</a:t>
            </a:r>
          </a:p>
          <a:p>
            <a:r>
              <a:t>test qui dépendait du .env local, vert sur ma machine, rouge en intégration</a:t>
            </a:r>
          </a:p>
          <a:p>
            <a:r>
              <a:t>continue, et qui maintenait la chaîne au rouge à chaque exécution.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 min] DÉMONSTRATION EN DIRECT.</a:t>
            </a:r>
          </a:p>
          <a:p>
            <a:r>
              <a:t>Ordre : envoyer la note vocale → montrer le ⏳ → attendre le ✅ → ouvrir le</a:t>
            </a:r>
          </a:p>
          <a:p>
            <a:r>
              <a:t>Sheet → ouvrir la boîte de réception du tableau de bord.</a:t>
            </a:r>
          </a:p>
          <a:p>
            <a:r>
              <a:t>Si le réseau tombe : passer aux captures d'annexe, elles suivent le même</a:t>
            </a:r>
          </a:p>
          <a:p>
            <a:r>
              <a:t>parcours. Ne pas déboguer devant le jury.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 30] Compétences techniques puis méthodologiques. La leçon à énoncer :</a:t>
            </a:r>
          </a:p>
          <a:p>
            <a:r>
              <a:t>un résultat flatteur mérite plus de vérification qu'un résultat décevant — le</a:t>
            </a:r>
          </a:p>
          <a:p>
            <a:r>
              <a:t>banc d'essai avait un bogue silencieux qui couronnait un modèle sur une</a:t>
            </a:r>
          </a:p>
          <a:p>
            <a:r>
              <a:t>transcription qu'il n'avait jamais produite.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 Perspectives, et les limites assumées. Mieux vaut nommer les limites</a:t>
            </a:r>
          </a:p>
          <a:p>
            <a:r>
              <a:t>avant le jury : jeu de test écrit par l'auteur, pilote court, couverture qui</a:t>
            </a:r>
          </a:p>
          <a:p>
            <a:r>
              <a:t>ne décrit que le service Python.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[fin] Remercier, puis se taire. Laisser venir les questions.</a:t>
            </a:r>
          </a:p>
          <a:p>
            <a:r>
              <a:t>Questions attendues : pourquoi pas Whisper seul / pourquoi n8n et pas tout en</a:t>
            </a:r>
          </a:p>
          <a:p>
            <a:r>
              <a:t>code / que se passe-t-il si les quotas gratuits tombent / comment on empêche</a:t>
            </a:r>
          </a:p>
          <a:p>
            <a:r>
              <a:t>le modèle d'inventer une valeur.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0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6601968"/>
            <a:ext cx="886434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772869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6601968"/>
            <a:ext cx="2216086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6601968"/>
            <a:ext cx="2659303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/>
                <a:gridCol w="2292503"/>
                <a:gridCol w="6052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3102521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6601968"/>
            <a:ext cx="3545738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6601968"/>
            <a:ext cx="398895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65 nœuds
réception, déduplication,
autorisation, réponses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66 routes
STT, extraction, journal,
ordonnanceur, comptes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11 tables
Google Sheets
un onglet par chantier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chargé à la première demande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6601968"/>
            <a:ext cx="4432173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6601968"/>
            <a:ext cx="4875390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l'organigramme, son autorisation et son chantier vérifiés.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fusionne la ligne dans l'onglet du chantier.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047488"/>
            <a:ext cx="32004" cy="65836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695" y="5074920"/>
            <a:ext cx="104177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L'ordre de 5 et 6 est un invariant, pas une préférence : une écriture Google Sheets qui échoue est garée dans une file de reprise et rejouée toutes les cinq minutes — elle ne coûte jamais au technicien son accusé de réception.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6601968"/>
            <a:ext cx="5318607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accumulation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9" name="Rectangle 8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Une seule ligne  —  12/08, technicien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200 m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étages RDC + E1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Les nombres s'ajoutent, les localisations s'unissent, la prose s'ajoute.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Une seconde ligne doublerait les jours-hommes et fausserait la ligne de totaux — le seul chiffre que le directeur 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6601968"/>
            <a:ext cx="5761824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6601968"/>
            <a:ext cx="6205042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6601968"/>
            <a:ext cx="6648259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6601968"/>
            <a:ext cx="7091476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6601968"/>
            <a:ext cx="7534694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/>
                <a:gridCol w="1558902"/>
                <a:gridCol w="1375501"/>
                <a:gridCol w="1467202"/>
                <a:gridCol w="1925702"/>
                <a:gridCol w="119210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D'où la chaîne gpt-oss-120b → flash-lite → 3.6-flash : elle alterne les fournisseurs dès le second maillon, parce que Groq et Google comptent leurs quotas séparément. Sur l'image, quatre modèles de vision sur les mêmes dix cas : l'écart texte / image est quasi nul.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6601968"/>
            <a:ext cx="7977911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WhatsApp Cloud API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Extraction structurée — 4 chaînes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Journal de chantier par site — fusion, stock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Miroir plat pour le tableau de bord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Observabilité PostgreSQL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Ordonnanceur — 6 tâches, page Automatisation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Rapports quotidien et hebdomadaire par e-mail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Commandes /rapport, /modifier, /supprimer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6601968"/>
            <a:ext cx="8421128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Huit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boîte de réception, rapports, quotidien, hebdomadaire, automatisation, journaux, équipe.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Le rattachement d'un technicien à un chef détermine le chantier de ses rapports.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6601968"/>
            <a:ext cx="8864346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288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288 tests  ·  Dashboard — tsc, oxlint, build  ·  workflow n8n  ·  Docker compose  ·  parité des locales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6601968"/>
            <a:ext cx="9307563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vulnérabilité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
mesurée (service Python)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est passé de rouge à vert.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Fiabilité E, sécurité C au départ : une image de conteneur qui s'exécutait en root et installait depuis des sources non épinglées, et une clé de projet qui ne désignait aucun projet existant.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signalement a été refusé, motif consigné.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Verrouiller les empreintes des dépendances du service GPU tirerait la variante processeur de torch et casserait silencieusement l'inférence — la dépendance vient de l'image CUDA.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la machine de développement et échouait en intégration continue. À lui seul, il maintenait la chaîne au rouge à chaque exécution.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dette de 121 minutes et 15 mauvaises odeurs subsistent : maintenabilité déjà notée A, aucun correctif bloquant.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6601968"/>
            <a:ext cx="9750780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4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chantier, fusionnée s'il en existe déjà une pour la journée.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333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0193997" cy="13716"/>
          </a:xfrm>
          <a:prstGeom prst="rect">
            <a:avLst/>
          </a:prstGeom>
          <a:solidFill>
            <a:srgbClr val="4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quatre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client, avec accumulation intra-journalière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Étendre le tableau de bord vers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avancement par site, consommation de matériel, alertes de stock ; le bordereau en fournit la base.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6" name="Picture 5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7" name="Picture 6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Automatisation — les six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6601968"/>
            <a:ext cx="10637215" cy="1371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
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7" d="100"/>
          <a:sy n="77" d="100"/>
        </p:scale>
        <p:origin x="883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9011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0:30 · Se présenter. Sujet en une phrase.</a:t>
            </a:r>
          </a:p>
          <a:p>
            <a:r>
              <a:t>→ notes vocales darija → journal de chantier, chez AZNET Rabat.</a:t>
            </a:r>
          </a:p>
          <a:p>
            <a:endParaRPr/>
          </a:p>
          <a:p>
            <a:r>
              <a:t>— Design : Khatam (étoile à 8 branches, zellige) en trait, hors-cadre. Il se déplace de diapo en diapo — morph, pas une coupure.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0:30 · Annoncer le parcours, ne pas lire les six points.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0:20 · Laisser lire deux secondes avant de parler.</a:t>
            </a:r>
          </a:p>
          <a:p>
            <a:r>
              <a:t>→ C'est la phrase du directeur, pas la mienne.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Le suivi se fait le soir, de mémoire, à la main.</a:t>
            </a:r>
          </a:p>
          <a:p>
            <a:r>
              <a:t>→ Si on demande : le directeur re-saisit lui-même.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LE point : écart entre ce qui est DIT et ce qui est COMPTÉ.</a:t>
            </a:r>
          </a:p>
          <a:p>
            <a:r>
              <a:t>→ Darija + emprunts français vs colonnes chiffrées.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Besoins fonctionnels puis non fonctionnels.</a:t>
            </a:r>
          </a:p>
          <a:p>
            <a:r>
              <a:t>→ Budget zéro explique presque toutes les décisions qui suivent.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· Sept phases, six mois.</a:t>
            </a:r>
          </a:p>
          <a:p>
            <a:r>
              <a:t>→ Bout-en-bout atteint en phase 3, une phase EN AVANCE.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La littérature ne tranchait pas pour le darija.</a:t>
            </a:r>
          </a:p>
          <a:p>
            <a:r>
              <a:t>→ D'où un banc d'essai, pas un choix de confort.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Sortie contrainte par schéma.</a:t>
            </a:r>
          </a:p>
          <a:p>
            <a:r>
              <a:t>→ Le risque central : un modèle qui invente une valeur plausible.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n8n orchestre, Python fait l'IA. Cinq services, une seule origine.</a:t>
            </a:r>
          </a:p>
          <a:p>
            <a:r>
              <a:t>→ Ne pas anticiper la frontière, c'est la diapo suivante.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Testable → code. Câblage → n8n.</a:t>
            </a:r>
          </a:p>
          <a:p>
            <a:r>
              <a:t>→ Exemple : la tenue du journal a quitté n8n, un IF ne relit pas un onglet.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Dérouler une fois, lentement.</a:t>
            </a:r>
          </a:p>
          <a:p>
            <a:r>
              <a:t>→ La réponse part AVANT le Sheet : une panne Google ne coûte pas son résumé.</a:t>
            </a:r>
          </a:p>
          <a:p>
            <a:r>
              <a:t>→ Deux files, pas une : l'écriture refusée d'un côté, le message intraitable de</a:t>
            </a:r>
          </a:p>
          <a:p>
            <a:r>
              <a:t>  l'autre. Ce dernier répond 202 — un 502 ferait envoyer ❌ à un technicien dont</a:t>
            </a:r>
          </a:p>
          <a:p>
            <a:r>
              <a:t>  le rapport est en sécurité.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Une ligne par message, JAMAIS de réécriture.</a:t>
            </a:r>
          </a:p>
          <a:p>
            <a:r>
              <a:t>→ Un chiffre faux ne peut plus écraser un chiffre juste : 50 puis +80.</a:t>
            </a:r>
          </a:p>
          <a:p>
            <a:r>
              <a:t>→ Stock réconcilié, jamais supposé. Heures et JH viennent de la voix.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La perte silencieuse est l'histoire à raconter, pas le mécanisme.</a:t>
            </a:r>
          </a:p>
          <a:p>
            <a:r>
              <a:t>→ Quarante pièces extraites correctement, puis jetées. Zéro erreur levée.</a:t>
            </a:r>
          </a:p>
          <a:p>
            <a:r>
              <a:t>→ Le champ est en texte libre EXPRÈS : son sujet est l'article pas encore</a:t>
            </a:r>
          </a:p>
          <a:p>
            <a:r>
              <a:t>  connu, le valider contre la liste jetterait ce qu'il existe pour porter.</a:t>
            </a:r>
          </a:p>
          <a:p>
            <a:r>
              <a:t>→ Insister sur « la validation vient après » : faire attendre une approbation</a:t>
            </a:r>
          </a:p>
          <a:p>
            <a:r>
              <a:t>  humaine remettrait au centre le délai que tout le projet supprime.</a:t>
            </a:r>
          </a:p>
          <a:p>
            <a:r>
              <a:t>→ Si on demande le risque : le slug. Sans lui, un pluriel = une colonne de plus.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Ni WER ni CER — assumé.</a:t>
            </a:r>
          </a:p>
          <a:p>
            <a:r>
              <a:t>→ On mesure ce que le journal consomme : chiffres et emprunts techniques.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· Groq est rapide, c'est le plancher toujours disponible.</a:t>
            </a:r>
          </a:p>
          <a:p>
            <a:r>
              <a:t>→ Pas le meilleur.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Hypothèse renversée puis rétablie.</a:t>
            </a:r>
          </a:p>
          <a:p>
            <a:r>
              <a:t>→ Les petits affinages perdent, les grands gagnent. Rien n'était acquis.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Le modèle darija est la RÉFÉRENCE d'exactitude.</a:t>
            </a:r>
          </a:p>
          <a:p>
            <a:r>
              <a:t>→ Dire tout de suite qu'il est en REPLI en production (7,7 s, 4 Go).</a:t>
            </a:r>
          </a:p>
          <a:p>
            <a:r>
              <a:t>→ Le banc désigne une référence ; l'ordre d'appel est une décision d'exploitation.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llama-3.1-8b : le plus rapide ET cinq valeurs inventées.</a:t>
            </a:r>
          </a:p>
          <a:p>
            <a:r>
              <a:t>→ La vitesse ne rachète rien.</a:t>
            </a:r>
          </a:p>
          <a:p>
            <a:r>
              <a:t>→ Si on soulève la limite : oui, les dix cas sont de ma main (§4.3.9).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min 10. Trois des quatre choses que lit le modèle ne viennent pas du message.</a:t>
            </a:r>
          </a:p>
          <a:p>
            <a:r>
              <a:t>→ Le profil est du contexte, jamais une source de valeurs : sinon on remplit un</a:t>
            </a:r>
          </a:p>
          <a:p>
            <a:r>
              <a:t>  chantier que personne n'a nommé, et la donnée est plausible et fausse.</a:t>
            </a:r>
          </a:p>
          <a:p>
            <a:r>
              <a:t>→ Le vocabulaire de transcription est le seul sans âme : Whisper le lirait</a:t>
            </a:r>
          </a:p>
          <a:p>
            <a:r>
              <a:t>  comme un début de transcript.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Ce qui tourne, ce qui reste. Rester factuel.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Trilingue, arabe RTL, graphiques écrits à la main. Douze écrans.</a:t>
            </a:r>
          </a:p>
          <a:p>
            <a:r>
              <a:t>→ Vingt-neuf captures en annexe H.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Deux écrans ajoutés en dernier, pour deux angles morts.</a:t>
            </a:r>
          </a:p>
          <a:p>
            <a:r>
              <a:t>→ Consommation : tout le projet tient sur des offres gratuites, et un quota</a:t>
            </a:r>
          </a:p>
          <a:p>
            <a:r>
              <a:t>  épuisé ne fait aucun bruit — la chaîne bascule, la journée paraît normale.</a:t>
            </a:r>
          </a:p>
          <a:p>
            <a:r>
              <a:t>→ Insister sur « mesuré » vs « documenté » : les trois fournisseurs ne sont</a:t>
            </a:r>
          </a:p>
          <a:p>
            <a:r>
              <a:t>  pas également bavards, et l'écran le dit au lieu de faire semblant.</a:t>
            </a:r>
          </a:p>
          <a:p>
            <a:r>
              <a:t>→ Chantiers : l'avancement est recalculé à chaque appel, jamais stocké.</a:t>
            </a:r>
          </a:p>
          <a:p>
            <a:r>
              <a:t>→ Si on demande pourquoi la colonne installée est vide : le bordereau existe,</a:t>
            </a:r>
          </a:p>
          <a:p>
            <a:r>
              <a:t>  le pilote n'a pas encore produit de quantités sur ces lignes contractuelles.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min 20. Deux familles, et c'est le contraste qui compte.</a:t>
            </a:r>
          </a:p>
          <a:p>
            <a:r>
              <a:t>→ A : recalculée, stockée nulle part — un chiffre dérivé de trois sources</a:t>
            </a:r>
          </a:p>
          <a:p>
            <a:r>
              <a:t>  périmerait dans une cellule.</a:t>
            </a:r>
          </a:p>
          <a:p>
            <a:r>
              <a:t>→ B : une colonne, dix clés, cinq drapeaux. « Écart de stock » ne lève pas le</a:t>
            </a:r>
          </a:p>
          <a:p>
            <a:r>
              <a:t>  drapeau, et c'est un choix : seul le technicien peut trancher.</a:t>
            </a:r>
          </a:p>
          <a:p>
            <a:r>
              <a:t>→ « Ignorer » photographie le niveau et le reste ; la sourdine expire dès que</a:t>
            </a:r>
          </a:p>
          <a:p>
            <a:r>
              <a:t>  ça empire.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Dix-huit contrôles à chaque push.</a:t>
            </a:r>
          </a:p>
          <a:p>
            <a:r>
              <a:t>→ Honnêteté : Dependabot ouvre, rien n'est encore fusionné.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· 0 bogue, 0 vulnérabilité, 0 code smell, 0 minute de dette, A/A/A.</a:t>
            </a:r>
          </a:p>
          <a:p>
            <a:r>
              <a:t>→ Le portail passe ses SIX conditions. Dire qu'il ne les passait pas au départ.</a:t>
            </a:r>
          </a:p>
          <a:p>
            <a:r>
              <a:t>→ Raconter le vrai bogue : un test qui dépendait du .env local.</a:t>
            </a:r>
          </a:p>
          <a:p>
            <a:r>
              <a:t>→ Sur la 6e condition : j'ai d'abord soutenu que 80 % de couverture n'avait pas</a:t>
            </a:r>
          </a:p>
          <a:p>
            <a:r>
              <a:t>  de sens pour une suite hors ligne. Puis j'ai écrit les tests. C'est plus court</a:t>
            </a:r>
          </a:p>
          <a:p>
            <a:r>
              <a:t>  à défendre qu'un argument.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Le rythme, pas le total. Montrer les quatre jours à zéro et la dernière</a:t>
            </a:r>
          </a:p>
          <a:p>
            <a:r>
              <a:t>  quinzaine, la plus dense du dépôt.</a:t>
            </a:r>
          </a:p>
          <a:p>
            <a:r>
              <a:t>→ Honnêteté : le dépôt commence le 15 juillet. Les phases 0 à 2 sont antérieures</a:t>
            </a:r>
          </a:p>
          <a:p>
            <a:r>
              <a:t>  — le graphique mesure la réalisation, pas les six mois.</a:t>
            </a:r>
          </a:p>
          <a:p>
            <a:r>
              <a:t>→ Enchaîner : un nombre de commits mesure de la frappe. Les deux verdicts</a:t>
            </a:r>
          </a:p>
          <a:p>
            <a:r>
              <a:t>  au-dessus — le portail et la suite de tests — mesurent autre chose.</a:t>
            </a:r>
          </a:p>
          <a:p>
            <a:endParaRPr/>
          </a:p>
          <a:p>
            <a:r>
              <a:t>— Design : Le graphique est dessiné en rectangles, pas inséré : un graphique natif impose sa palette et supprime les jours à zéro. L'opacité porte l'intensité — un seul bleu, comme partout ailleurs.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3:00 · DÉMO. Note vocale → ⏳ → ✅ → Sheet → boîte de réception.</a:t>
            </a:r>
          </a:p>
          <a:p>
            <a:r>
              <a:t>→ SI ÇA TOMBE : passer aux captures d'annexe. Ne pas déboguer devant le jury.</a:t>
            </a:r>
          </a:p>
          <a:p>
            <a:endParaRPr/>
          </a:p>
          <a:p>
            <a:r>
              <a:t>— Design : Fond sombre : le trait passe au bleu clair pour rester lisible.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Technique puis méthodologique.</a:t>
            </a:r>
          </a:p>
          <a:p>
            <a:r>
              <a:t>→ La leçon : un résultat flatteur mérite plus de vérification qu'un décevant.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Nommer les limites avant le jury.</a:t>
            </a:r>
          </a:p>
          <a:p>
            <a:r>
              <a:t>→ Jeu de test de ma main, pilote court, couverture = service Python seul.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Remercier, puis se taire.</a:t>
            </a:r>
          </a:p>
          <a:p>
            <a:r>
              <a:t>→ Attendues : pourquoi pas Whisper seul / pourquoi n8n / quotas épuisés /</a:t>
            </a:r>
          </a:p>
          <a:p>
            <a:r>
              <a:t>  comment on empêche l'invention d'une valeur.</a:t>
            </a:r>
          </a:p>
          <a:p>
            <a:endParaRPr/>
          </a:p>
          <a:p>
            <a:r>
              <a:t>— Design : Le khatam au centre, plein format. Dernière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6918716" y="731520"/>
            <a:ext cx="5669280" cy="566928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" name="Picture 1" descr="logo-em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6928"/>
            <a:ext cx="3014882" cy="658368"/>
          </a:xfrm>
          <a:prstGeom prst="rect">
            <a:avLst/>
          </a:prstGeom>
        </p:spPr>
      </p:pic>
      <p:pic>
        <p:nvPicPr>
          <p:cNvPr id="3" name="Picture 2" descr="logo-azn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1223" y="539496"/>
            <a:ext cx="713232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1627632"/>
            <a:ext cx="10637215" cy="4070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1" i="0">
                <a:solidFill>
                  <a:srgbClr val="575656"/>
                </a:solidFill>
                <a:latin typeface="Arial"/>
              </a:rPr>
              <a:t>ÉCOLE MAROCAINE DES SCIENCES DE L'INGÉNIEUR — RABAT</a:t>
            </a:r>
          </a:p>
          <a:p>
            <a:r>
              <a:rPr sz="1150" b="0" i="0">
                <a:solidFill>
                  <a:srgbClr val="8A8A8A"/>
                </a:solidFill>
                <a:latin typeface="Arial"/>
              </a:rPr>
              <a:t>Rapport de </a:t>
            </a:r>
            <a:r>
              <a:rPr sz="1150" b="0" i="0" err="1">
                <a:solidFill>
                  <a:srgbClr val="8A8A8A"/>
                </a:solidFill>
                <a:latin typeface="Arial"/>
              </a:rPr>
              <a:t>Projet</a:t>
            </a:r>
            <a:r>
              <a:rPr sz="1150" b="0" i="0">
                <a:solidFill>
                  <a:srgbClr val="8A8A8A"/>
                </a:solidFill>
                <a:latin typeface="Arial"/>
              </a:rPr>
              <a:t> de Fin </a:t>
            </a:r>
            <a:r>
              <a:rPr sz="1150" b="0" i="0" err="1">
                <a:solidFill>
                  <a:srgbClr val="8A8A8A"/>
                </a:solidFill>
                <a:latin typeface="Arial"/>
              </a:rPr>
              <a:t>d'Études</a:t>
            </a:r>
            <a:endParaRPr sz="1150" b="0" i="0">
              <a:solidFill>
                <a:srgbClr val="8A8A8A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7240" y="2670048"/>
            <a:ext cx="10180015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3300" b="1" i="0">
                <a:solidFill>
                  <a:srgbClr val="1C1F23"/>
                </a:solidFill>
                <a:latin typeface="Arial"/>
              </a:rPr>
              <a:t>Automatisation des rapports journaliers
de chantier par intelligence artificielle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059936"/>
            <a:ext cx="101800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 i="0">
                <a:solidFill>
                  <a:srgbClr val="0278E4"/>
                </a:solidFill>
                <a:latin typeface="Arial"/>
              </a:rPr>
              <a:t>Transcription de notes vocales en darija et extraction structurée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46320"/>
            <a:ext cx="5852160" cy="6412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 err="1">
                <a:solidFill>
                  <a:srgbClr val="1C1F23"/>
                </a:solidFill>
                <a:latin typeface="Arial"/>
              </a:rPr>
              <a:t>Réalisé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par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Mohammed Yassine MAGRI</a:t>
            </a:r>
          </a:p>
          <a:p>
            <a:r>
              <a:rPr sz="1250" b="1" i="0" err="1">
                <a:solidFill>
                  <a:srgbClr val="1C1F23"/>
                </a:solidFill>
                <a:latin typeface="Arial"/>
              </a:rPr>
              <a:t>Encadrant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académique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Mme Kawtar </a:t>
            </a:r>
            <a:r>
              <a:rPr lang="fr-FR" sz="1250" err="1">
                <a:solidFill>
                  <a:srgbClr val="575656"/>
                </a:solidFill>
                <a:latin typeface="Arial"/>
              </a:rPr>
              <a:t>Imgharene</a:t>
            </a:r>
            <a:endParaRPr lang="en-US" sz="1250">
              <a:solidFill>
                <a:srgbClr val="575656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sz="1250" b="1" i="0" err="1">
                <a:solidFill>
                  <a:srgbClr val="1C1F23"/>
                </a:solidFill>
                <a:latin typeface="Arial"/>
              </a:rPr>
              <a:t>Encadrant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industriel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Mr Adil </a:t>
            </a:r>
            <a:r>
              <a:rPr lang="fr-FR" sz="1250" err="1">
                <a:solidFill>
                  <a:srgbClr val="575656"/>
                </a:solidFill>
                <a:latin typeface="Arial"/>
              </a:rPr>
              <a:t>chaachoui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 et Mr Adil </a:t>
            </a:r>
            <a:r>
              <a:rPr lang="fr-FR" sz="1250" err="1">
                <a:solidFill>
                  <a:srgbClr val="575656"/>
                </a:solidFill>
                <a:latin typeface="Arial"/>
              </a:rPr>
              <a:t>Zellou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 </a:t>
            </a:r>
            <a:endParaRPr sz="1250">
              <a:solidFill>
                <a:srgbClr val="575656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73975" y="4846320"/>
            <a:ext cx="3840480" cy="7053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250" b="1" i="0" err="1">
                <a:solidFill>
                  <a:srgbClr val="1C1F23"/>
                </a:solidFill>
                <a:latin typeface="Arial"/>
              </a:rPr>
              <a:t>Entreprise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d'accueil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AZNET — Rabat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Soutenu le : </a:t>
            </a:r>
            <a:r>
              <a:rPr lang="en-US" sz="1250" b="0" i="0">
                <a:solidFill>
                  <a:srgbClr val="575656"/>
                </a:solidFill>
                <a:latin typeface="Arial"/>
              </a:rPr>
              <a:t>21/09/2026</a:t>
            </a:r>
            <a:endParaRPr sz="1250" b="0" i="0">
              <a:solidFill>
                <a:srgbClr val="575656"/>
              </a:solidFill>
              <a:latin typeface="Arial"/>
            </a:endParaRP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Année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universitaire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2025 / 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8-Point Star 24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SOMMAIRE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06524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0744" y="1837943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Contexte et problématique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terrain, les trois verrous techniques, les besoins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42032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619756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551175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État de l'art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darija comme langue peu dotée, extraction par LLM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55263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332987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264407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Conception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Architecture hybride, flux nominal, journal de chantier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968496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046220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0744" y="3977639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Banc d'essai des moteurs de transcription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Treize moteurs, une hypothèse renversée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681728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4759452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0744" y="4690872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Réalisation et qualité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Périmètre livré, tableau de bord, chaîne DevOps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394960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5472684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5404104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Démonstration, bilan et perspectives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Hero"/>
          <p:cNvSpPr/>
          <p:nvPr/>
        </p:nvSpPr>
        <p:spPr>
          <a:xfrm rot="1350000">
            <a:off x="-61008" y="3063239"/>
            <a:ext cx="4023360" cy="40233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" name="Picture 1" descr="quote-wittgenste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AZNET et la remontée d'information du terrain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métier.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Infrastructures réseau et câblage informatique : goulottes, tirage et raccordement cuivre et fibre, équipement de bureaux, de panneaux de brassage et de locaux techniques.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terrain.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équipes passent la journée sur les chantiers, loin de tout outil bureautique.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maillon faible.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comptes rendus remontent oralement, par messages dispersés ou sur papier — quand ils ne sont pas omis.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La langue de travail.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L'arabe marocain (darija), mêlé de vocabulaire technique français.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074920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96695" y="5102352"/>
            <a:ext cx="1041775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Le directeur tient déjà un fichier de suivi. Le problème n'est pas l'absence d'outil, c'est le coût de la saisie pour celui qui détient l'information.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8-Point Star 2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Trois verrous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1063721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700" b="0" i="0">
                <a:solidFill>
                  <a:srgbClr val="1C1F23"/>
                </a:solidFill>
                <a:latin typeface="Arial"/>
              </a:rPr>
              <a:t>Comment transformer automatiquement une note vocale spontanée en darija en un rapport journalier structuré, fiable et exploitable, </a:t>
            </a:r>
            <a:r>
              <a:rPr sz="1700" b="1" i="0">
                <a:solidFill>
                  <a:srgbClr val="0278E4"/>
                </a:solidFill>
                <a:latin typeface="Arial"/>
              </a:rPr>
              <a:t>en moins de deux minutes d'effort pour le technicien et sans budget logiciel</a:t>
            </a:r>
            <a:r>
              <a:rPr sz="1700" b="0" i="0">
                <a:solidFill>
                  <a:srgbClr val="1C1F23"/>
                </a:solidFill>
                <a:latin typeface="Arial"/>
              </a:rPr>
              <a:t> 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96695" y="3291839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5" y="3584448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Transcription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3977639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Les moteurs de reconnaissance vocale sont entraînés sur l'arabe standard moderne. Le darija est une langue peu dotée, au code-switching arabe / français fréquent.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8322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08322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27778" y="3291839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584448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Structuration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3977639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 texte transcrit est du langage libre. Il faut en extraire des champs normalisés — quantités, localisations, observations — sans jamais inventer une donnée absente.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9404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39404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8860" y="3291839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8860" y="3584448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Intégration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860" y="3977639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La chaîne complète — messagerie, téléchargement, traitement IA, journal, notifications — doit fonctionner de bout en bout, de manière fiable et gratuite.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BESOINS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le cahier des charges exige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5044287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BF1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Saisie vocale en darija via une messagerie — aucune autre action demandée au technicien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BF2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Un second canal alimente le même traitement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BF3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Transcription automatique, darija et mélange arabe / français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BF4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Extraction des travaux réalisés et des quantités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874519"/>
            <a:ext cx="5044287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BF5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Reformulation en français professionnel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BF6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Enregistrement dans le tableau de suivi Google Sheets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BF7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Notification du chef de chantier et du responsable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BF8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Confirmation au technicien que son rapport est traité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160520"/>
            <a:ext cx="10637215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4160520"/>
            <a:ext cx="45720" cy="132588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69848" y="4379976"/>
            <a:ext cx="100519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La contrainte structurante : budget zéro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4764024"/>
            <a:ext cx="10051999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0" i="0">
                <a:solidFill>
                  <a:srgbClr val="575656"/>
                </a:solidFill>
                <a:latin typeface="Arial"/>
              </a:rPr>
              <a:t>Aucune dépense logicielle autorisée. Toute la solution repose sur des paliers gratuits — Groq, Gemini AI Studio, Telegram Bot API, WhatsApp Cloud API, Google Sheets, Gmail SMTP — et sur du matériel déjà disponible. Cette contrainte n'est pas un détail d'intendance : elle dicte l'architecture, impose des chaînes de repli entre fournisseurs, et interdit la solution évidente à chaque étape.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CONDUITE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Six mois, sept phases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4" cy="31821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925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2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2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Période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Objectif principal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 — Cadrage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 – 27 mars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Immersion métier, cahier des charges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 — État de l'art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30 mars – 30 avril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Transcription du dialectal, extraction par LLM, jeu de test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 — Conception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mai – 5 juin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Architecture hybride, contrat de données, frontière n8n / code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— Cœur IA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8 juin – 17 juillet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Service FastAPI, adaptateurs STT, chaînes de repli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— Chaîne complète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20 juillet – 1er août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Workflow n8n, réception bicanale, tableau de bord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 — Bancs d'essai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– 14 août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Comparatifs STT et extraction, sécurité, intégration continue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 — Pilote et rapport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17 – 28 août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Déploiement pilote, livrables, soutenance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Le bout-en-bout réel a été atteint en phase 3, une phase avant le planning : le risque d'intégration a été neutralisé avant d'engager le reste.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Reconnaissance vocale de l'arabe dialectal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22781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Une langue peu dotée.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Le darija n'a ni orthographe normalisée, ni corpus annoté de grande taille. Il emprunte massivement au français pour le vocabulaire technique — précisément celui que le rapport doit conserver.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Deux architectures concurrentes.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Whisper, transformeur encodeur-décodeur de bout en bout, entraîné en multitâche sur 680 000 h ; wav2vec2 pré-entraîné de manière auto-supervisée puis affiné par classification temporelle connexionniste (CTC).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Les affinages darija.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Plusieurs modèles publics existent sur Hugging Face, de quelques dizaines de millions à deux milliards de paramètres.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828032"/>
            <a:ext cx="10637215" cy="117043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4828032"/>
            <a:ext cx="45720" cy="117043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9848" y="5029200"/>
            <a:ext cx="10051999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Les métriques standard.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WER et CER comparent la transcription à une vérité terrain, mot à mot ou caractère à caractère. Pour une langue sans orthographe normalisée, deux transcriptions également correctes divergent sur l'écriture — et le WER punit cette divergence exactement comme une erreur de sens. Ce constat commande la méthode du banc d'essai (section 4).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Extraction par LLM et plateformes d'orchestration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Extraction d'information structurée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10637215" cy="38221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approches classiques — règles, expressions régulières, modèles de reconnaissance d'entités — supposent une langue régulière et un vocabulaire fermé : ni l'un ni l'autre ici.</a:t>
            </a:r>
          </a:p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LLM à sortie contrainte produisent directement un objet conforme à un schéma. Le risque se déplace : ce n'est plus l'échec de l'extraction, c'est l'invention plausible d'une valeur absente.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Plateformes d'orchestration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3639312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5780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97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97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Critère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n8n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Make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Zapier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Auto-hébergement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Coût à ce volume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Gratuit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Appels HTTP libres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Restreint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Contrôle des données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468112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96695" y="5495544"/>
            <a:ext cx="1041775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n8n est retenu pour une raison unique et vérifiable : c'est le seul auto-hébergeable, donc le seul compatible avec la contrainte de budget zéro à volume non plafonné.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8-Point Star 4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Architecture générale : une répartition par valeur ajoutée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029968"/>
            <a:ext cx="1732422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05256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Terrain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Technicien
note vocale en darija,
photo ou texte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01102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003438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003438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31454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Réception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3166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Telegram Bot API
WhatsApp Cloud API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27300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229636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229636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57652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Orchestration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9364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n8n — 64 nœuds
réception, déduplication,
autorisation, réponses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053498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455834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55834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3850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Service applicatif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5562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FastAPI — 85 routes
STT, extraction, journal,
ordonnanceur, comptes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79696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682032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682032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10048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Persistance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91760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PostgreSQL — 26 tables
Google Sheets
un onglet par chantier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77240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05256" y="4224528"/>
            <a:ext cx="483397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Moteur local — sidecar GPU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4498848"/>
            <a:ext cx="4870551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Morocco-Darija-STT-large sur RTX 3070, préchargé au démarrage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4447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24447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52463" y="4224528"/>
            <a:ext cx="483397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Consultation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4175" y="4498848"/>
            <a:ext cx="4870551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Tableau de bord React FR / EN / AR  ·  rapports quotidien et hebdomadaire par e-mail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285232"/>
            <a:ext cx="32004" cy="47548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96695" y="5312664"/>
            <a:ext cx="1041775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Ce qui est intégration reste dans n8n ; ce qui est décision passe dans le service. La frontière est fonctionnelle, et elle a bougé une fois en cours de projet.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10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frontière entre orchestration et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506714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14983" y="2112263"/>
            <a:ext cx="460994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n8n — 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3" y="2514600"/>
            <a:ext cx="4609947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Réception Telegram et WhatsApp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Vérification du webhook Meta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Déduplication des messages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Téléchargement des médias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Réponses au technicien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Journalisation d'étape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7307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347307" y="1874519"/>
            <a:ext cx="506714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5051" y="2112263"/>
            <a:ext cx="460994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FastAPI — service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5051" y="2514600"/>
            <a:ext cx="4609947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Transcription et extraction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Reformulation en français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Tenue du journal de chantier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Ordonnancement des tâches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Authentification et comptes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Service du tableau de bord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28032"/>
            <a:ext cx="10637215" cy="1152144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88136" y="5029200"/>
            <a:ext cx="10015423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La règle retenue : </a:t>
            </a:r>
            <a:r>
              <a:rPr sz="1450" b="0" i="0">
                <a:solidFill>
                  <a:srgbClr val="DDDDDD"/>
                </a:solidFill>
                <a:latin typeface="Arial"/>
              </a:rPr>
              <a:t>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intégration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reste dans n8n ; 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décision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passe dans le service.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BBBBBB"/>
                </a:solidFill>
                <a:latin typeface="Arial"/>
              </a:rPr>
              <a:t>La frontière a bougé une fois, le 5 août : l'écriture Google Sheets a migré de n8n vers Python, car tenir le journal exige un lire-modifier-écrire qu'un nœud conditionnel ne sait pas exprimer.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11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8-Point Star 5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Flux nominal : sept étapes, et un ordre qui n'est pas négociable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23544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23544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Envoi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 technicien envoie une note vocale, une photo ou un texte sur Telegram ou WhatsApp.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86835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86835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33139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33139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5475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Réclamation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3139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réclame l'identifiant du message au service — WhatsApp re-livre un webhook non acquitté.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6431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96431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42735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42735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5071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Identification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2735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L'expéditeur est retrouvé dans l'organigramme et son autorisation vérifiée ; le chantier, lui, vient du message.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06027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052331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52331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667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Traitement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331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POST /process : transcription, extraction contrainte, résumé français, avertissements.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77240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23544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23544" y="372618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3721608"/>
            <a:ext cx="272582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Réponse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" y="4096512"/>
            <a:ext cx="3119018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répond au technicien avec son résumé.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90034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390034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36338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36338" y="372618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8674" y="3721608"/>
            <a:ext cx="272582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Journal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338" y="4096512"/>
            <a:ext cx="3119018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Ensuite seulement : POST /journal ajoute la ligne dans l'onglet du chantier.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02828" y="3493008"/>
            <a:ext cx="3411626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002828" y="3493008"/>
            <a:ext cx="3411626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149132" y="3675888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149132" y="372618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51468" y="3721608"/>
            <a:ext cx="272582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Notification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49132" y="4096512"/>
            <a:ext cx="3119018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Les responsables sont notifiés.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047488"/>
            <a:ext cx="32004" cy="76809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96695" y="5074920"/>
            <a:ext cx="10417759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L'ordre de 5 et 6 est un invariant, pas une préférence. Deux files de reprise le rendent tenable : une écriture Google Sheets refusée est garée et rejouée toutes les cinq minutes ; un message qu'aucun moteur n'a pu traiter est garé lui aussi, le service répond 202 et non 502, et le technicien reçoit « rapport reçu, il sera enregistré » plutôt qu'un échec. Rien n'est perdu, et l'ordre des messages d'un même technicien est préservé.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8-Point Star 2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journal de chantier : deux règles qui le rendent juste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47088"/>
            <a:ext cx="563772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Règle 1 — une ligne par message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3544" y="2286000"/>
            <a:ext cx="239823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08h12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39823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120 m
étage RDC</a:t>
            </a:r>
          </a:p>
        </p:txBody>
      </p:sp>
      <p:sp>
        <p:nvSpPr>
          <p:cNvPr id="8" name="Rectangle 7"/>
          <p:cNvSpPr/>
          <p:nvPr/>
        </p:nvSpPr>
        <p:spPr>
          <a:xfrm>
            <a:off x="3724118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70422" y="2286000"/>
            <a:ext cx="239823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17h40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70422" y="2542032"/>
            <a:ext cx="239823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80 m
étage E1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477230" y="3182112"/>
            <a:ext cx="237744" cy="310896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602736"/>
            <a:ext cx="5637724" cy="932688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" y="3602736"/>
            <a:ext cx="5637724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" y="3749039"/>
            <a:ext cx="534511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278E4"/>
                </a:solidFill>
                <a:latin typeface="Arial"/>
              </a:rPr>
              <a:t>Deux lignes  —  12/08, technicien 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4005072"/>
            <a:ext cx="534511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50" b="1" i="0">
                <a:solidFill>
                  <a:srgbClr val="1C1F23"/>
                </a:solidFill>
                <a:latin typeface="Arial"/>
              </a:rPr>
              <a:t>goulotte 120 m</a:t>
            </a:r>
            <a:r>
              <a:rPr sz="1250" b="0" i="0">
                <a:solidFill>
                  <a:srgbClr val="575656"/>
                </a:solidFill>
                <a:latin typeface="Arial"/>
              </a:rPr>
              <a:t>   puis   </a:t>
            </a:r>
            <a:r>
              <a:rPr sz="1250" b="1" i="0">
                <a:solidFill>
                  <a:srgbClr val="0278E4"/>
                </a:solidFill>
                <a:latin typeface="Arial"/>
              </a:rPr>
              <a:t>+80</a:t>
            </a:r>
            <a:r>
              <a:rPr sz="1250" b="0" i="0">
                <a:solidFill>
                  <a:srgbClr val="1C1F23"/>
                </a:solidFill>
                <a:latin typeface="Arial"/>
              </a:rPr>
              <a:t>   ·   totaux de l'onglet : 200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563772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Fusionner les deux messages détruirait de l'information : </a:t>
            </a:r>
            <a:r>
              <a:rPr sz="1150" b="1" i="0">
                <a:solidFill>
                  <a:srgbClr val="1C1F23"/>
                </a:solidFill>
                <a:latin typeface="Arial"/>
              </a:rPr>
              <a:t>un chiffre faux dicté l'après-midi écraserait sur place un chiffre juste du matin. Rien ne lit une ligne isolée — les totaux somment l'onglet — et les JH se lisent au maximum, jamais en somme.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7884" y="1847088"/>
            <a:ext cx="449657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B8E36"/>
                </a:solidFill>
                <a:latin typeface="Arial"/>
              </a:rPr>
              <a:t>Règle 2 — réconciliation de 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7884" y="2212848"/>
            <a:ext cx="4496571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La référence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dernier stock connu moins l'installé.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chiffre rapporté l'emporte toujours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et devient la nouvelle référence.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écart émet un avertissement chiffré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 lieu de choisir silencieusement.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7884" y="4041648"/>
            <a:ext cx="4496571" cy="162763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73916" y="4224528"/>
            <a:ext cx="398450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Une livraison et une perte sont identiques pour l'arithmétique. </a:t>
            </a:r>
            <a:r>
              <a:rPr sz="1250" b="0" i="0">
                <a:solidFill>
                  <a:srgbClr val="C0C0C0"/>
                </a:solidFill>
                <a:latin typeface="Arial"/>
              </a:rPr>
              <a:t>Le système ne peut pas trancher, donc il ne tranche pas : il écrit l'écart et son montant, et laisse un humain décider. C'est la même règle que partout ailleurs dans la chaîne — jamais d'échec silencieux, jamais de valeur devinée.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13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champ qui n'existe pas encore : une colonne créée à la volée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37943"/>
            <a:ext cx="32004" cy="78638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96695" y="1865375"/>
            <a:ext cx="10417759" cy="768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Un rapport nommant quarante pièces sur huit types d'article déposait une ligne vide des huit : la quantité était extraite correctement, puis abandonnée faute d'un champ où la ranger. Aucune erreur n'était levée — une perte parfaitement silencieuse.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34640"/>
            <a:ext cx="489311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8A8A8A"/>
                </a:solidFill>
                <a:latin typeface="Arial"/>
              </a:rPr>
              <a:t>Ce que dit le technicien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163824"/>
            <a:ext cx="4893118" cy="786384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3310128"/>
            <a:ext cx="456393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200" b="0" i="1">
                <a:solidFill>
                  <a:srgbClr val="1C1F23"/>
                </a:solidFill>
                <a:latin typeface="Arial"/>
              </a:rPr>
              <a:t>« … w rakkabt rbaa prises doubles étanches »</a:t>
            </a:r>
          </a:p>
        </p:txBody>
      </p:sp>
      <p:sp>
        <p:nvSpPr>
          <p:cNvPr id="9" name="Down Arrow 8"/>
          <p:cNvSpPr/>
          <p:nvPr/>
        </p:nvSpPr>
        <p:spPr>
          <a:xfrm>
            <a:off x="3104927" y="4059936"/>
            <a:ext cx="237744" cy="274320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4443984"/>
            <a:ext cx="4893118" cy="1225296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4443984"/>
            <a:ext cx="4893118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1832" y="4590288"/>
            <a:ext cx="4563934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150" b="1" i="0">
                <a:solidFill>
                  <a:srgbClr val="0278E4"/>
                </a:solidFill>
                <a:latin typeface="Arial"/>
              </a:rPr>
              <a:t>articles_libres</a:t>
            </a:r>
            <a:r>
              <a:rPr sz="1150" b="0" i="0">
                <a:solidFill>
                  <a:srgbClr val="1C1F23"/>
                </a:solidFill>
                <a:latin typeface="Arial"/>
              </a:rPr>
              <a:t>  {« prise double étanche encastrée »: 4}</a:t>
            </a:r>
          </a:p>
          <a:p>
            <a:pPr>
              <a:lnSpc>
                <a:spcPct val="116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→ colonne créée dans l'onglet du chantier, valeur écrite, article inscrit au registre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3278" y="2834640"/>
            <a:ext cx="5241176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Une identité normalisée, pas le libellé dicté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« prises doubles étanches » et « prise double étanche encastrée » se réduisent au même slug. L'onglet ne gagne pas une seconde colonne parce qu'un technicien a mis un pluriel.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Registre global, colonne locale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La colonne appartient à l'onglet qui l'a déclarée ; le nom est partagé, donc un second site réutilise l'orthographe au lieu d'en inventer une parallèle.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La validation vient après, jamais avant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La quantité est comptée immédiatement ; la page Chantiers confirme, corrige — un libellé corrigé vers un libellé existant fusionne les deux colonnes — ou supprime.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zHero"/>
          <p:cNvSpPr/>
          <p:nvPr/>
        </p:nvSpPr>
        <p:spPr>
          <a:xfrm rot="2700000">
            <a:off x="10088593" y="4114800"/>
            <a:ext cx="2743200" cy="274320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Protocole, et une décision de méthode assumée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moteurs de transcription
évalués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clips réels de
techniciens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 + 12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par API
et en local sur GPU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RTX 3070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8 Go, demi-précision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401568"/>
            <a:ext cx="10637215" cy="192024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77240" y="3401568"/>
            <a:ext cx="45720" cy="19202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88136" y="3621024"/>
            <a:ext cx="10015423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Ni WER, ni CER — et pourquoi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" y="4023360"/>
            <a:ext cx="10015423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0" i="0">
                <a:solidFill>
                  <a:srgbClr val="575656"/>
                </a:solidFill>
                <a:latin typeface="Arial"/>
              </a:rPr>
              <a:t>Établir une vérité terrain en darija suppose une orthographe de référence qui n'existe pas : deux transcriptions également justes divergent sur l'écriture, et le WER punit cette divergence comme une erreur de sens. Le critère retenu est donc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applicatif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la préservation des quantités numériques et des emprunts techniques français — jugé par un locuteur natif contre l'audio, parce que c'est exactement ce que le journal consomme. La limite est assumée : le classement est rigoureux mais non reproductible par un tiers sans le même locuteur.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— moteurs accessibles par API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680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4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44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116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42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042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Moteur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Clips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Erreurs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Latence moy.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Groq (Whisper large-v3)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1,53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0,483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Gemini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16,94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non exposée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20 651 *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Hugging Face (affinage darija)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jeton absent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547872"/>
            <a:ext cx="106372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4.2 — Comparaison des moteurs par API (7 août 2026). * chiffre faussé par une boucle de répétition du modèle.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913632"/>
            <a:ext cx="10637215" cy="17830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3913632"/>
            <a:ext cx="45720" cy="178308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8136" y="4096512"/>
            <a:ext cx="10015423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Le constat majeur : le moteur le plus rapide déforme les quantités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4480560"/>
            <a:ext cx="10015423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Sur un même clip — Gemini :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‎40 كابل‎ · ‎12 پانُو‎ · 3ème étage</a:t>
            </a:r>
            <a:r>
              <a:rPr sz="1300" b="0" i="0">
                <a:solidFill>
                  <a:srgbClr val="575656"/>
                </a:solidFill>
                <a:latin typeface="Arial"/>
              </a:rPr>
              <a:t>   contre Groq : </a:t>
            </a:r>
            <a:r>
              <a:rPr sz="1300" b="1" i="0">
                <a:solidFill>
                  <a:srgbClr val="C0392B"/>
                </a:solidFill>
                <a:latin typeface="Arial"/>
              </a:rPr>
              <a:t>mniya dyal panno, Pouzina ssimetro, 3O mietage</a:t>
            </a:r>
          </a:p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Le schéma métier est intégralement composé de quantités et de localisations. Un moteur qui fusionne un chiffre dans le mot suivant ne donne rien à extraire — et le système conclut alors « aucune donnée » sur un rapport qui en contenait.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locaux : la confiance du modèle est un leurre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799"/>
          <a:ext cx="10637214" cy="2491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929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1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1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96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25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Chiffres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boumehdi/wav2vec2-moroccan-darija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0,7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amineouaki/xlsr-53-darija-combined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6,3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amineouaki/wav2vec2-darija-combined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4,0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0,853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ychafiqui/whisper-medium-darija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3,7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BounharAbdelaziz/Morocco-Darija-STT-large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7,7 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0,791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openai/whisper-large-v3  (contrôle)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5,7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0,582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C-Ilyas/whisper-base-darija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5,0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0,548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315968"/>
            <a:ext cx="106372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4.3 — Extrait de la campagne locale (12 moteurs, 11 clips, RTX 3070). Tri par confiance décroissante.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700016"/>
            <a:ext cx="10637215" cy="1298448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8136" y="4919472"/>
            <a:ext cx="10015423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Le tableau est trié par confiance précisément pour montrer qu'il ne faut pas s'y fier. </a:t>
            </a:r>
            <a:r>
              <a:rPr sz="1350" b="0" i="0">
                <a:solidFill>
                  <a:srgbClr val="C9C9C9"/>
                </a:solidFill>
                <a:latin typeface="Arial"/>
              </a:rPr>
              <a:t>boumehdi domine la colonne à 0,916 et perd purement et simplement le « 40 » ; le meilleur moteur n'arrive qu'en cinquième position. exp(mean logprob) mesure la certitude du décodeur, jamais son exactitude — et la colonne « chiffres » est elle-même un leurre, les affinages écrivant les nombres en toutes lettres arabes (‎ربعين‎ pour 40), forme que la chaîne d'extraction lit sans difficulté.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référence d'exactitude, et sa place dans la chaîne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19655"/>
            <a:ext cx="1063721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1C1F23"/>
                </a:solidFill>
                <a:latin typeface="Arial"/>
              </a:rPr>
              <a:t>Clip de référence : </a:t>
            </a:r>
            <a:r>
              <a:rPr sz="1300" b="0" i="1">
                <a:solidFill>
                  <a:srgbClr val="575656"/>
                </a:solidFill>
                <a:latin typeface="Arial"/>
              </a:rPr>
              <a:t>« hier 20/07/2026, arrivés à Essaouira à 1 h, vérifié le chemin de 27 câbles, pris le métrage, coupés, vérifié le chemin de la fibre, sortis à 7 h 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04288"/>
          <a:ext cx="10637214" cy="16824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4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1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016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Transcription obtenue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Conséquence sur les champs métier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Morocco-Darija-STT-large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‎27‎ كابل    فيريفينا    لافيبر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Tous les champs survivent : quantité, verbe technique, matériel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whisper-large-v3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فرحنا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vérifier » devient « nous nous sommes réjouis »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ychafiqui/medium-darija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السبعة وعشر وعشر الين كابل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27 câbles » : la quantité est détruite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041648"/>
            <a:ext cx="106372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4.4 — Comportement comparé sur les champs métier.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4407408"/>
            <a:ext cx="513572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14983" y="4645152"/>
            <a:ext cx="4660239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gagné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Seul moteur à préserver simultanément les quantités numériques et les emprunts techniques français. Conserve aussi les noms propres du domaine — Novec, Essaouira, Kenitra — sur l'ensemble des clips. Licence Apache 2.0.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78727" y="440740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6471" y="4645152"/>
            <a:ext cx="4660239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payé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7,7 s de latence moyenne, le plus lent des douze, contre 1,53 s pour l'API de Groq, et 4 Go de mémoire graphique immobilisés. C'est ce coût qui lui vaut, en production, la position de repli : la chaîne livrée est gemini, local, groq. Le banc d'essai désigne la référence d'exactitude ; l'ordre d'appel est une décision d'exploitation.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Du texte au tableau : huit modèles, dix cas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2" cy="26700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17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8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55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72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5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21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répondus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Exactitude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parfaits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Valeurs inventées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openai/gpt-oss-120b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1,72 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gemini-flash-lite-latest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0,980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9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1,04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gemini-3.6-flash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10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4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4,98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llama-3.3-70b-versatile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0,922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0,69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llama-3.1-8b-instant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0,876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 / 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0,50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qwen/qwen3.6-27b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459028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4983" y="4773168"/>
            <a:ext cx="4660239" cy="694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rapidité ne rachète rien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llama-3.1-8b-instant : le plus rapide du tableau, et cinq valeurs inventées — dont un client qu'aucun cas ne mentionne.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78727" y="4590288"/>
            <a:ext cx="513572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6471" y="4773168"/>
            <a:ext cx="4660239" cy="694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disponibilité prime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gemini-3.6-flash obtient 1,000 — sur les quatre cas traités avant l'épuisement du quota gratuit. Parfait puis muet : c'est un repli, pas un primaire.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La chaîne déployée est gpt-oss-120b → 3.5-flash-lite → flash-lite-latest : elle alterne les fournisseurs, Groq et Google comptant leurs quotas séparément. Le jeu de cas en compte vingt-cinq aujourd'hui, et une seconde campagne a montré ce qu'un repli ne rattrape pas : un modèle qui répond 200 avec un objet vide.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lit le modèle, et ce qu'il ne peut pas en faire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1705977" y="1723644"/>
            <a:ext cx="3780248" cy="4014216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15-ai-inpu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6269" y="1773936"/>
            <a:ext cx="3679664" cy="39136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34080" y="1847088"/>
            <a:ext cx="4680374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Quatre entrées, une seule est le message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L'âme (identité, ne jamais inventer), l'instruction d'extraction et le profil du technicien accompagnent chaque appel.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Le vocabulaire n'a pas d'âme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Whisper lit son champ comme le texte qui précède le clip : l'âme y serait recopiée dans la transcription.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Le profil est un contexte, jamais une source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« Intervient surtout sur Sidi Maarouf » est à un pas de remplir le chantier d'un message qui n'a nommé aucun site. L'instruction l'interdit, et interdit les nombres.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La réponse part avant l'écriture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Le résumé revient au technicien d'abord ; un échec Google lui coûte son accusé de réception, jamais son message.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760720"/>
            <a:ext cx="563772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3.14 — Les quatre sources d'une extraction et les trois issues.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20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8-Point Star 11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Périmètre livré et en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5090007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 Telegram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 WhatsApp Cloud API — webhook signé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Transcription — 3 moteurs, chaîne de repli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Extraction structurée — 3 chaînes de repli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Entrée par photo — modèle de vision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Journal de chantier par site — ajout, stock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Miroir plat et table d'agrégation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Boîte de réception — réponse et transcription corrigeable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4447" y="1856231"/>
            <a:ext cx="5090007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Observabilité PostgreSQL — 26 tables, deux files de reprise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Tableau de bord trilingue FR / EN / AR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Organigramme, comptes, chantiers, bordereau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Ordonnanceur — 9 tâches, page Automatisation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Rapports quotidien et hebdomadaire — e-mail et document .docx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Colonnes d'article créées à la volée, puis confirmées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Réceptions de matériel et alertes de stock en jours de couverture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Consommation des offres gratuites, mesurée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Moteur local sur GPU, conteneurisé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626864"/>
            <a:ext cx="10637215" cy="129844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4626864"/>
            <a:ext cx="45720" cy="12984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8136" y="4828031"/>
            <a:ext cx="10015423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Dès la phase 3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le planning la prévoyait en phase 4 — la chaîne complète a été validée en conditions réelles : note vocale, détection, téléchargement, transcription, extraction, résumé français, réponse de confirmation. Le risque d'intégration majeur du projet a été neutralisé immédiatement. Lors de ces essais,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le repli d'extraction s'est déclenché seul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sur indisponibilité du fournisseur principal, validant la conception sans intervention.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21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tableau de bord : consulter, corriger, administrer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018" y="1760220"/>
            <a:ext cx="6687516" cy="380390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over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10" y="1810512"/>
            <a:ext cx="6586932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91429" y="1883664"/>
            <a:ext cx="3723025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Trilingue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Français, anglais, arabe. L'arabe impose le sens droite-à-gauche sur toute l'interface.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Sans dépendance d'UI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React 19 et Tailwind v4, graphiques en SVG écrits à la main, aucune bibliothèque de composants.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Douze écrans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Vue d'ensemble, réception, rapports, quotidien, hebdomadaire, automatisation, tâches, journaux, file de reprise, consommation, équipe, chantiers.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Organigramme éditable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Une personne, plusieurs canaux : le rattachement d'un technicien à un chef porte la hiérarchie, jamais le chantier de ses rapports.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32704"/>
            <a:ext cx="65950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5.1 — Vue d'ensemble, thème sombre, connectée à la pile complète.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8-Point Star 1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Deux écrans récents : ce qu'il reste, et où en est le chantier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454428" y="1760220"/>
            <a:ext cx="3808783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720" y="1810512"/>
            <a:ext cx="3708199" cy="208483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1245" y="1760220"/>
            <a:ext cx="1803259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7" name="Picture 6" descr="en-chantiers-borderea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537" y="1810512"/>
            <a:ext cx="1702675" cy="20848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968496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Consommation — les trois offres gratuites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3968496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Chantiers — le bordereau d'un 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34256"/>
            <a:ext cx="10637215" cy="1700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quota épuisé ne lève aucune erreur.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chaîne bascule sur le fournisseur suivant, ou WhatsApp se tait : vu de l'extérieur, une journée normale. C'est la raison d'être de l'écran.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Chaque chiffre dit d'où il vient.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Groq publie son quota dans ses en-têtes — « mesuré » ; Gemini n'en publie aucun, son plafond est une constante — « documenté ». Un en-tête absent est enregistré NULL, jamais 0.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L'avancement n'est stocké nulle part.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quantité installée est recalculée depuis le journal à chaque appel : le journal étant le seul endroit où une quantité est saisie, un total conservé ne pourrait que dériver.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23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8-Point Star 1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Deux familles d'avertissements, deux destins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486956" y="1723644"/>
            <a:ext cx="3743727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chanti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7248" y="1773936"/>
            <a:ext cx="3643143" cy="20482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03353" y="1723644"/>
            <a:ext cx="1459044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7" name="Picture 6" descr="en-chantiers-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3645" y="1773936"/>
            <a:ext cx="1358460" cy="20482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895344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Alertes matière : permanentes, bornées à trois lignes, « Ignorer » à droite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3895344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Le matériel déclaré hors bordereau, sur le site qui l'a déclaré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61104"/>
            <a:ext cx="10637215" cy="1773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Famille A — alertes matière : aucune colonne.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Recalculées à la demande depuis le journal, les réceptions et le bordereau. Un chiffre dérivé de trois sources serait périmé avant d'être lu. Quatre niveaux, dont « excédent », testé avant les pénuries : en fin de chantier « commandez-en » serait la phrase inverse.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Famille B — avertissements de ligne : une colonne, dix clés, cinq drapeaux.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« Écart de stock » est le seul qui porte sur une contradiction numérique et il ne lève pas le drapeau : l'écart est chiffré, une livraison et une perte sont arithmétiquement identiques, et seul le technicien peut trancher.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« Ignorer » enregistre la décision, pas l'effacement.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niveau et le reste sont pris en photo au moment du clic ; la mise en sourdine expire d'elle-même dès que la situation empire. Un clic ne peut pas faire taire une pénurie pour toujours.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8-Point Star 37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chaîne d'intégration continue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mois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développement
(2 mars – 31 août 2026)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contrôles automatiques
à chaque push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 automatisés
810 sans clé d'API ni base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demandes Dependabot
sur 5 écosystèmes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38328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Les 18 contrôles, par famille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730752"/>
            <a:ext cx="32004" cy="40233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" y="37353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Correction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749039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API — ruff, types, 860 tests  ·  Dashboard — tsc, oxlint, build  ·  workflow n8n  ·  Docker compose  ·  parité des locales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187952"/>
            <a:ext cx="32004" cy="40233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0120" y="41925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Sécurité du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206240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CodeQL (python)  ·  CodeQL (javascript-typescript)  ·  Semgrep OWASP Top 10  ·  Bandit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645152"/>
            <a:ext cx="32004" cy="40233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0120" y="46497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Dépendances et secrets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663440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Trivy filesystem  ·  Trivy config  ·  pip-audit  ·  npm audit  ·  gitleaks + check_secrets.py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102352"/>
            <a:ext cx="32004" cy="40233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0120" y="51069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Conformité des fichiers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5120640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Hadolint (api)  ·  Hadolint (Dashboard)  ·  actionlint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Dependabot ouvre ses demandes quotidiennement sur npm, pip, les deux images Docker et les actions GitHub — chacune doit franchir les 18 contrôles avant de pouvoir être fusionnée.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8-Point Star 2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L'analyse statique externe : SonarCloud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bogue · vulnérabilité
point sensible · code smell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A / A /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fiabilité · sécurité
maintenabilité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dette technique
0,0 % de duplication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80,7 %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couverture mesurée
(service Python)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401568"/>
            <a:ext cx="10637215" cy="2633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Le portail était rouge ; il passe aujourd'hui ses six conditions.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La première analyse rendait fiabilité E et sécurité C : une image de conteneur qui s'exécutait en root et installait depuis des sources non épinglées. Trois défauts réels corrigés, un faux positif réfuté, un refus motivé et consigné.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La sixième condition a été satisfaite, pas contournée.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Elle exige 80 % de couverture sur le code nouveau. J'ai d'abord soutenu que le seuil n'était pas pertinent pour une suite hors ligne — puis j'ai écrit les tests manquants : 80,2 %. Écrire les tests est plus court à défendre que l'argument.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vrai bogue de test a été débusqué au passage.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Un test dépendait du fichier .env local : il passait sur ma machine et échouait en intégration continue. À lui seul, il maintenait la chaîne au rouge à chaque exécution.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Une note A obtenue en désactivant les règles gênantes ne mesurerait plus rien : les trois seules issues honnêtes devant un analyseur externe sont corriger, réfuter avec la preuve, ou refuser en écrivant le motif dans l'outil. Les trois ont servi ici.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8-Point Star 74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rythme réel du développement, et ce qui le contrôle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commits
sur 38 jours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+117 339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lignes ajoutées
45 454 retirées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 automatisés
810 sans base, 50 d'intégration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/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conditions du portail
SonarCloud satisfaites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291840"/>
            <a:ext cx="65950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0278E4"/>
                </a:solidFill>
                <a:latin typeface="Arial"/>
              </a:rPr>
              <a:t>Commits par jour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2313" y="3314700"/>
            <a:ext cx="4042141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8A8A8A"/>
                </a:solidFill>
                <a:latin typeface="Arial"/>
              </a:rPr>
              <a:t>15 juillet – 21 août 2026  ·  l'opacité suit l'intensité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772719"/>
            <a:ext cx="10637215" cy="7315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3816" y="4580695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8A8A8A"/>
                </a:solidFill>
                <a:latin typeface="Arial"/>
              </a:rPr>
              <a:t>moyenne 9,9 / jour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630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093557" y="5053383"/>
            <a:ext cx="207145" cy="122120"/>
          </a:xfrm>
          <a:prstGeom prst="rect">
            <a:avLst/>
          </a:prstGeom>
          <a:solidFill>
            <a:srgbClr val="0278E4">
              <a:alpha val="3982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373483" y="4931262"/>
            <a:ext cx="207145" cy="244241"/>
          </a:xfrm>
          <a:prstGeom prst="rect">
            <a:avLst/>
          </a:prstGeom>
          <a:solidFill>
            <a:srgbClr val="0278E4">
              <a:alpha val="45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653410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933337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213264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493190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773117" y="5012676"/>
            <a:ext cx="207145" cy="162827"/>
          </a:xfrm>
          <a:prstGeom prst="rect">
            <a:avLst/>
          </a:prstGeom>
          <a:solidFill>
            <a:srgbClr val="0278E4">
              <a:alpha val="4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053044" y="4239244"/>
            <a:ext cx="207145" cy="936259"/>
          </a:xfrm>
          <a:prstGeom prst="rect">
            <a:avLst/>
          </a:prstGeom>
          <a:solidFill>
            <a:srgbClr val="0278E4">
              <a:alpha val="78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332970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612897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892824" y="4931262"/>
            <a:ext cx="207145" cy="244241"/>
          </a:xfrm>
          <a:prstGeom prst="rect">
            <a:avLst/>
          </a:prstGeom>
          <a:solidFill>
            <a:srgbClr val="0278E4">
              <a:alpha val="45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172751" y="4809141"/>
            <a:ext cx="207145" cy="366362"/>
          </a:xfrm>
          <a:prstGeom prst="rect">
            <a:avLst/>
          </a:prstGeom>
          <a:solidFill>
            <a:srgbClr val="0278E4">
              <a:alpha val="5147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452677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32604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12531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292457" y="4035709"/>
            <a:ext cx="207145" cy="1139794"/>
          </a:xfrm>
          <a:prstGeom prst="rect">
            <a:avLst/>
          </a:prstGeom>
          <a:solidFill>
            <a:srgbClr val="0278E4">
              <a:alpha val="8835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572384" y="4524193"/>
            <a:ext cx="207145" cy="651310"/>
          </a:xfrm>
          <a:prstGeom prst="rect">
            <a:avLst/>
          </a:prstGeom>
          <a:solidFill>
            <a:srgbClr val="0278E4">
              <a:alpha val="6505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852311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132238" y="4809141"/>
            <a:ext cx="207145" cy="366362"/>
          </a:xfrm>
          <a:prstGeom prst="rect">
            <a:avLst/>
          </a:prstGeom>
          <a:solidFill>
            <a:srgbClr val="0278E4">
              <a:alpha val="5147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412164" y="4605606"/>
            <a:ext cx="207145" cy="569897"/>
          </a:xfrm>
          <a:prstGeom prst="rect">
            <a:avLst/>
          </a:prstGeom>
          <a:solidFill>
            <a:srgbClr val="0278E4">
              <a:alpha val="6117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692091" y="4890555"/>
            <a:ext cx="207145" cy="284948"/>
          </a:xfrm>
          <a:prstGeom prst="rect">
            <a:avLst/>
          </a:prstGeom>
          <a:solidFill>
            <a:srgbClr val="0278E4">
              <a:alpha val="4758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972018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251944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7531871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7811798" y="4768434"/>
            <a:ext cx="207145" cy="407069"/>
          </a:xfrm>
          <a:prstGeom prst="rect">
            <a:avLst/>
          </a:prstGeom>
          <a:solidFill>
            <a:srgbClr val="0278E4">
              <a:alpha val="5341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8091725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8371651" y="4442779"/>
            <a:ext cx="207145" cy="732724"/>
          </a:xfrm>
          <a:prstGeom prst="rect">
            <a:avLst/>
          </a:prstGeom>
          <a:solidFill>
            <a:srgbClr val="0278E4">
              <a:alpha val="68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8651578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8931505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9211431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9491358" y="3791468"/>
            <a:ext cx="207145" cy="1384035"/>
          </a:xfrm>
          <a:prstGeom prst="rect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217038" y="3576584"/>
            <a:ext cx="75578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278E4"/>
                </a:solidFill>
                <a:latin typeface="Arial"/>
              </a:rPr>
              <a:t>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71285" y="4239244"/>
            <a:ext cx="207145" cy="936259"/>
          </a:xfrm>
          <a:prstGeom prst="rect">
            <a:avLst/>
          </a:prstGeom>
          <a:solidFill>
            <a:srgbClr val="0278E4">
              <a:alpha val="78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10051212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10331138" y="4402072"/>
            <a:ext cx="207145" cy="773431"/>
          </a:xfrm>
          <a:prstGeom prst="rect">
            <a:avLst/>
          </a:prstGeom>
          <a:solidFill>
            <a:srgbClr val="0278E4">
              <a:alpha val="70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10611065" y="4768434"/>
            <a:ext cx="207145" cy="407069"/>
          </a:xfrm>
          <a:prstGeom prst="rect">
            <a:avLst/>
          </a:prstGeom>
          <a:solidFill>
            <a:srgbClr val="0278E4">
              <a:alpha val="5341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10890992" y="3995002"/>
            <a:ext cx="207145" cy="1180501"/>
          </a:xfrm>
          <a:prstGeom prst="rect">
            <a:avLst/>
          </a:prstGeom>
          <a:solidFill>
            <a:srgbClr val="0278E4">
              <a:alpha val="9029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11170918" y="4035709"/>
            <a:ext cx="207145" cy="1139794"/>
          </a:xfrm>
          <a:prstGeom prst="rect">
            <a:avLst/>
          </a:prstGeom>
          <a:solidFill>
            <a:srgbClr val="0278E4">
              <a:alpha val="8835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77240" y="5175504"/>
            <a:ext cx="10637215" cy="10972"/>
          </a:xfrm>
          <a:prstGeom prst="rect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02734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15/07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2221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22/07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21708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29/07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81195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05/08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40682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12/08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00169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19/08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77240" y="5632704"/>
            <a:ext cx="32004" cy="5486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996695" y="5660136"/>
            <a:ext cx="10417759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1C1F23"/>
                </a:solidFill>
                <a:latin typeface="Arial"/>
              </a:rPr>
              <a:t>Le dépôt ne couvre que les phases de réalisation : les phases 0 à 2 — cadrage, état de l'art, conception — sont antérieures à son initialisation. Les quatre jours à zéro sont laissés visibles, et la moyenne est tirée vers le haut par la dernière quinzaine, la plus dense du projet.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 rot="1350000">
            <a:off x="7924537" y="-502919"/>
            <a:ext cx="5120640" cy="5120640"/>
          </a:xfrm>
          <a:prstGeom prst="star8">
            <a:avLst/>
          </a:prstGeom>
          <a:noFill/>
          <a:ln w="31750">
            <a:solidFill>
              <a:srgbClr val="4FA9F5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4FA9F5"/>
                </a:solidFill>
                <a:latin typeface="Arial"/>
              </a:rPr>
              <a:t>6 —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Arial"/>
              </a:rPr>
              <a:t>La chaîne complète, 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11679"/>
            <a:ext cx="1063721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Une note vocale en darija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est envoyée depuis Telegram.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bot répond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avec le résumé en français professionnel et les quantités extraites.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La ligne apparaît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dans l'onglet du chantier ; si la journée est déjà ouverte, les quantités s'affichent +80.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tableau de bord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affiche le rapport, ses avertissements de qualité et la trace de traitement.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193792"/>
            <a:ext cx="10637215" cy="786384"/>
          </a:xfrm>
          <a:prstGeom prst="rect">
            <a:avLst/>
          </a:prstGeom>
          <a:solidFill>
            <a:srgbClr val="2A2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8136" y="5358384"/>
            <a:ext cx="10015423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Si le réseau ou un palier gratuit fait défaut : </a:t>
            </a:r>
            <a:r>
              <a:rPr sz="1250" b="0" i="0">
                <a:solidFill>
                  <a:srgbClr val="B4B4B4"/>
                </a:solidFill>
                <a:latin typeface="Arial"/>
              </a:rPr>
              <a:t>les captures de secours suivent la dernière diapositive et couvrent le même parcours, écran par écran.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9A9A9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9A9A9A"/>
                </a:solidFill>
                <a:latin typeface="Arial"/>
              </a:rPr>
              <a:t>28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BILAN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Contributions et 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50900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0B8E36"/>
                </a:solidFill>
                <a:latin typeface="Arial"/>
              </a:rPr>
              <a:t>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67127"/>
            <a:ext cx="5090007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architecture hybride dont la frontière a été fixée par une contrainte fonctionnelle identifiée en cours de projet, non par préférence.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banc d'essai de treize moteurs de transcription du darija, avec une critique argumentée du WER et une métrique applicative de substitution.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service d'extraction à sortie contrainte, des chaînes de repli alternant les fournisseurs, et une politique stricte d'absence de données inventées.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modèle métier reconstruit sur le fichier réel du client : une ligne par message, jamais réécrite, et réconciliation de stock.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conception indépendante du canal, démontrée par la mise en service de deux messageries aux contraintes opposées.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828799"/>
            <a:ext cx="50900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Limites énoncées sans détour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167127"/>
            <a:ext cx="5090007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WER et le CER n'ont pas été calculés. Le choix d'une métrique applicative est argumenté, mais il prive la comparaison d'un chiffre universellement reconnu : le classement repose sur un jugement humain, rigoureux mais non reproductible sans le même locuteur.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suite de tests ne parcourt jamais le réseau réel. Elle sécurise les régressions de logique, non les ruptures de contrat des fournisseurs — qui ont été la source de la majorité des défauts rencontrés.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déploiement pilote auprès des techniciens constitue l'étape suivante ; les chiffres d'usage réel ne sont donc pas encore établis.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ce travail ouvre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Constituer la vérité terrain qui manque,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à partir des rapports réels accumulés, afin de publier un WER et un CER et de rendre le classement reproductible.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Affiner un modèle de transcription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sur ce corpus darija propre au câblage — l'apport de l'affinage étant désormais démontré pour un modèle assez grand.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Remplacer Google Sheets par une base de données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lorsque la volumétrie le justifiera : l'infrastructure PostgreSQL est déjà en place.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Prolonger l'analytique de chantier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— l'avancement par site, le registre des réceptions et les alertes de stock existent ; la prévision de commande, elle, reste à construire.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315968"/>
            <a:ext cx="10637215" cy="153619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" y="4572000"/>
            <a:ext cx="9942271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450" b="0" i="0">
                <a:solidFill>
                  <a:srgbClr val="DDDDDD"/>
                </a:solidFill>
                <a:latin typeface="Arial"/>
              </a:rPr>
              <a:t>Dans les applications des grands modèles de langage, la valeur ne réside pas dans le choix des modèles, mais dans l'architecture qui les entoure :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contrats de données stricts, chaînes de repli explicites, refus des échecs silencieux, et bancs d'essai assez sceptiques pour se surprendre eux-mêmes.</a:t>
            </a:r>
          </a:p>
          <a:p>
            <a:pPr>
              <a:lnSpc>
                <a:spcPct val="120000"/>
              </a:lnSpc>
            </a:pPr>
            <a:r>
              <a:rPr sz="1250" b="0" i="0">
                <a:solidFill>
                  <a:srgbClr val="A8A8A8"/>
                </a:solidFill>
                <a:latin typeface="Arial"/>
              </a:rPr>
              <a:t>Ce banc d'essai a renversé son hypothèse de départ deux fois, et démasqué un bogue qui lui faisait couronner un vainqueur sur une transcription jamais générée.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30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Hero"/>
          <p:cNvSpPr/>
          <p:nvPr/>
        </p:nvSpPr>
        <p:spPr>
          <a:xfrm rot="2700000">
            <a:off x="2712567" y="-228600"/>
            <a:ext cx="6766560" cy="67665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2606040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1C1F23"/>
                </a:solidFill>
                <a:latin typeface="Arial"/>
              </a:rPr>
              <a:t>Merci de votre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11880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0" i="0">
                <a:solidFill>
                  <a:srgbClr val="0278E4"/>
                </a:solidFill>
                <a:latin typeface="Arial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224528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575656"/>
                </a:solidFill>
                <a:latin typeface="Arial"/>
              </a:rPr>
              <a:t>Mohammed Yassine MAGRI</a:t>
            </a:r>
          </a:p>
          <a:p>
            <a:pPr algn="ctr"/>
            <a:r>
              <a:rPr sz="1100" b="0" i="0">
                <a:solidFill>
                  <a:srgbClr val="8A8A8A"/>
                </a:solidFill>
                <a:latin typeface="Arial"/>
              </a:rPr>
              <a:t>Ingénierie Informatique et Réseaux  ·  EMSI Rabat  ·  AZNET</a:t>
            </a:r>
          </a:p>
        </p:txBody>
      </p:sp>
      <p:pic>
        <p:nvPicPr>
          <p:cNvPr id="5" name="Picture 4" descr="logo-em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760720"/>
            <a:ext cx="2303035" cy="502920"/>
          </a:xfrm>
          <a:prstGeom prst="rect">
            <a:avLst/>
          </a:prstGeom>
        </p:spPr>
      </p:pic>
      <p:pic>
        <p:nvPicPr>
          <p:cNvPr id="6" name="Picture 5" descr="logo-azn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65815" y="5733288"/>
            <a:ext cx="548640" cy="5486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Boîte de réception — les rapports arrivés, avec leurs avertissements de qualité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inbo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Rapports — consultation et correction ligne à ligne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repo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33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Équipe — l'organigramme : directeur, chefs de chantier, techniciens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Automatisation — les neuf tâches planifiées et leurs dernières exécutions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Journaux — la trace de traitement, n8n et service réunis par correlation_id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lo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Consommation — ce qu'il reste de chaque offre gratuite, et d'où vient le chiffre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Thème clair — le thème est un choix persistant de l'utilisateur, pas une préférence système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overview-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Usage mobile — la même interface, consultée depuis un téléphone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7423" y="1796796"/>
            <a:ext cx="2436848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mobile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715" y="1847088"/>
            <a:ext cx="2336264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7557</Words>
  <Application>Microsoft Office PowerPoint</Application>
  <PresentationFormat>Widescreen</PresentationFormat>
  <Paragraphs>748</Paragraphs>
  <Slides>39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Yassine hh</cp:lastModifiedBy>
  <cp:revision>4</cp:revision>
  <dcterms:created xsi:type="dcterms:W3CDTF">2013-01-27T09:14:16Z</dcterms:created>
  <dcterms:modified xsi:type="dcterms:W3CDTF">2026-09-20T21:56:11Z</dcterms:modified>
  <cp:category/>
</cp:coreProperties>
</file>
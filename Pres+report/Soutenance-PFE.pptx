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3" d="100"/>
          <a:sy n="83" d="100"/>
        </p:scale>
        <p:origin x="658" y="-1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9011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>
            <a:endParaRPr/>
          </a:p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>
            <a:r>
              <a:t>→ Deux files, pas une : l'écriture refusée d'un côté, le message intraitable de</a:t>
            </a:r>
          </a:p>
          <a:p>
            <a:r>
              <a:t>  l'autre. Ce dernier répond 202 — un 502 ferait envoyer ❌ à un technicien dont</a:t>
            </a:r>
          </a:p>
          <a:p>
            <a:r>
              <a:t>  le rapport est en sécurité.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10. Trois des quatre choses que lit le modèle ne viennent pas du message.</a:t>
            </a:r>
          </a:p>
          <a:p>
            <a:r>
              <a:t>→ Le profil est du contexte, jamais une source de valeurs : sinon on remplit un</a:t>
            </a:r>
          </a:p>
          <a:p>
            <a:r>
              <a:t>  chantier que personne n'a nommé, et la donnée est plausible et fausse.</a:t>
            </a:r>
          </a:p>
          <a:p>
            <a:r>
              <a:t>→ Le vocabulaire de transcription est le seul sans âme : Whisper le lirait</a:t>
            </a:r>
          </a:p>
          <a:p>
            <a:r>
              <a:t>  comme un début de transcript.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Trilingue, arabe RTL, graphiques écrits à la main. Douze écrans.</a:t>
            </a:r>
          </a:p>
          <a:p>
            <a:r>
              <a:t>→ Vingt-neuf captures en annexe H.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20. Deux familles, et c'est le contraste qui compte.</a:t>
            </a:r>
          </a:p>
          <a:p>
            <a:r>
              <a:t>→ A : recalculée, stockée nulle part — un chiffre dérivé de trois sources</a:t>
            </a:r>
          </a:p>
          <a:p>
            <a:r>
              <a:t>  périmerait dans une cellule.</a:t>
            </a:r>
          </a:p>
          <a:p>
            <a:r>
              <a:t>→ B : une colonne, dix clés, cinq drapeaux. « Écart de stock » ne lève pas le</a:t>
            </a:r>
          </a:p>
          <a:p>
            <a:r>
              <a:t>  drapeau, et c'est un choix : seul le technicien peut trancher.</a:t>
            </a:r>
          </a:p>
          <a:p>
            <a:r>
              <a:t>→ « Ignorer » photographie le niveau et le reste ; la sourdine expire dès que</a:t>
            </a:r>
          </a:p>
          <a:p>
            <a:r>
              <a:t>  ça empire.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0 bogue, 0 vulnérabilité, 0 code smell, 0 minute de dette, A/A/A.</a:t>
            </a:r>
          </a:p>
          <a:p>
            <a:r>
              <a:t>→ Le portail passe ses SIX conditions. Dire qu'il ne les passait pas au départ.</a:t>
            </a:r>
          </a:p>
          <a:p>
            <a:r>
              <a:t>→ Raconter le vrai bogue : un test qui dépendait du .env local.</a:t>
            </a:r>
          </a:p>
          <a:p>
            <a:r>
              <a:t>→ Sur la 6e condition : j'ai d'abord soutenu que 80 % de couverture n'avait pas</a:t>
            </a:r>
          </a:p>
          <a:p>
            <a:r>
              <a:t>  de sens pour une suite hors ligne. Puis j'ai écrit les tests. C'est plus court</a:t>
            </a:r>
          </a:p>
          <a:p>
            <a:r>
              <a:t>  à défendre qu'un argument.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rythme, pas le total. Montrer les quatre jours à zéro et la dernière</a:t>
            </a:r>
          </a:p>
          <a:p>
            <a:r>
              <a:t>  quinzaine, la plus dense du dépôt.</a:t>
            </a:r>
          </a:p>
          <a:p>
            <a:r>
              <a:t>→ Honnêteté : le dépôt commence le 15 juillet. Les phases 0 à 2 sont antérieures</a:t>
            </a:r>
          </a:p>
          <a:p>
            <a:r>
              <a:t>  — le graphique mesure la réalisation, pas les six mois.</a:t>
            </a:r>
          </a:p>
          <a:p>
            <a:r>
              <a:t>→ Enchaîner : un nombre de commits mesure de la frappe. Les deux verdicts</a:t>
            </a:r>
          </a:p>
          <a:p>
            <a:r>
              <a:t>  au-dessus — le portail et la suite de tests — mesurent autre chose.</a:t>
            </a:r>
          </a:p>
          <a:p>
            <a:endParaRPr/>
          </a:p>
          <a:p>
            <a:r>
              <a:t>— Design : Le graphique est dessiné en rectangles, pas inséré : un graphique natif impose sa palette et supprime les jours à zéro. L'opacité porte l'intensité — un seul bleu, comme partout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>
            <a:endParaRPr/>
          </a:p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>
            <a:endParaRPr/>
          </a:p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4070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Projet</a:t>
            </a:r>
            <a:r>
              <a:rPr sz="1150" b="0" i="0">
                <a:solidFill>
                  <a:srgbClr val="8A8A8A"/>
                </a:solidFill>
                <a:latin typeface="Arial"/>
              </a:rPr>
              <a:t> de Fin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d'Études</a:t>
            </a:r>
            <a:endParaRPr sz="1150" b="0" i="0">
              <a:solidFill>
                <a:srgbClr val="8A8A8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6412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Réalisé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académique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Mme Kawtar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Imgharene</a:t>
            </a:r>
            <a:endParaRPr lang="en-US" sz="1250">
              <a:solidFill>
                <a:srgbClr val="575656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industriel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chaachoui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et 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Zellou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</a:t>
            </a:r>
            <a:endParaRPr sz="1250">
              <a:solidFill>
                <a:srgbClr val="575656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7053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Entreprise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d'accueil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lang="en-US" sz="1250" b="0" i="0">
                <a:solidFill>
                  <a:srgbClr val="575656"/>
                </a:solidFill>
                <a:latin typeface="Arial"/>
              </a:rPr>
              <a:t>21/09/2026</a:t>
            </a:r>
            <a:endParaRPr sz="1250" b="0" i="0">
              <a:solidFill>
                <a:srgbClr val="575656"/>
              </a:solidFill>
              <a:latin typeface="Arial"/>
            </a:endParaRP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universitaire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22781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85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26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préchargé au démarrage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6695" y="5394960"/>
            <a:ext cx="10417759" cy="2150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</a:t>
            </a:r>
            <a:r>
              <a:rPr lang="en-US" sz="1300">
                <a:solidFill>
                  <a:srgbClr val="1C1F23"/>
                </a:solidFill>
                <a:latin typeface="Arial"/>
              </a:rPr>
              <a:t>.</a:t>
            </a:r>
            <a:endParaRPr sz="1300" b="0" i="0">
              <a:solidFill>
                <a:srgbClr val="1C1F23"/>
              </a:solidFill>
              <a:latin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 et son autorisation vérifiée ; le chantier, lui, vient du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76809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L'ordre de 5 et 6 est un invariant, pas une préférence. Deux files de reprise le rendent tenable : une écriture Google Sheets refusée est garée et rejouée toutes les cinq minutes ; un message qu'aucun moteur n'a pu traiter est garé lui aussi, le service répond 202 et non 502, et le technicien reçoit « rapport reçu, il sera enregistré » plutôt qu'un échec. Rien n'est perdu, et l'ordre des messages d'un même technicien est préservé.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Fusionner les deux messages détruirait de l'information :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écraserait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16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96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25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1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1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8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55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72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5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21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La chaîne déployée est gpt-oss-120b → 3.5-flash-lite → flash-lite-latest : elle alterne les fournisseurs, Groq et Google comptant leurs quotas séparément. Le jeu de cas en compte vingt-cinq aujourd'hui, et une seconde campagne a montré ce qu'un repli ne rattrape pas : un modèle qui répond 200 avec un objet vide.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lit le modèle, et ce qu'il ne peut pas en faire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5977" y="1723644"/>
            <a:ext cx="3780248" cy="4014216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15-ai-inpu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6269" y="1773936"/>
            <a:ext cx="3679664" cy="3913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4080" y="1847088"/>
            <a:ext cx="4680374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Quatre entrées, une seule est le message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L'âme (identité, ne jamais inventer), l'instruction d'extraction et le profil du technicien accompagnent chaque appel.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vocabulaire n'a pas d'âme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Whisper lit son champ comme le texte qui précède le clip : l'âme y serait recopiée dans la transcription.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profil est un contexte, jamais une source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Intervient surtout sur Sidi Maarouf » est à un pas de remplir le chantier d'un message qui n'a nommé aucun site. L'instruction l'interdit, et interdit les nombres.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La réponse part avant l'écriture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Le résumé revient au technicien d'abord ; un échec Google lui coûte son accusé de réception, jamais son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3.14 — Les quatre sources d'une extraction et les trois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WhatsApp Cloud API — webhook signé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Extraction structurée — 3 chaînes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Miroir plat et table d'agrégation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Boîte de réception — réponse et transcription corrigeable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Observabilité PostgreSQL — 26 tables, deux files de reprise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Ordonnanceur — 9 tâches, page Automatisation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Rapports quotidien et hebdomadaire — e-mail et document .docx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Une personne, plusieurs canaux : le rattachement d'un technicien à un chef porte la hiérarchie, jamais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1245" y="1760220"/>
            <a:ext cx="1803259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537" y="1810512"/>
            <a:ext cx="1702675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familles d'avertissements, deux destins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86956" y="1723644"/>
            <a:ext cx="3743727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chanti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248" y="1773936"/>
            <a:ext cx="3643143" cy="2048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03353" y="1723644"/>
            <a:ext cx="1459044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645" y="1773936"/>
            <a:ext cx="1358460" cy="20482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Alertes matière : permanentes, bornées à trois lignes, « Ignorer »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Le matériel déclaré hors bordereau, sur le site qui l'a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61104"/>
            <a:ext cx="10637215" cy="1773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A — alertes matière : aucune colonne.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Recalculées à la demande depuis le journal, les réceptions et le bordereau. Un chiffre dérivé de trois sources serait périmé avant d'être lu. Quatre niveaux, dont « excédent », testé avant les pénuries : en fin de chantier « commandez-en » serait la phrase inverse.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B — avertissements de ligne : une colonne, dix clés, cinq drapeaux.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« Écart de stock » est le seul qui porte sur une contradiction numérique et il ne lève pas le drapeau : l'écart est chiffré, une livraison et une perte sont arithmétiquement identiques, et seul le technicien peut trancher.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« Ignorer » enregistre la décision, pas l'effacement.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niveau et le reste sont pris en photo au moment du clic ; la mise en sourdine expire d'elle-même dès que la situation empire. Un clic ne peut pas faire taire une pénurie pour toujours.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860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 · vulnérabilité
point sensible · code smell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dette technique
0,0 % de duplication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80,7 %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 mesurée
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était rouge ; il passe aujourd'hui ses six conditions.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La première analyse rendait fiabilité E et sécurité C : une image de conteneur qui s'exécutait en root et installait depuis des sources non épinglées. Trois défauts réels corrigés, un faux positif réfuté, un refus motivé et consigné.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La sixième condition a été satisfaite, pas contournée.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Elle exige 80 % de couverture sur le code nouveau. J'ai d'abord soutenu que le seuil n'était pas pertinent pour une suite hors ligne — puis j'ai écrit les tests manquants : 80,2 %. Écrire les tests est plus court à défendre que l'argument.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 au passage.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ma machine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note A obtenue en désactivant les règles gênantes ne mesurerait plus rien : les trois seules issues honnêtes devant un analyseur externe sont corriger, réfuter avec la preuve, ou refuser en écrivant le motif dans l'outil. Les trois ont servi ici.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8-Point Star 7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rythme réel du développement, et ce qui le contrôle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
sur 38 jours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+117 339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lignes ajoutées
45 454 retirées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base, 50 d'intégration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conditions du portail
SonarCloud satisfaites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91840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0278E4"/>
                </a:solidFill>
                <a:latin typeface="Arial"/>
              </a:rPr>
              <a:t>Commits par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2313" y="3314700"/>
            <a:ext cx="404214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8A8A8A"/>
                </a:solidFill>
                <a:latin typeface="Arial"/>
              </a:rPr>
              <a:t>15 juillet – 21 août 2026  ·  l'opacité suit l'intensité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72719"/>
            <a:ext cx="10637215" cy="731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" y="4580695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Arial"/>
              </a:rPr>
              <a:t>moyenne 9,9 / 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63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93557" y="5053383"/>
            <a:ext cx="207145" cy="122120"/>
          </a:xfrm>
          <a:prstGeom prst="rect">
            <a:avLst/>
          </a:prstGeom>
          <a:solidFill>
            <a:srgbClr val="0278E4">
              <a:alpha val="39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373483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653410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3333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13264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93190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73117" y="5012676"/>
            <a:ext cx="207145" cy="162827"/>
          </a:xfrm>
          <a:prstGeom prst="rect">
            <a:avLst/>
          </a:prstGeom>
          <a:solidFill>
            <a:srgbClr val="0278E4">
              <a:alpha val="4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053044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3297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12897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892824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72751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45267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32604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1253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92457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572384" y="4524193"/>
            <a:ext cx="207145" cy="651310"/>
          </a:xfrm>
          <a:prstGeom prst="rect">
            <a:avLst/>
          </a:prstGeom>
          <a:solidFill>
            <a:srgbClr val="0278E4">
              <a:alpha val="6505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85231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32238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12164" y="4605606"/>
            <a:ext cx="207145" cy="569897"/>
          </a:xfrm>
          <a:prstGeom prst="rect">
            <a:avLst/>
          </a:prstGeom>
          <a:solidFill>
            <a:srgbClr val="0278E4">
              <a:alpha val="611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692091" y="4890555"/>
            <a:ext cx="207145" cy="284948"/>
          </a:xfrm>
          <a:prstGeom prst="rect">
            <a:avLst/>
          </a:prstGeom>
          <a:solidFill>
            <a:srgbClr val="0278E4">
              <a:alpha val="475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972018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251944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531871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811798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091725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371651" y="4442779"/>
            <a:ext cx="207145" cy="732724"/>
          </a:xfrm>
          <a:prstGeom prst="rect">
            <a:avLst/>
          </a:prstGeom>
          <a:solidFill>
            <a:srgbClr val="0278E4">
              <a:alpha val="68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651578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931505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211431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491358" y="3791468"/>
            <a:ext cx="207145" cy="1384035"/>
          </a:xfrm>
          <a:prstGeom prst="rect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217038" y="3576584"/>
            <a:ext cx="75578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278E4"/>
                </a:solidFill>
                <a:latin typeface="Arial"/>
              </a:rPr>
              <a:t>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71285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051212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331138" y="4402072"/>
            <a:ext cx="207145" cy="773431"/>
          </a:xfrm>
          <a:prstGeom prst="rect">
            <a:avLst/>
          </a:prstGeom>
          <a:solidFill>
            <a:srgbClr val="0278E4">
              <a:alpha val="70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611065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0890992" y="3995002"/>
            <a:ext cx="207145" cy="1180501"/>
          </a:xfrm>
          <a:prstGeom prst="rect">
            <a:avLst/>
          </a:prstGeom>
          <a:solidFill>
            <a:srgbClr val="0278E4">
              <a:alpha val="902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1170918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77240" y="5175504"/>
            <a:ext cx="10637215" cy="10972"/>
          </a:xfrm>
          <a:prstGeom prst="rect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734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15/07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2221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22/07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1708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29/07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81195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05/08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40682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12/08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0169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19/08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77240" y="5632704"/>
            <a:ext cx="32004" cy="5486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96695" y="5660136"/>
            <a:ext cx="10417759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1C1F23"/>
                </a:solidFill>
                <a:latin typeface="Arial"/>
              </a:rPr>
              <a:t>Le dépôt ne couvre que les phases de réalisation : les phases 0 à 2 — cadrage, état de l'art, conception — sont antérieures à son initialisation. Les quatre jours à zéro sont laissés visibles, et la moyenne est tirée vers le haut par la dernière quinzaine, la plus dense du projet.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des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22452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pPr algn="ctr"/>
            <a:r>
              <a:rPr sz="1100" b="0" i="0">
                <a:solidFill>
                  <a:srgbClr val="8A8A8A"/>
                </a:solidFill>
                <a:latin typeface="Arial"/>
              </a:rPr>
              <a:t>Ingénierie Informatique et Réseaux  ·  EMSI Rabat  ·  AZNET</a:t>
            </a:r>
          </a:p>
        </p:txBody>
      </p:sp>
      <p:pic>
        <p:nvPicPr>
          <p:cNvPr id="5" name="Picture 4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6" name="Picture 5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neuf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7541</Words>
  <Application>Microsoft Office PowerPoint</Application>
  <PresentationFormat>Widescreen</PresentationFormat>
  <Paragraphs>748</Paragraphs>
  <Slides>39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Yassine hh</cp:lastModifiedBy>
  <cp:revision>5</cp:revision>
  <dcterms:created xsi:type="dcterms:W3CDTF">2013-01-27T09:14:16Z</dcterms:created>
  <dcterms:modified xsi:type="dcterms:W3CDTF">2026-09-20T22:11:15Z</dcterms:modified>
  <cp:category/>
</cp:coreProperties>
</file>